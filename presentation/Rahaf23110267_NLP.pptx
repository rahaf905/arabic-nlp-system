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8288000" cy="10287000"/>
  <p:notesSz cx="6858000" cy="9144000"/>
  <p:embeddedFontLst>
    <p:embeddedFont>
      <p:font typeface="Canva Sans" panose="020B0604020202020204" charset="0"/>
      <p:regular r:id="rId33"/>
    </p:embeddedFont>
    <p:embeddedFont>
      <p:font typeface="Canva Sans Bold"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B8B816-70D1-467E-8E46-6CECD04B4FFD}" v="48" dt="2026-06-13T09:50:34.1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af AlShami" userId="b692d9b51b045aa4" providerId="LiveId" clId="{1365A06F-206E-4A0A-852F-8BEFD3659B97}"/>
    <pc:docChg chg="undo custSel modSld">
      <pc:chgData name="Rahaf AlShami" userId="b692d9b51b045aa4" providerId="LiveId" clId="{1365A06F-206E-4A0A-852F-8BEFD3659B97}" dt="2026-06-13T09:57:16.650" v="66" actId="14100"/>
      <pc:docMkLst>
        <pc:docMk/>
      </pc:docMkLst>
      <pc:sldChg chg="addSp delSp modSp mod">
        <pc:chgData name="Rahaf AlShami" userId="b692d9b51b045aa4" providerId="LiveId" clId="{1365A06F-206E-4A0A-852F-8BEFD3659B97}" dt="2026-06-13T09:44:10.500" v="11" actId="1076"/>
        <pc:sldMkLst>
          <pc:docMk/>
          <pc:sldMk cId="0" sldId="262"/>
        </pc:sldMkLst>
        <pc:spChg chg="add mod">
          <ac:chgData name="Rahaf AlShami" userId="b692d9b51b045aa4" providerId="LiveId" clId="{1365A06F-206E-4A0A-852F-8BEFD3659B97}" dt="2026-06-13T09:44:10.500" v="11" actId="1076"/>
          <ac:spMkLst>
            <pc:docMk/>
            <pc:sldMk cId="0" sldId="262"/>
            <ac:spMk id="8" creationId="{8F23AC9D-6C00-A3CB-3CE0-7B20F099AE40}"/>
          </ac:spMkLst>
        </pc:spChg>
        <pc:graphicFrameChg chg="del mod">
          <ac:chgData name="Rahaf AlShami" userId="b692d9b51b045aa4" providerId="LiveId" clId="{1365A06F-206E-4A0A-852F-8BEFD3659B97}" dt="2026-06-13T09:43:45.930" v="4" actId="478"/>
          <ac:graphicFrameMkLst>
            <pc:docMk/>
            <pc:sldMk cId="0" sldId="262"/>
            <ac:graphicFrameMk id="3" creationId="{00000000-0000-0000-0000-000000000000}"/>
          </ac:graphicFrameMkLst>
        </pc:graphicFrameChg>
        <pc:graphicFrameChg chg="add mod">
          <ac:chgData name="Rahaf AlShami" userId="b692d9b51b045aa4" providerId="LiveId" clId="{1365A06F-206E-4A0A-852F-8BEFD3659B97}" dt="2026-06-13T09:44:10.500" v="11" actId="1076"/>
          <ac:graphicFrameMkLst>
            <pc:docMk/>
            <pc:sldMk cId="0" sldId="262"/>
            <ac:graphicFrameMk id="7" creationId="{86EDE8C9-B145-E4DF-5B73-45CBC3F5C30D}"/>
          </ac:graphicFrameMkLst>
        </pc:graphicFrameChg>
      </pc:sldChg>
      <pc:sldChg chg="addSp delSp modSp mod">
        <pc:chgData name="Rahaf AlShami" userId="b692d9b51b045aa4" providerId="LiveId" clId="{1365A06F-206E-4A0A-852F-8BEFD3659B97}" dt="2026-06-13T09:57:16.650" v="66" actId="14100"/>
        <pc:sldMkLst>
          <pc:docMk/>
          <pc:sldMk cId="0" sldId="264"/>
        </pc:sldMkLst>
        <pc:spChg chg="add del">
          <ac:chgData name="Rahaf AlShami" userId="b692d9b51b045aa4" providerId="LiveId" clId="{1365A06F-206E-4A0A-852F-8BEFD3659B97}" dt="2026-06-13T09:46:27.681" v="25" actId="26606"/>
          <ac:spMkLst>
            <pc:docMk/>
            <pc:sldMk cId="0" sldId="264"/>
            <ac:spMk id="3" creationId="{00000000-0000-0000-0000-000000000000}"/>
          </ac:spMkLst>
        </pc:spChg>
        <pc:spChg chg="add mod">
          <ac:chgData name="Rahaf AlShami" userId="b692d9b51b045aa4" providerId="LiveId" clId="{1365A06F-206E-4A0A-852F-8BEFD3659B97}" dt="2026-06-13T09:45:12.974" v="18" actId="1076"/>
          <ac:spMkLst>
            <pc:docMk/>
            <pc:sldMk cId="0" sldId="264"/>
            <ac:spMk id="8" creationId="{56C5F97E-0026-F93C-4D58-CE9881BCB928}"/>
          </ac:spMkLst>
        </pc:spChg>
        <pc:spChg chg="add mod">
          <ac:chgData name="Rahaf AlShami" userId="b692d9b51b045aa4" providerId="LiveId" clId="{1365A06F-206E-4A0A-852F-8BEFD3659B97}" dt="2026-06-13T09:46:25.664" v="23" actId="14100"/>
          <ac:spMkLst>
            <pc:docMk/>
            <pc:sldMk cId="0" sldId="264"/>
            <ac:spMk id="10" creationId="{97868DE3-1033-40A0-0A2D-EE367B7C48D3}"/>
          </ac:spMkLst>
        </pc:spChg>
        <pc:graphicFrameChg chg="del">
          <ac:chgData name="Rahaf AlShami" userId="b692d9b51b045aa4" providerId="LiveId" clId="{1365A06F-206E-4A0A-852F-8BEFD3659B97}" dt="2026-06-13T09:44:55.127" v="12" actId="478"/>
          <ac:graphicFrameMkLst>
            <pc:docMk/>
            <pc:sldMk cId="0" sldId="264"/>
            <ac:graphicFrameMk id="4" creationId="{00000000-0000-0000-0000-000000000000}"/>
          </ac:graphicFrameMkLst>
        </pc:graphicFrameChg>
        <pc:graphicFrameChg chg="add del mod modGraphic">
          <ac:chgData name="Rahaf AlShami" userId="b692d9b51b045aa4" providerId="LiveId" clId="{1365A06F-206E-4A0A-852F-8BEFD3659B97}" dt="2026-06-13T09:46:13.967" v="20" actId="478"/>
          <ac:graphicFrameMkLst>
            <pc:docMk/>
            <pc:sldMk cId="0" sldId="264"/>
            <ac:graphicFrameMk id="7" creationId="{4D75918E-3551-FBD0-AED8-E5E220D32165}"/>
          </ac:graphicFrameMkLst>
        </pc:graphicFrameChg>
        <pc:graphicFrameChg chg="add mod modGraphic">
          <ac:chgData name="Rahaf AlShami" userId="b692d9b51b045aa4" providerId="LiveId" clId="{1365A06F-206E-4A0A-852F-8BEFD3659B97}" dt="2026-06-13T09:57:16.650" v="66" actId="14100"/>
          <ac:graphicFrameMkLst>
            <pc:docMk/>
            <pc:sldMk cId="0" sldId="264"/>
            <ac:graphicFrameMk id="9" creationId="{2FB6F3B4-0FCD-316E-D31B-6E3052A49610}"/>
          </ac:graphicFrameMkLst>
        </pc:graphicFrameChg>
        <pc:graphicFrameChg chg="add del">
          <ac:chgData name="Rahaf AlShami" userId="b692d9b51b045aa4" providerId="LiveId" clId="{1365A06F-206E-4A0A-852F-8BEFD3659B97}" dt="2026-06-13T09:46:27.681" v="25" actId="26606"/>
          <ac:graphicFrameMkLst>
            <pc:docMk/>
            <pc:sldMk cId="0" sldId="264"/>
            <ac:graphicFrameMk id="12" creationId="{4BDA6C03-0386-34E4-876A-D1A294DA2E9B}"/>
          </ac:graphicFrameMkLst>
        </pc:graphicFrameChg>
      </pc:sldChg>
      <pc:sldChg chg="addSp delSp modSp mod">
        <pc:chgData name="Rahaf AlShami" userId="b692d9b51b045aa4" providerId="LiveId" clId="{1365A06F-206E-4A0A-852F-8BEFD3659B97}" dt="2026-06-13T09:47:06.555" v="35" actId="1076"/>
        <pc:sldMkLst>
          <pc:docMk/>
          <pc:sldMk cId="0" sldId="265"/>
        </pc:sldMkLst>
        <pc:spChg chg="add mod">
          <ac:chgData name="Rahaf AlShami" userId="b692d9b51b045aa4" providerId="LiveId" clId="{1365A06F-206E-4A0A-852F-8BEFD3659B97}" dt="2026-06-13T09:47:06.555" v="35" actId="1076"/>
          <ac:spMkLst>
            <pc:docMk/>
            <pc:sldMk cId="0" sldId="265"/>
            <ac:spMk id="8" creationId="{79D94DA8-4876-DADA-DB98-B94E4F4DC9F4}"/>
          </ac:spMkLst>
        </pc:spChg>
        <pc:graphicFrameChg chg="del">
          <ac:chgData name="Rahaf AlShami" userId="b692d9b51b045aa4" providerId="LiveId" clId="{1365A06F-206E-4A0A-852F-8BEFD3659B97}" dt="2026-06-13T09:46:52.499" v="29" actId="478"/>
          <ac:graphicFrameMkLst>
            <pc:docMk/>
            <pc:sldMk cId="0" sldId="265"/>
            <ac:graphicFrameMk id="4" creationId="{00000000-0000-0000-0000-000000000000}"/>
          </ac:graphicFrameMkLst>
        </pc:graphicFrameChg>
        <pc:graphicFrameChg chg="add mod">
          <ac:chgData name="Rahaf AlShami" userId="b692d9b51b045aa4" providerId="LiveId" clId="{1365A06F-206E-4A0A-852F-8BEFD3659B97}" dt="2026-06-13T09:47:06.555" v="35" actId="1076"/>
          <ac:graphicFrameMkLst>
            <pc:docMk/>
            <pc:sldMk cId="0" sldId="265"/>
            <ac:graphicFrameMk id="7" creationId="{3BBDA6C6-0B99-FF92-5EE5-844D4CF3DE60}"/>
          </ac:graphicFrameMkLst>
        </pc:graphicFrameChg>
      </pc:sldChg>
      <pc:sldChg chg="addSp delSp modSp mod">
        <pc:chgData name="Rahaf AlShami" userId="b692d9b51b045aa4" providerId="LiveId" clId="{1365A06F-206E-4A0A-852F-8BEFD3659B97}" dt="2026-06-13T09:47:51.633" v="43" actId="1076"/>
        <pc:sldMkLst>
          <pc:docMk/>
          <pc:sldMk cId="0" sldId="266"/>
        </pc:sldMkLst>
        <pc:spChg chg="add mod">
          <ac:chgData name="Rahaf AlShami" userId="b692d9b51b045aa4" providerId="LiveId" clId="{1365A06F-206E-4A0A-852F-8BEFD3659B97}" dt="2026-06-13T09:47:41.845" v="41" actId="14100"/>
          <ac:spMkLst>
            <pc:docMk/>
            <pc:sldMk cId="0" sldId="266"/>
            <ac:spMk id="7" creationId="{126C771A-CFA0-CE9F-39FD-CDF4C8E000D7}"/>
          </ac:spMkLst>
        </pc:spChg>
        <pc:graphicFrameChg chg="del">
          <ac:chgData name="Rahaf AlShami" userId="b692d9b51b045aa4" providerId="LiveId" clId="{1365A06F-206E-4A0A-852F-8BEFD3659B97}" dt="2026-06-13T09:47:20.737" v="36" actId="478"/>
          <ac:graphicFrameMkLst>
            <pc:docMk/>
            <pc:sldMk cId="0" sldId="266"/>
            <ac:graphicFrameMk id="4" creationId="{00000000-0000-0000-0000-000000000000}"/>
          </ac:graphicFrameMkLst>
        </pc:graphicFrameChg>
        <pc:graphicFrameChg chg="add mod">
          <ac:chgData name="Rahaf AlShami" userId="b692d9b51b045aa4" providerId="LiveId" clId="{1365A06F-206E-4A0A-852F-8BEFD3659B97}" dt="2026-06-13T09:47:51.633" v="43" actId="1076"/>
          <ac:graphicFrameMkLst>
            <pc:docMk/>
            <pc:sldMk cId="0" sldId="266"/>
            <ac:graphicFrameMk id="6" creationId="{0FB31CCD-C68B-012E-F0F0-D3C6A9B7DA6A}"/>
          </ac:graphicFrameMkLst>
        </pc:graphicFrameChg>
      </pc:sldChg>
      <pc:sldChg chg="addSp delSp modSp mod">
        <pc:chgData name="Rahaf AlShami" userId="b692d9b51b045aa4" providerId="LiveId" clId="{1365A06F-206E-4A0A-852F-8BEFD3659B97}" dt="2026-06-13T09:48:25.552" v="50" actId="1076"/>
        <pc:sldMkLst>
          <pc:docMk/>
          <pc:sldMk cId="0" sldId="268"/>
        </pc:sldMkLst>
        <pc:spChg chg="add mod">
          <ac:chgData name="Rahaf AlShami" userId="b692d9b51b045aa4" providerId="LiveId" clId="{1365A06F-206E-4A0A-852F-8BEFD3659B97}" dt="2026-06-13T09:48:25.552" v="50" actId="1076"/>
          <ac:spMkLst>
            <pc:docMk/>
            <pc:sldMk cId="0" sldId="268"/>
            <ac:spMk id="14" creationId="{FBCC3151-CD5B-158B-ADAF-85F655B29679}"/>
          </ac:spMkLst>
        </pc:spChg>
        <pc:graphicFrameChg chg="del">
          <ac:chgData name="Rahaf AlShami" userId="b692d9b51b045aa4" providerId="LiveId" clId="{1365A06F-206E-4A0A-852F-8BEFD3659B97}" dt="2026-06-13T09:48:06.644" v="44" actId="478"/>
          <ac:graphicFrameMkLst>
            <pc:docMk/>
            <pc:sldMk cId="0" sldId="268"/>
            <ac:graphicFrameMk id="5" creationId="{00000000-0000-0000-0000-000000000000}"/>
          </ac:graphicFrameMkLst>
        </pc:graphicFrameChg>
        <pc:graphicFrameChg chg="add mod">
          <ac:chgData name="Rahaf AlShami" userId="b692d9b51b045aa4" providerId="LiveId" clId="{1365A06F-206E-4A0A-852F-8BEFD3659B97}" dt="2026-06-13T09:48:25.552" v="50" actId="1076"/>
          <ac:graphicFrameMkLst>
            <pc:docMk/>
            <pc:sldMk cId="0" sldId="268"/>
            <ac:graphicFrameMk id="13" creationId="{3F06014D-F26D-1CB6-A7F5-904063A86FAF}"/>
          </ac:graphicFrameMkLst>
        </pc:graphicFrameChg>
      </pc:sldChg>
      <pc:sldChg chg="addSp delSp modSp mod">
        <pc:chgData name="Rahaf AlShami" userId="b692d9b51b045aa4" providerId="LiveId" clId="{1365A06F-206E-4A0A-852F-8BEFD3659B97}" dt="2026-06-13T09:49:07.800" v="57" actId="1076"/>
        <pc:sldMkLst>
          <pc:docMk/>
          <pc:sldMk cId="0" sldId="269"/>
        </pc:sldMkLst>
        <pc:spChg chg="add mod">
          <ac:chgData name="Rahaf AlShami" userId="b692d9b51b045aa4" providerId="LiveId" clId="{1365A06F-206E-4A0A-852F-8BEFD3659B97}" dt="2026-06-13T09:49:03.785" v="55" actId="14100"/>
          <ac:spMkLst>
            <pc:docMk/>
            <pc:sldMk cId="0" sldId="269"/>
            <ac:spMk id="14" creationId="{374D574C-3158-60A0-9EF6-6C044A51982D}"/>
          </ac:spMkLst>
        </pc:spChg>
        <pc:graphicFrameChg chg="del">
          <ac:chgData name="Rahaf AlShami" userId="b692d9b51b045aa4" providerId="LiveId" clId="{1365A06F-206E-4A0A-852F-8BEFD3659B97}" dt="2026-06-13T09:48:50.770" v="51" actId="478"/>
          <ac:graphicFrameMkLst>
            <pc:docMk/>
            <pc:sldMk cId="0" sldId="269"/>
            <ac:graphicFrameMk id="5" creationId="{00000000-0000-0000-0000-000000000000}"/>
          </ac:graphicFrameMkLst>
        </pc:graphicFrameChg>
        <pc:graphicFrameChg chg="add mod modGraphic">
          <ac:chgData name="Rahaf AlShami" userId="b692d9b51b045aa4" providerId="LiveId" clId="{1365A06F-206E-4A0A-852F-8BEFD3659B97}" dt="2026-06-13T09:49:07.800" v="57" actId="1076"/>
          <ac:graphicFrameMkLst>
            <pc:docMk/>
            <pc:sldMk cId="0" sldId="269"/>
            <ac:graphicFrameMk id="13" creationId="{294E60EB-ADF3-49E7-E6CB-E70AE261B7AC}"/>
          </ac:graphicFrameMkLst>
        </pc:graphicFrameChg>
      </pc:sldChg>
      <pc:sldChg chg="addSp delSp modSp mod">
        <pc:chgData name="Rahaf AlShami" userId="b692d9b51b045aa4" providerId="LiveId" clId="{1365A06F-206E-4A0A-852F-8BEFD3659B97}" dt="2026-06-13T09:50:34.130" v="65" actId="1076"/>
        <pc:sldMkLst>
          <pc:docMk/>
          <pc:sldMk cId="0" sldId="279"/>
        </pc:sldMkLst>
        <pc:spChg chg="add mod">
          <ac:chgData name="Rahaf AlShami" userId="b692d9b51b045aa4" providerId="LiveId" clId="{1365A06F-206E-4A0A-852F-8BEFD3659B97}" dt="2026-06-13T09:50:34.130" v="65" actId="1076"/>
          <ac:spMkLst>
            <pc:docMk/>
            <pc:sldMk cId="0" sldId="279"/>
            <ac:spMk id="7" creationId="{4F0F9ED2-D637-C45D-C1D5-DF24D67572E2}"/>
          </ac:spMkLst>
        </pc:spChg>
        <pc:graphicFrameChg chg="del">
          <ac:chgData name="Rahaf AlShami" userId="b692d9b51b045aa4" providerId="LiveId" clId="{1365A06F-206E-4A0A-852F-8BEFD3659B97}" dt="2026-06-13T09:50:21.378" v="58" actId="478"/>
          <ac:graphicFrameMkLst>
            <pc:docMk/>
            <pc:sldMk cId="0" sldId="279"/>
            <ac:graphicFrameMk id="3" creationId="{00000000-0000-0000-0000-000000000000}"/>
          </ac:graphicFrameMkLst>
        </pc:graphicFrameChg>
        <pc:graphicFrameChg chg="add mod">
          <ac:chgData name="Rahaf AlShami" userId="b692d9b51b045aa4" providerId="LiveId" clId="{1365A06F-206E-4A0A-852F-8BEFD3659B97}" dt="2026-06-13T09:50:34.130" v="65" actId="1076"/>
          <ac:graphicFrameMkLst>
            <pc:docMk/>
            <pc:sldMk cId="0" sldId="279"/>
            <ac:graphicFrameMk id="6" creationId="{90D15877-2651-5DF8-A131-D7DE32B3EC38}"/>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www.academia.edu/16708992/An_efficient_stemming_for_Arabic_Text_Classification" TargetMode="External"/><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www.academia.edu/16708992/An_efficient_stemming_for_Arabic_Text_Classification" TargetMode="External"/><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academia.edu/16708992/An_efficient_stemming_for_Arabic_Text_Classification" TargetMode="External"/><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abs/2302.09210" TargetMode="External"/><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research.google/pubs/mt5-a-massively-multilingual-pre-trained-text-to-text-transformer/" TargetMode="External"/><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research.google/pubs/mt5-a-massively-multilingual-pre-trained-text-to-text-transformer/" TargetMode="External"/><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hyperlink" Target="https://arxiv.org/abs/1412.3555"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arxiv.org/abs/2002.06612" TargetMode="External"/><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flipH="1">
            <a:off x="11883507" y="4037436"/>
            <a:ext cx="5862493" cy="5862493"/>
          </a:xfrm>
          <a:custGeom>
            <a:avLst/>
            <a:gdLst/>
            <a:ahLst/>
            <a:cxnLst/>
            <a:rect l="l" t="t" r="r" b="b"/>
            <a:pathLst>
              <a:path w="5862493" h="5862493">
                <a:moveTo>
                  <a:pt x="5862492" y="0"/>
                </a:moveTo>
                <a:lnTo>
                  <a:pt x="0" y="0"/>
                </a:lnTo>
                <a:lnTo>
                  <a:pt x="0" y="5862492"/>
                </a:lnTo>
                <a:lnTo>
                  <a:pt x="5862492" y="5862492"/>
                </a:lnTo>
                <a:lnTo>
                  <a:pt x="586249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409265" y="8377021"/>
            <a:ext cx="7234379" cy="881279"/>
          </a:xfrm>
          <a:custGeom>
            <a:avLst/>
            <a:gdLst/>
            <a:ahLst/>
            <a:cxnLst/>
            <a:rect l="l" t="t" r="r" b="b"/>
            <a:pathLst>
              <a:path w="7234379" h="881279">
                <a:moveTo>
                  <a:pt x="0" y="0"/>
                </a:moveTo>
                <a:lnTo>
                  <a:pt x="7234379" y="0"/>
                </a:lnTo>
                <a:lnTo>
                  <a:pt x="7234379" y="881279"/>
                </a:lnTo>
                <a:lnTo>
                  <a:pt x="0" y="881279"/>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TextBox 4"/>
          <p:cNvSpPr txBox="1"/>
          <p:nvPr/>
        </p:nvSpPr>
        <p:spPr>
          <a:xfrm>
            <a:off x="3527097" y="3920921"/>
            <a:ext cx="12306951" cy="1422396"/>
          </a:xfrm>
          <a:prstGeom prst="rect">
            <a:avLst/>
          </a:prstGeom>
        </p:spPr>
        <p:txBody>
          <a:bodyPr lIns="0" tIns="0" rIns="0" bIns="0" rtlCol="0" anchor="t">
            <a:spAutoFit/>
          </a:bodyPr>
          <a:lstStyle/>
          <a:p>
            <a:pPr algn="l">
              <a:lnSpc>
                <a:spcPts val="10999"/>
              </a:lnSpc>
            </a:pPr>
            <a:r>
              <a:rPr lang="en-US" sz="9999">
                <a:solidFill>
                  <a:srgbClr val="121417"/>
                </a:solidFill>
                <a:latin typeface="Canva Sans"/>
                <a:ea typeface="Canva Sans"/>
                <a:cs typeface="Canva Sans"/>
                <a:sym typeface="Canva Sans"/>
              </a:rPr>
              <a:t>Arabic NLP Tasks</a:t>
            </a:r>
          </a:p>
        </p:txBody>
      </p:sp>
      <p:sp>
        <p:nvSpPr>
          <p:cNvPr id="5" name="TextBox 5"/>
          <p:cNvSpPr txBox="1"/>
          <p:nvPr/>
        </p:nvSpPr>
        <p:spPr>
          <a:xfrm>
            <a:off x="4953075" y="6120957"/>
            <a:ext cx="7798728" cy="847725"/>
          </a:xfrm>
          <a:prstGeom prst="rect">
            <a:avLst/>
          </a:prstGeom>
        </p:spPr>
        <p:txBody>
          <a:bodyPr lIns="0" tIns="0" rIns="0" bIns="0" rtlCol="0" anchor="t">
            <a:spAutoFit/>
          </a:bodyPr>
          <a:lstStyle/>
          <a:p>
            <a:pPr algn="ctr">
              <a:lnSpc>
                <a:spcPts val="3300"/>
              </a:lnSpc>
            </a:pPr>
            <a:r>
              <a:rPr lang="en-US" sz="3000">
                <a:solidFill>
                  <a:srgbClr val="121417"/>
                </a:solidFill>
                <a:latin typeface="Canva Sans"/>
                <a:ea typeface="Canva Sans"/>
                <a:cs typeface="Canva Sans"/>
                <a:sym typeface="Canva Sans"/>
              </a:rPr>
              <a:t>Classification, Question Answering and Machine Translation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5763419" y="580708"/>
            <a:ext cx="6495690" cy="962660"/>
          </a:xfrm>
          <a:prstGeom prst="rect">
            <a:avLst/>
          </a:prstGeom>
        </p:spPr>
        <p:txBody>
          <a:bodyPr lIns="0" tIns="0" rIns="0" bIns="0" rtlCol="0" anchor="t">
            <a:spAutoFit/>
          </a:bodyPr>
          <a:lstStyle/>
          <a:p>
            <a:pPr algn="ctr">
              <a:lnSpc>
                <a:spcPts val="7479"/>
              </a:lnSpc>
            </a:pPr>
            <a:r>
              <a:rPr lang="en-US" sz="6799">
                <a:solidFill>
                  <a:srgbClr val="121417"/>
                </a:solidFill>
                <a:latin typeface="Canva Sans"/>
                <a:ea typeface="Canva Sans"/>
                <a:cs typeface="Canva Sans"/>
                <a:sym typeface="Canva Sans"/>
              </a:rPr>
              <a:t>Preprocessing</a:t>
            </a:r>
          </a:p>
        </p:txBody>
      </p:sp>
      <p:sp>
        <p:nvSpPr>
          <p:cNvPr id="3" name="Freeform 3"/>
          <p:cNvSpPr/>
          <p:nvPr/>
        </p:nvSpPr>
        <p:spPr>
          <a:xfrm>
            <a:off x="219033" y="5631863"/>
            <a:ext cx="4518371" cy="4518371"/>
          </a:xfrm>
          <a:custGeom>
            <a:avLst/>
            <a:gdLst/>
            <a:ahLst/>
            <a:cxnLst/>
            <a:rect l="l" t="t" r="r" b="b"/>
            <a:pathLst>
              <a:path w="4518371" h="4518371">
                <a:moveTo>
                  <a:pt x="0" y="0"/>
                </a:moveTo>
                <a:lnTo>
                  <a:pt x="4518370" y="0"/>
                </a:lnTo>
                <a:lnTo>
                  <a:pt x="4518370" y="4518370"/>
                </a:lnTo>
                <a:lnTo>
                  <a:pt x="0" y="4518370"/>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4" name="TextBox 4"/>
          <p:cNvSpPr txBox="1"/>
          <p:nvPr/>
        </p:nvSpPr>
        <p:spPr>
          <a:xfrm>
            <a:off x="816511" y="1882004"/>
            <a:ext cx="16442789" cy="1234440"/>
          </a:xfrm>
          <a:prstGeom prst="rect">
            <a:avLst/>
          </a:prstGeom>
        </p:spPr>
        <p:txBody>
          <a:bodyPr lIns="0" tIns="0" rIns="0" bIns="0" rtlCol="0" anchor="t">
            <a:spAutoFit/>
          </a:bodyPr>
          <a:lstStyle/>
          <a:p>
            <a:pPr algn="ctr">
              <a:lnSpc>
                <a:spcPts val="3359"/>
              </a:lnSpc>
            </a:pPr>
            <a:r>
              <a:rPr lang="en-US" sz="2400">
                <a:solidFill>
                  <a:srgbClr val="121417"/>
                </a:solidFill>
                <a:latin typeface="Canva Sans"/>
                <a:ea typeface="Canva Sans"/>
                <a:cs typeface="Canva Sans"/>
                <a:sym typeface="Canva Sans"/>
              </a:rPr>
              <a:t>Arabic text contains multiple variations, special symbols and noisy characters that can negatively affect models performance, a preprocessing pipeline was designed to reduce noise while preserving meaningful linguistic information</a:t>
            </a:r>
          </a:p>
        </p:txBody>
      </p:sp>
      <p:sp>
        <p:nvSpPr>
          <p:cNvPr id="5" name="TextBox 5"/>
          <p:cNvSpPr txBox="1"/>
          <p:nvPr/>
        </p:nvSpPr>
        <p:spPr>
          <a:xfrm>
            <a:off x="1236925" y="6837995"/>
            <a:ext cx="16128470" cy="763270"/>
          </a:xfrm>
          <a:prstGeom prst="rect">
            <a:avLst/>
          </a:prstGeom>
        </p:spPr>
        <p:txBody>
          <a:bodyPr lIns="0" tIns="0" rIns="0" bIns="0" rtlCol="0" anchor="t">
            <a:spAutoFit/>
          </a:bodyPr>
          <a:lstStyle/>
          <a:p>
            <a:pPr marL="474981" lvl="1" indent="-237491" algn="l">
              <a:lnSpc>
                <a:spcPts val="3080"/>
              </a:lnSpc>
              <a:buFont typeface="Arial"/>
              <a:buChar char="•"/>
            </a:pPr>
            <a:r>
              <a:rPr lang="en-US" sz="2200" b="1">
                <a:solidFill>
                  <a:srgbClr val="121417"/>
                </a:solidFill>
                <a:latin typeface="Canva Sans Bold"/>
                <a:ea typeface="Canva Sans Bold"/>
                <a:cs typeface="Canva Sans Bold"/>
                <a:sym typeface="Canva Sans Bold"/>
              </a:rPr>
              <a:t>Arabic normalization</a:t>
            </a:r>
            <a:r>
              <a:rPr lang="en-US" sz="2200">
                <a:solidFill>
                  <a:srgbClr val="121417"/>
                </a:solidFill>
                <a:latin typeface="Canva Sans"/>
                <a:ea typeface="Canva Sans"/>
                <a:cs typeface="Canva Sans"/>
                <a:sym typeface="Canva Sans"/>
              </a:rPr>
              <a:t> was applied to standardize different forms of the same letter (e.g., </a:t>
            </a:r>
            <a:r>
              <a:rPr lang="ar-EG" sz="2200">
                <a:solidFill>
                  <a:srgbClr val="121417"/>
                </a:solidFill>
                <a:latin typeface="Canva Sans"/>
                <a:ea typeface="Canva Sans"/>
                <a:cs typeface="Canva Sans"/>
                <a:sym typeface="Canva Sans"/>
                <a:rtl/>
              </a:rPr>
              <a:t>أ، إ، آ → ا</a:t>
            </a:r>
            <a:r>
              <a:rPr lang="en-US" sz="2200">
                <a:solidFill>
                  <a:srgbClr val="121417"/>
                </a:solidFill>
                <a:latin typeface="Canva Sans"/>
                <a:ea typeface="Canva Sans"/>
                <a:cs typeface="Canva Sans"/>
                <a:sym typeface="Canva Sans"/>
              </a:rPr>
              <a:t>) to reduce vocabulary fragmentation and improved feature consistency across the data</a:t>
            </a:r>
          </a:p>
        </p:txBody>
      </p:sp>
      <p:sp>
        <p:nvSpPr>
          <p:cNvPr id="6" name="TextBox 6"/>
          <p:cNvSpPr txBox="1"/>
          <p:nvPr/>
        </p:nvSpPr>
        <p:spPr>
          <a:xfrm>
            <a:off x="1236925" y="4593781"/>
            <a:ext cx="16022375" cy="763270"/>
          </a:xfrm>
          <a:prstGeom prst="rect">
            <a:avLst/>
          </a:prstGeom>
        </p:spPr>
        <p:txBody>
          <a:bodyPr lIns="0" tIns="0" rIns="0" bIns="0" rtlCol="0" anchor="t">
            <a:spAutoFit/>
          </a:bodyPr>
          <a:lstStyle/>
          <a:p>
            <a:pPr marL="474981" lvl="1" indent="-237491" algn="l">
              <a:lnSpc>
                <a:spcPts val="3080"/>
              </a:lnSpc>
              <a:buFont typeface="Arial"/>
              <a:buChar char="•"/>
            </a:pPr>
            <a:r>
              <a:rPr lang="en-US" sz="2200" b="1">
                <a:solidFill>
                  <a:srgbClr val="121417"/>
                </a:solidFill>
                <a:latin typeface="Canva Sans Bold"/>
                <a:ea typeface="Canva Sans Bold"/>
                <a:cs typeface="Canva Sans Bold"/>
                <a:sym typeface="Canva Sans Bold"/>
              </a:rPr>
              <a:t>Emoji removal</a:t>
            </a:r>
            <a:r>
              <a:rPr lang="en-US" sz="2200">
                <a:solidFill>
                  <a:srgbClr val="121417"/>
                </a:solidFill>
                <a:latin typeface="Canva Sans"/>
                <a:ea typeface="Canva Sans"/>
                <a:cs typeface="Canva Sans"/>
                <a:sym typeface="Canva Sans"/>
              </a:rPr>
              <a:t> was applied to eliminate non linguistic symbols that do not add semantic meaning to text to reduce noise and improve text consistency before further processing</a:t>
            </a:r>
          </a:p>
        </p:txBody>
      </p:sp>
      <p:sp>
        <p:nvSpPr>
          <p:cNvPr id="7" name="TextBox 7"/>
          <p:cNvSpPr txBox="1"/>
          <p:nvPr/>
        </p:nvSpPr>
        <p:spPr>
          <a:xfrm>
            <a:off x="1236925" y="5665150"/>
            <a:ext cx="16022375" cy="763270"/>
          </a:xfrm>
          <a:prstGeom prst="rect">
            <a:avLst/>
          </a:prstGeom>
        </p:spPr>
        <p:txBody>
          <a:bodyPr lIns="0" tIns="0" rIns="0" bIns="0" rtlCol="0" anchor="t">
            <a:spAutoFit/>
          </a:bodyPr>
          <a:lstStyle/>
          <a:p>
            <a:pPr marL="474981" lvl="1" indent="-237491" algn="l">
              <a:lnSpc>
                <a:spcPts val="3080"/>
              </a:lnSpc>
              <a:buFont typeface="Arial"/>
              <a:buChar char="•"/>
            </a:pPr>
            <a:r>
              <a:rPr lang="en-US" sz="2200" b="1">
                <a:solidFill>
                  <a:srgbClr val="121417"/>
                </a:solidFill>
                <a:latin typeface="Canva Sans Bold"/>
                <a:ea typeface="Canva Sans Bold"/>
                <a:cs typeface="Canva Sans Bold"/>
                <a:sym typeface="Canva Sans Bold"/>
              </a:rPr>
              <a:t>Tashkeel and Tatweel removal</a:t>
            </a:r>
            <a:r>
              <a:rPr lang="en-US" sz="2200">
                <a:solidFill>
                  <a:srgbClr val="121417"/>
                </a:solidFill>
                <a:latin typeface="Canva Sans"/>
                <a:ea typeface="Canva Sans"/>
                <a:cs typeface="Canva Sans"/>
                <a:sym typeface="Canva Sans"/>
              </a:rPr>
              <a:t> were performed because they create many forms of the same word without adding significant or useful semantic information to the dataset</a:t>
            </a:r>
          </a:p>
        </p:txBody>
      </p:sp>
      <p:sp>
        <p:nvSpPr>
          <p:cNvPr id="8" name="TextBox 8"/>
          <p:cNvSpPr txBox="1"/>
          <p:nvPr/>
        </p:nvSpPr>
        <p:spPr>
          <a:xfrm>
            <a:off x="1236925" y="3811461"/>
            <a:ext cx="15840832" cy="372745"/>
          </a:xfrm>
          <a:prstGeom prst="rect">
            <a:avLst/>
          </a:prstGeom>
        </p:spPr>
        <p:txBody>
          <a:bodyPr lIns="0" tIns="0" rIns="0" bIns="0" rtlCol="0" anchor="t">
            <a:spAutoFit/>
          </a:bodyPr>
          <a:lstStyle/>
          <a:p>
            <a:pPr marL="474981" lvl="1" indent="-237491" algn="l">
              <a:lnSpc>
                <a:spcPts val="3080"/>
              </a:lnSpc>
              <a:buFont typeface="Arial"/>
              <a:buChar char="•"/>
            </a:pPr>
            <a:r>
              <a:rPr lang="en-US" sz="2200">
                <a:solidFill>
                  <a:srgbClr val="121417"/>
                </a:solidFill>
                <a:latin typeface="Canva Sans"/>
                <a:ea typeface="Canva Sans"/>
                <a:cs typeface="Canva Sans"/>
                <a:sym typeface="Canva Sans"/>
              </a:rPr>
              <a:t>188 </a:t>
            </a:r>
            <a:r>
              <a:rPr lang="en-US" sz="2200" b="1">
                <a:solidFill>
                  <a:srgbClr val="121417"/>
                </a:solidFill>
                <a:latin typeface="Canva Sans Bold"/>
                <a:ea typeface="Canva Sans Bold"/>
                <a:cs typeface="Canva Sans Bold"/>
                <a:sym typeface="Canva Sans Bold"/>
              </a:rPr>
              <a:t>duplicate records</a:t>
            </a:r>
            <a:r>
              <a:rPr lang="en-US" sz="2200">
                <a:solidFill>
                  <a:srgbClr val="121417"/>
                </a:solidFill>
                <a:latin typeface="Canva Sans"/>
                <a:ea typeface="Canva Sans"/>
                <a:cs typeface="Canva Sans"/>
                <a:sym typeface="Canva Sans"/>
              </a:rPr>
              <a:t> were identified and removed to avoid bias and overrepresentation of repeated samples</a:t>
            </a:r>
          </a:p>
        </p:txBody>
      </p:sp>
      <p:sp>
        <p:nvSpPr>
          <p:cNvPr id="9" name="TextBox 9"/>
          <p:cNvSpPr txBox="1"/>
          <p:nvPr/>
        </p:nvSpPr>
        <p:spPr>
          <a:xfrm>
            <a:off x="1135469" y="8010840"/>
            <a:ext cx="16123831" cy="763270"/>
          </a:xfrm>
          <a:prstGeom prst="rect">
            <a:avLst/>
          </a:prstGeom>
        </p:spPr>
        <p:txBody>
          <a:bodyPr lIns="0" tIns="0" rIns="0" bIns="0" rtlCol="0" anchor="t">
            <a:spAutoFit/>
          </a:bodyPr>
          <a:lstStyle/>
          <a:p>
            <a:pPr marL="474981" lvl="1" indent="-237491" algn="l">
              <a:lnSpc>
                <a:spcPts val="3080"/>
              </a:lnSpc>
              <a:buFont typeface="Arial"/>
              <a:buChar char="•"/>
            </a:pPr>
            <a:r>
              <a:rPr lang="en-US" sz="2200" b="1">
                <a:solidFill>
                  <a:srgbClr val="121417"/>
                </a:solidFill>
                <a:latin typeface="Canva Sans Bold"/>
                <a:ea typeface="Canva Sans Bold"/>
                <a:cs typeface="Canva Sans Bold"/>
                <a:sym typeface="Canva Sans Bold"/>
              </a:rPr>
              <a:t>Extra whitespace removal</a:t>
            </a:r>
            <a:r>
              <a:rPr lang="en-US" sz="2200">
                <a:solidFill>
                  <a:srgbClr val="121417"/>
                </a:solidFill>
                <a:latin typeface="Canva Sans"/>
                <a:ea typeface="Canva Sans"/>
                <a:cs typeface="Canva Sans"/>
                <a:sym typeface="Canva Sans"/>
              </a:rPr>
              <a:t> was applied to standardize text formatting, ensure consistent tokenization and prevent identical words or sentences from being represented differently because of spacing inconsistencies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5896155" y="883667"/>
            <a:ext cx="6495690" cy="962660"/>
          </a:xfrm>
          <a:prstGeom prst="rect">
            <a:avLst/>
          </a:prstGeom>
        </p:spPr>
        <p:txBody>
          <a:bodyPr lIns="0" tIns="0" rIns="0" bIns="0" rtlCol="0" anchor="t">
            <a:spAutoFit/>
          </a:bodyPr>
          <a:lstStyle/>
          <a:p>
            <a:pPr algn="ctr">
              <a:lnSpc>
                <a:spcPts val="7479"/>
              </a:lnSpc>
            </a:pPr>
            <a:r>
              <a:rPr lang="en-US" sz="6799">
                <a:solidFill>
                  <a:srgbClr val="121417"/>
                </a:solidFill>
                <a:latin typeface="Canva Sans"/>
                <a:ea typeface="Canva Sans"/>
                <a:cs typeface="Canva Sans"/>
                <a:sym typeface="Canva Sans"/>
              </a:rPr>
              <a:t>Preprocessing</a:t>
            </a:r>
          </a:p>
        </p:txBody>
      </p:sp>
      <p:sp>
        <p:nvSpPr>
          <p:cNvPr id="3" name="TextBox 3"/>
          <p:cNvSpPr txBox="1"/>
          <p:nvPr/>
        </p:nvSpPr>
        <p:spPr>
          <a:xfrm>
            <a:off x="1028700" y="2995904"/>
            <a:ext cx="16442789" cy="1653540"/>
          </a:xfrm>
          <a:prstGeom prst="rect">
            <a:avLst/>
          </a:prstGeom>
        </p:spPr>
        <p:txBody>
          <a:bodyPr lIns="0" tIns="0" rIns="0" bIns="0" rtlCol="0" anchor="t">
            <a:spAutoFit/>
          </a:bodyPr>
          <a:lstStyle/>
          <a:p>
            <a:pPr algn="ctr">
              <a:lnSpc>
                <a:spcPts val="3359"/>
              </a:lnSpc>
            </a:pPr>
            <a:r>
              <a:rPr lang="en-US" sz="2400">
                <a:solidFill>
                  <a:srgbClr val="121417"/>
                </a:solidFill>
                <a:latin typeface="Canva Sans"/>
                <a:ea typeface="Canva Sans"/>
                <a:cs typeface="Canva Sans"/>
                <a:sym typeface="Canva Sans"/>
              </a:rPr>
              <a:t>Regular Expressions (Regex) were used instead of predefined functions because they provided greater flexibility and control over dataset specific cleaning rules and they allow multiple normalization and filtering operations to be performed efficiently within single and customizable preprocessing pipeline simplifying text cleaning and preparation</a:t>
            </a:r>
          </a:p>
        </p:txBody>
      </p:sp>
      <p:sp>
        <p:nvSpPr>
          <p:cNvPr id="4" name="TextBox 4"/>
          <p:cNvSpPr txBox="1"/>
          <p:nvPr/>
        </p:nvSpPr>
        <p:spPr>
          <a:xfrm>
            <a:off x="922605" y="6432143"/>
            <a:ext cx="16442789" cy="1234440"/>
          </a:xfrm>
          <a:prstGeom prst="rect">
            <a:avLst/>
          </a:prstGeom>
        </p:spPr>
        <p:txBody>
          <a:bodyPr lIns="0" tIns="0" rIns="0" bIns="0" rtlCol="0" anchor="t">
            <a:spAutoFit/>
          </a:bodyPr>
          <a:lstStyle/>
          <a:p>
            <a:pPr algn="ctr">
              <a:lnSpc>
                <a:spcPts val="3359"/>
              </a:lnSpc>
            </a:pPr>
            <a:r>
              <a:rPr lang="en-US" sz="2400">
                <a:solidFill>
                  <a:srgbClr val="121417"/>
                </a:solidFill>
                <a:latin typeface="Canva Sans"/>
                <a:ea typeface="Canva Sans"/>
                <a:cs typeface="Canva Sans"/>
                <a:sym typeface="Canva Sans"/>
              </a:rPr>
              <a:t>Different preprocessing strategies were adopted for classification where more aggressive cleaning was applied to reduce noise and improve feature extraction while lighter preprocessing was used for question answering and machine translation to preserve sentence structure and contextual information</a:t>
            </a:r>
          </a:p>
        </p:txBody>
      </p:sp>
      <p:sp>
        <p:nvSpPr>
          <p:cNvPr id="5" name="AutoShape 5"/>
          <p:cNvSpPr/>
          <p:nvPr/>
        </p:nvSpPr>
        <p:spPr>
          <a:xfrm>
            <a:off x="1795185" y="5687008"/>
            <a:ext cx="14697631" cy="0"/>
          </a:xfrm>
          <a:prstGeom prst="line">
            <a:avLst/>
          </a:prstGeom>
          <a:ln w="28575" cap="flat">
            <a:solidFill>
              <a:srgbClr val="7F2997"/>
            </a:solidFill>
            <a:prstDash val="solid"/>
            <a:headEnd type="oval" w="lg" len="lg"/>
            <a:tailEnd type="oval" w="lg" len="lg"/>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flipH="1">
            <a:off x="12420904" y="4332261"/>
            <a:ext cx="5464284" cy="5464284"/>
          </a:xfrm>
          <a:custGeom>
            <a:avLst/>
            <a:gdLst/>
            <a:ahLst/>
            <a:cxnLst/>
            <a:rect l="l" t="t" r="r" b="b"/>
            <a:pathLst>
              <a:path w="5464284" h="5464284">
                <a:moveTo>
                  <a:pt x="5464284" y="0"/>
                </a:moveTo>
                <a:lnTo>
                  <a:pt x="0" y="0"/>
                </a:lnTo>
                <a:lnTo>
                  <a:pt x="0" y="5464284"/>
                </a:lnTo>
                <a:lnTo>
                  <a:pt x="5464284" y="5464284"/>
                </a:lnTo>
                <a:lnTo>
                  <a:pt x="5464284"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664478" y="7190031"/>
            <a:ext cx="305513" cy="144424"/>
          </a:xfrm>
          <a:custGeom>
            <a:avLst/>
            <a:gdLst/>
            <a:ahLst/>
            <a:cxnLst/>
            <a:rect l="l" t="t" r="r" b="b"/>
            <a:pathLst>
              <a:path w="305513" h="144424">
                <a:moveTo>
                  <a:pt x="0" y="0"/>
                </a:moveTo>
                <a:lnTo>
                  <a:pt x="305512" y="0"/>
                </a:lnTo>
                <a:lnTo>
                  <a:pt x="305512" y="144424"/>
                </a:lnTo>
                <a:lnTo>
                  <a:pt x="0" y="1444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4840544" y="4532631"/>
            <a:ext cx="8606911" cy="1358897"/>
          </a:xfrm>
          <a:prstGeom prst="rect">
            <a:avLst/>
          </a:prstGeom>
        </p:spPr>
        <p:txBody>
          <a:bodyPr lIns="0" tIns="0" rIns="0" bIns="0" rtlCol="0" anchor="t">
            <a:spAutoFit/>
          </a:bodyPr>
          <a:lstStyle/>
          <a:p>
            <a:pPr algn="l">
              <a:lnSpc>
                <a:spcPts val="10449"/>
              </a:lnSpc>
            </a:pPr>
            <a:r>
              <a:rPr lang="en-US" sz="9499">
                <a:solidFill>
                  <a:srgbClr val="121417"/>
                </a:solidFill>
                <a:latin typeface="Canva Sans"/>
                <a:ea typeface="Canva Sans"/>
                <a:cs typeface="Canva Sans"/>
                <a:sym typeface="Canva Sans"/>
              </a:rPr>
              <a:t> Classification</a:t>
            </a:r>
          </a:p>
        </p:txBody>
      </p:sp>
      <p:sp>
        <p:nvSpPr>
          <p:cNvPr id="5" name="Freeform 5"/>
          <p:cNvSpPr/>
          <p:nvPr/>
        </p:nvSpPr>
        <p:spPr>
          <a:xfrm rot="-10800000" flipH="1">
            <a:off x="499880" y="654034"/>
            <a:ext cx="5220935" cy="5220935"/>
          </a:xfrm>
          <a:custGeom>
            <a:avLst/>
            <a:gdLst/>
            <a:ahLst/>
            <a:cxnLst/>
            <a:rect l="l" t="t" r="r" b="b"/>
            <a:pathLst>
              <a:path w="5220935" h="5220935">
                <a:moveTo>
                  <a:pt x="5220935" y="0"/>
                </a:moveTo>
                <a:lnTo>
                  <a:pt x="0" y="0"/>
                </a:lnTo>
                <a:lnTo>
                  <a:pt x="0" y="5220935"/>
                </a:lnTo>
                <a:lnTo>
                  <a:pt x="5220935" y="5220935"/>
                </a:lnTo>
                <a:lnTo>
                  <a:pt x="5220935"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AutoShape 2"/>
          <p:cNvSpPr/>
          <p:nvPr/>
        </p:nvSpPr>
        <p:spPr>
          <a:xfrm>
            <a:off x="1678560" y="2863478"/>
            <a:ext cx="15128319" cy="0"/>
          </a:xfrm>
          <a:prstGeom prst="line">
            <a:avLst/>
          </a:prstGeom>
          <a:ln w="28575" cap="flat">
            <a:solidFill>
              <a:srgbClr val="953DC3"/>
            </a:solidFill>
            <a:prstDash val="solid"/>
            <a:headEnd type="oval" w="lg" len="lg"/>
            <a:tailEnd type="triangle" w="lg" len="med"/>
          </a:ln>
        </p:spPr>
        <p:txBody>
          <a:bodyPr/>
          <a:lstStyle/>
          <a:p>
            <a:endParaRPr lang="en-US"/>
          </a:p>
        </p:txBody>
      </p:sp>
      <p:sp>
        <p:nvSpPr>
          <p:cNvPr id="3" name="AutoShape 3"/>
          <p:cNvSpPr/>
          <p:nvPr/>
        </p:nvSpPr>
        <p:spPr>
          <a:xfrm flipV="1">
            <a:off x="5880019" y="5970453"/>
            <a:ext cx="10926860" cy="0"/>
          </a:xfrm>
          <a:prstGeom prst="line">
            <a:avLst/>
          </a:prstGeom>
          <a:ln w="28575" cap="flat">
            <a:solidFill>
              <a:srgbClr val="CDB9EE"/>
            </a:solidFill>
            <a:prstDash val="solid"/>
            <a:headEnd type="none" w="sm" len="sm"/>
            <a:tailEnd type="oval" w="lg" len="lg"/>
          </a:ln>
        </p:spPr>
        <p:txBody>
          <a:bodyPr/>
          <a:lstStyle/>
          <a:p>
            <a:endParaRPr lang="en-US"/>
          </a:p>
        </p:txBody>
      </p:sp>
      <p:sp>
        <p:nvSpPr>
          <p:cNvPr id="4" name="Freeform 4"/>
          <p:cNvSpPr/>
          <p:nvPr/>
        </p:nvSpPr>
        <p:spPr>
          <a:xfrm rot="-10800000">
            <a:off x="762096" y="5765666"/>
            <a:ext cx="5305168" cy="771661"/>
          </a:xfrm>
          <a:custGeom>
            <a:avLst/>
            <a:gdLst/>
            <a:ahLst/>
            <a:cxnLst/>
            <a:rect l="l" t="t" r="r" b="b"/>
            <a:pathLst>
              <a:path w="5305168" h="771661">
                <a:moveTo>
                  <a:pt x="0" y="0"/>
                </a:moveTo>
                <a:lnTo>
                  <a:pt x="5305168" y="0"/>
                </a:lnTo>
                <a:lnTo>
                  <a:pt x="5305168" y="771661"/>
                </a:lnTo>
                <a:lnTo>
                  <a:pt x="0" y="77166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TextBox 5"/>
          <p:cNvSpPr txBox="1"/>
          <p:nvPr/>
        </p:nvSpPr>
        <p:spPr>
          <a:xfrm>
            <a:off x="1579840" y="1085850"/>
            <a:ext cx="8587434" cy="857250"/>
          </a:xfrm>
          <a:prstGeom prst="rect">
            <a:avLst/>
          </a:prstGeom>
        </p:spPr>
        <p:txBody>
          <a:bodyPr lIns="0" tIns="0" rIns="0" bIns="0" rtlCol="0" anchor="t">
            <a:spAutoFit/>
          </a:bodyPr>
          <a:lstStyle/>
          <a:p>
            <a:pPr algn="l">
              <a:lnSpc>
                <a:spcPts val="6600"/>
              </a:lnSpc>
            </a:pPr>
            <a:r>
              <a:rPr lang="en-US" sz="6000">
                <a:solidFill>
                  <a:srgbClr val="121417"/>
                </a:solidFill>
                <a:latin typeface="Canva Sans"/>
                <a:ea typeface="Canva Sans"/>
                <a:cs typeface="Canva Sans"/>
                <a:sym typeface="Canva Sans"/>
              </a:rPr>
              <a:t>Classification Pipeline</a:t>
            </a:r>
          </a:p>
        </p:txBody>
      </p:sp>
      <p:grpSp>
        <p:nvGrpSpPr>
          <p:cNvPr id="6" name="Group 6"/>
          <p:cNvGrpSpPr/>
          <p:nvPr/>
        </p:nvGrpSpPr>
        <p:grpSpPr>
          <a:xfrm>
            <a:off x="1382460" y="3482361"/>
            <a:ext cx="2626079" cy="565096"/>
            <a:chOff x="0" y="0"/>
            <a:chExt cx="691642" cy="148832"/>
          </a:xfrm>
        </p:grpSpPr>
        <p:sp>
          <p:nvSpPr>
            <p:cNvPr id="7" name="Freeform 7"/>
            <p:cNvSpPr/>
            <p:nvPr/>
          </p:nvSpPr>
          <p:spPr>
            <a:xfrm>
              <a:off x="0" y="0"/>
              <a:ext cx="691642" cy="148832"/>
            </a:xfrm>
            <a:custGeom>
              <a:avLst/>
              <a:gdLst/>
              <a:ahLst/>
              <a:cxnLst/>
              <a:rect l="l" t="t" r="r" b="b"/>
              <a:pathLst>
                <a:path w="691642" h="148832">
                  <a:moveTo>
                    <a:pt x="74416" y="0"/>
                  </a:moveTo>
                  <a:lnTo>
                    <a:pt x="617226" y="0"/>
                  </a:lnTo>
                  <a:cubicBezTo>
                    <a:pt x="658325" y="0"/>
                    <a:pt x="691642" y="33317"/>
                    <a:pt x="691642" y="74416"/>
                  </a:cubicBezTo>
                  <a:lnTo>
                    <a:pt x="691642" y="74416"/>
                  </a:lnTo>
                  <a:cubicBezTo>
                    <a:pt x="691642" y="94152"/>
                    <a:pt x="683802" y="113080"/>
                    <a:pt x="669846" y="127036"/>
                  </a:cubicBezTo>
                  <a:cubicBezTo>
                    <a:pt x="655890" y="140992"/>
                    <a:pt x="636962" y="148832"/>
                    <a:pt x="617226" y="148832"/>
                  </a:cubicBezTo>
                  <a:lnTo>
                    <a:pt x="74416" y="148832"/>
                  </a:lnTo>
                  <a:cubicBezTo>
                    <a:pt x="54680" y="148832"/>
                    <a:pt x="35752" y="140992"/>
                    <a:pt x="21796" y="127036"/>
                  </a:cubicBezTo>
                  <a:cubicBezTo>
                    <a:pt x="7840" y="113080"/>
                    <a:pt x="0" y="94152"/>
                    <a:pt x="0" y="74416"/>
                  </a:cubicBezTo>
                  <a:lnTo>
                    <a:pt x="0" y="74416"/>
                  </a:lnTo>
                  <a:cubicBezTo>
                    <a:pt x="0" y="54680"/>
                    <a:pt x="7840" y="35752"/>
                    <a:pt x="21796" y="21796"/>
                  </a:cubicBezTo>
                  <a:cubicBezTo>
                    <a:pt x="35752" y="7840"/>
                    <a:pt x="54680" y="0"/>
                    <a:pt x="74416" y="0"/>
                  </a:cubicBezTo>
                  <a:close/>
                </a:path>
              </a:pathLst>
            </a:custGeom>
            <a:gradFill rotWithShape="1">
              <a:gsLst>
                <a:gs pos="0">
                  <a:srgbClr val="E5E5E5">
                    <a:alpha val="7500"/>
                  </a:srgbClr>
                </a:gs>
                <a:gs pos="100000">
                  <a:srgbClr val="953DC3">
                    <a:alpha val="7500"/>
                  </a:srgbClr>
                </a:gs>
              </a:gsLst>
              <a:lin ang="2700000"/>
            </a:gradFill>
            <a:ln w="19050" cap="rnd">
              <a:solidFill>
                <a:srgbClr val="953DC3"/>
              </a:solidFill>
              <a:prstDash val="solid"/>
              <a:round/>
            </a:ln>
          </p:spPr>
          <p:txBody>
            <a:bodyPr/>
            <a:lstStyle/>
            <a:p>
              <a:endParaRPr lang="en-US"/>
            </a:p>
          </p:txBody>
        </p:sp>
        <p:sp>
          <p:nvSpPr>
            <p:cNvPr id="8" name="TextBox 8"/>
            <p:cNvSpPr txBox="1"/>
            <p:nvPr/>
          </p:nvSpPr>
          <p:spPr>
            <a:xfrm>
              <a:off x="0" y="9525"/>
              <a:ext cx="691642" cy="139307"/>
            </a:xfrm>
            <a:prstGeom prst="rect">
              <a:avLst/>
            </a:prstGeom>
          </p:spPr>
          <p:txBody>
            <a:bodyPr lIns="50800" tIns="50800" rIns="50800" bIns="50800" rtlCol="0" anchor="ctr"/>
            <a:lstStyle/>
            <a:p>
              <a:pPr algn="ctr">
                <a:lnSpc>
                  <a:spcPts val="2200"/>
                </a:lnSpc>
              </a:pPr>
              <a:endParaRPr/>
            </a:p>
          </p:txBody>
        </p:sp>
      </p:grpSp>
      <p:sp>
        <p:nvSpPr>
          <p:cNvPr id="9" name="TextBox 9"/>
          <p:cNvSpPr txBox="1"/>
          <p:nvPr/>
        </p:nvSpPr>
        <p:spPr>
          <a:xfrm>
            <a:off x="1662725" y="3627749"/>
            <a:ext cx="2345814" cy="293370"/>
          </a:xfrm>
          <a:prstGeom prst="rect">
            <a:avLst/>
          </a:prstGeom>
        </p:spPr>
        <p:txBody>
          <a:bodyPr lIns="0" tIns="0" rIns="0" bIns="0" rtlCol="0" anchor="t">
            <a:spAutoFit/>
          </a:bodyPr>
          <a:lstStyle/>
          <a:p>
            <a:pPr algn="l">
              <a:lnSpc>
                <a:spcPts val="2310"/>
              </a:lnSpc>
            </a:pPr>
            <a:r>
              <a:rPr lang="en-US" sz="2100">
                <a:solidFill>
                  <a:srgbClr val="121417"/>
                </a:solidFill>
                <a:latin typeface="Canva Sans"/>
                <a:ea typeface="Canva Sans"/>
                <a:cs typeface="Canva Sans"/>
                <a:sym typeface="Canva Sans"/>
              </a:rPr>
              <a:t>Arabic Dataset</a:t>
            </a:r>
          </a:p>
        </p:txBody>
      </p:sp>
      <p:sp>
        <p:nvSpPr>
          <p:cNvPr id="10" name="TextBox 10"/>
          <p:cNvSpPr txBox="1"/>
          <p:nvPr/>
        </p:nvSpPr>
        <p:spPr>
          <a:xfrm>
            <a:off x="4655875" y="3627749"/>
            <a:ext cx="2428329" cy="293370"/>
          </a:xfrm>
          <a:prstGeom prst="rect">
            <a:avLst/>
          </a:prstGeom>
        </p:spPr>
        <p:txBody>
          <a:bodyPr lIns="0" tIns="0" rIns="0" bIns="0" rtlCol="0" anchor="t">
            <a:spAutoFit/>
          </a:bodyPr>
          <a:lstStyle/>
          <a:p>
            <a:pPr algn="l">
              <a:lnSpc>
                <a:spcPts val="2310"/>
              </a:lnSpc>
            </a:pPr>
            <a:r>
              <a:rPr lang="en-US" sz="2100">
                <a:solidFill>
                  <a:srgbClr val="121417"/>
                </a:solidFill>
                <a:latin typeface="Canva Sans"/>
                <a:ea typeface="Canva Sans"/>
                <a:cs typeface="Canva Sans"/>
                <a:sym typeface="Canva Sans"/>
              </a:rPr>
              <a:t> Preprocessing</a:t>
            </a:r>
          </a:p>
        </p:txBody>
      </p:sp>
      <p:sp>
        <p:nvSpPr>
          <p:cNvPr id="11" name="TextBox 11"/>
          <p:cNvSpPr txBox="1"/>
          <p:nvPr/>
        </p:nvSpPr>
        <p:spPr>
          <a:xfrm>
            <a:off x="7946156" y="3627749"/>
            <a:ext cx="2411826" cy="293370"/>
          </a:xfrm>
          <a:prstGeom prst="rect">
            <a:avLst/>
          </a:prstGeom>
        </p:spPr>
        <p:txBody>
          <a:bodyPr lIns="0" tIns="0" rIns="0" bIns="0" rtlCol="0" anchor="t">
            <a:spAutoFit/>
          </a:bodyPr>
          <a:lstStyle/>
          <a:p>
            <a:pPr algn="l">
              <a:lnSpc>
                <a:spcPts val="2310"/>
              </a:lnSpc>
            </a:pPr>
            <a:r>
              <a:rPr lang="en-US" sz="2100">
                <a:solidFill>
                  <a:srgbClr val="121417"/>
                </a:solidFill>
                <a:latin typeface="Canva Sans"/>
                <a:ea typeface="Canva Sans"/>
                <a:cs typeface="Canva Sans"/>
                <a:sym typeface="Canva Sans"/>
              </a:rPr>
              <a:t>Representation</a:t>
            </a:r>
          </a:p>
        </p:txBody>
      </p:sp>
      <p:sp>
        <p:nvSpPr>
          <p:cNvPr id="12" name="TextBox 12"/>
          <p:cNvSpPr txBox="1"/>
          <p:nvPr/>
        </p:nvSpPr>
        <p:spPr>
          <a:xfrm>
            <a:off x="11442869" y="3635084"/>
            <a:ext cx="1751707" cy="293370"/>
          </a:xfrm>
          <a:prstGeom prst="rect">
            <a:avLst/>
          </a:prstGeom>
        </p:spPr>
        <p:txBody>
          <a:bodyPr lIns="0" tIns="0" rIns="0" bIns="0" rtlCol="0" anchor="t">
            <a:spAutoFit/>
          </a:bodyPr>
          <a:lstStyle/>
          <a:p>
            <a:pPr algn="ctr">
              <a:lnSpc>
                <a:spcPts val="2310"/>
              </a:lnSpc>
            </a:pPr>
            <a:r>
              <a:rPr lang="en-US" sz="2100">
                <a:solidFill>
                  <a:srgbClr val="121417"/>
                </a:solidFill>
                <a:latin typeface="Canva Sans"/>
                <a:ea typeface="Canva Sans"/>
                <a:cs typeface="Canva Sans"/>
                <a:sym typeface="Canva Sans"/>
              </a:rPr>
              <a:t>Models</a:t>
            </a:r>
          </a:p>
        </p:txBody>
      </p:sp>
      <p:sp>
        <p:nvSpPr>
          <p:cNvPr id="13" name="TextBox 13"/>
          <p:cNvSpPr txBox="1"/>
          <p:nvPr/>
        </p:nvSpPr>
        <p:spPr>
          <a:xfrm>
            <a:off x="7809081" y="4177740"/>
            <a:ext cx="2548901" cy="871220"/>
          </a:xfrm>
          <a:prstGeom prst="rect">
            <a:avLst/>
          </a:prstGeom>
        </p:spPr>
        <p:txBody>
          <a:bodyPr lIns="0" tIns="0" rIns="0" bIns="0" rtlCol="0" anchor="t">
            <a:spAutoFit/>
          </a:bodyPr>
          <a:lstStyle/>
          <a:p>
            <a:pPr marL="367034" lvl="1" indent="-183517" algn="l">
              <a:lnSpc>
                <a:spcPts val="2380"/>
              </a:lnSpc>
              <a:buFont typeface="Arial"/>
              <a:buChar char="•"/>
            </a:pPr>
            <a:r>
              <a:rPr lang="en-US" sz="1700">
                <a:solidFill>
                  <a:srgbClr val="121417"/>
                </a:solidFill>
                <a:latin typeface="Canva Sans"/>
                <a:ea typeface="Canva Sans"/>
                <a:cs typeface="Canva Sans"/>
                <a:sym typeface="Canva Sans"/>
              </a:rPr>
              <a:t>TF-IDF, BoW</a:t>
            </a:r>
          </a:p>
          <a:p>
            <a:pPr marL="367034" lvl="1" indent="-183517" algn="l">
              <a:lnSpc>
                <a:spcPts val="2380"/>
              </a:lnSpc>
              <a:buFont typeface="Arial"/>
              <a:buChar char="•"/>
            </a:pPr>
            <a:r>
              <a:rPr lang="en-US" sz="1700">
                <a:solidFill>
                  <a:srgbClr val="121417"/>
                </a:solidFill>
                <a:latin typeface="Canva Sans"/>
                <a:ea typeface="Canva Sans"/>
                <a:cs typeface="Canva Sans"/>
                <a:sym typeface="Canva Sans"/>
              </a:rPr>
              <a:t>FastText, Word2Vec</a:t>
            </a:r>
          </a:p>
          <a:p>
            <a:pPr marL="367034" lvl="1" indent="-183517" algn="l">
              <a:lnSpc>
                <a:spcPts val="2380"/>
              </a:lnSpc>
              <a:buFont typeface="Arial"/>
              <a:buChar char="•"/>
            </a:pPr>
            <a:r>
              <a:rPr lang="en-US" sz="1700">
                <a:solidFill>
                  <a:srgbClr val="121417"/>
                </a:solidFill>
                <a:latin typeface="Canva Sans"/>
                <a:ea typeface="Canva Sans"/>
                <a:cs typeface="Canva Sans"/>
                <a:sym typeface="Canva Sans"/>
              </a:rPr>
              <a:t>BERT, Qwen, E5, BGE</a:t>
            </a:r>
          </a:p>
        </p:txBody>
      </p:sp>
      <p:sp>
        <p:nvSpPr>
          <p:cNvPr id="14" name="TextBox 14"/>
          <p:cNvSpPr txBox="1"/>
          <p:nvPr/>
        </p:nvSpPr>
        <p:spPr>
          <a:xfrm>
            <a:off x="11442869" y="4185075"/>
            <a:ext cx="1077305" cy="1166495"/>
          </a:xfrm>
          <a:prstGeom prst="rect">
            <a:avLst/>
          </a:prstGeom>
        </p:spPr>
        <p:txBody>
          <a:bodyPr lIns="0" tIns="0" rIns="0" bIns="0" rtlCol="0" anchor="t">
            <a:spAutoFit/>
          </a:bodyPr>
          <a:lstStyle/>
          <a:p>
            <a:pPr marL="367034" lvl="1" indent="-183517" algn="l">
              <a:lnSpc>
                <a:spcPts val="2380"/>
              </a:lnSpc>
              <a:buFont typeface="Arial"/>
              <a:buChar char="•"/>
            </a:pPr>
            <a:r>
              <a:rPr lang="en-US" sz="1700">
                <a:solidFill>
                  <a:srgbClr val="121417"/>
                </a:solidFill>
                <a:latin typeface="Canva Sans"/>
                <a:ea typeface="Canva Sans"/>
                <a:cs typeface="Canva Sans"/>
                <a:sym typeface="Canva Sans"/>
              </a:rPr>
              <a:t>SVM</a:t>
            </a:r>
          </a:p>
          <a:p>
            <a:pPr marL="367034" lvl="1" indent="-183517" algn="l">
              <a:lnSpc>
                <a:spcPts val="2380"/>
              </a:lnSpc>
              <a:buFont typeface="Arial"/>
              <a:buChar char="•"/>
            </a:pPr>
            <a:r>
              <a:rPr lang="en-US" sz="1700">
                <a:solidFill>
                  <a:srgbClr val="121417"/>
                </a:solidFill>
                <a:latin typeface="Canva Sans"/>
                <a:ea typeface="Canva Sans"/>
                <a:cs typeface="Canva Sans"/>
                <a:sym typeface="Canva Sans"/>
              </a:rPr>
              <a:t>LR</a:t>
            </a:r>
          </a:p>
          <a:p>
            <a:pPr marL="367034" lvl="1" indent="-183517" algn="l">
              <a:lnSpc>
                <a:spcPts val="2380"/>
              </a:lnSpc>
              <a:buFont typeface="Arial"/>
              <a:buChar char="•"/>
            </a:pPr>
            <a:r>
              <a:rPr lang="en-US" sz="1700">
                <a:solidFill>
                  <a:srgbClr val="121417"/>
                </a:solidFill>
                <a:latin typeface="Canva Sans"/>
                <a:ea typeface="Canva Sans"/>
                <a:cs typeface="Canva Sans"/>
                <a:sym typeface="Canva Sans"/>
              </a:rPr>
              <a:t>RF</a:t>
            </a:r>
          </a:p>
          <a:p>
            <a:pPr marL="367034" lvl="1" indent="-183517" algn="l">
              <a:lnSpc>
                <a:spcPts val="2380"/>
              </a:lnSpc>
              <a:buFont typeface="Arial"/>
              <a:buChar char="•"/>
            </a:pPr>
            <a:r>
              <a:rPr lang="en-US" sz="1700">
                <a:solidFill>
                  <a:srgbClr val="121417"/>
                </a:solidFill>
                <a:latin typeface="Canva Sans"/>
                <a:ea typeface="Canva Sans"/>
                <a:cs typeface="Canva Sans"/>
                <a:sym typeface="Canva Sans"/>
              </a:rPr>
              <a:t>NB</a:t>
            </a:r>
          </a:p>
        </p:txBody>
      </p:sp>
      <p:grpSp>
        <p:nvGrpSpPr>
          <p:cNvPr id="15" name="Group 15"/>
          <p:cNvGrpSpPr/>
          <p:nvPr/>
        </p:nvGrpSpPr>
        <p:grpSpPr>
          <a:xfrm>
            <a:off x="4458125" y="3482361"/>
            <a:ext cx="2626079" cy="565096"/>
            <a:chOff x="0" y="0"/>
            <a:chExt cx="691642" cy="148832"/>
          </a:xfrm>
        </p:grpSpPr>
        <p:sp>
          <p:nvSpPr>
            <p:cNvPr id="16" name="Freeform 16"/>
            <p:cNvSpPr/>
            <p:nvPr/>
          </p:nvSpPr>
          <p:spPr>
            <a:xfrm>
              <a:off x="0" y="0"/>
              <a:ext cx="691642" cy="148832"/>
            </a:xfrm>
            <a:custGeom>
              <a:avLst/>
              <a:gdLst/>
              <a:ahLst/>
              <a:cxnLst/>
              <a:rect l="l" t="t" r="r" b="b"/>
              <a:pathLst>
                <a:path w="691642" h="148832">
                  <a:moveTo>
                    <a:pt x="74416" y="0"/>
                  </a:moveTo>
                  <a:lnTo>
                    <a:pt x="617226" y="0"/>
                  </a:lnTo>
                  <a:cubicBezTo>
                    <a:pt x="658325" y="0"/>
                    <a:pt x="691642" y="33317"/>
                    <a:pt x="691642" y="74416"/>
                  </a:cubicBezTo>
                  <a:lnTo>
                    <a:pt x="691642" y="74416"/>
                  </a:lnTo>
                  <a:cubicBezTo>
                    <a:pt x="691642" y="94152"/>
                    <a:pt x="683802" y="113080"/>
                    <a:pt x="669846" y="127036"/>
                  </a:cubicBezTo>
                  <a:cubicBezTo>
                    <a:pt x="655890" y="140992"/>
                    <a:pt x="636962" y="148832"/>
                    <a:pt x="617226" y="148832"/>
                  </a:cubicBezTo>
                  <a:lnTo>
                    <a:pt x="74416" y="148832"/>
                  </a:lnTo>
                  <a:cubicBezTo>
                    <a:pt x="54680" y="148832"/>
                    <a:pt x="35752" y="140992"/>
                    <a:pt x="21796" y="127036"/>
                  </a:cubicBezTo>
                  <a:cubicBezTo>
                    <a:pt x="7840" y="113080"/>
                    <a:pt x="0" y="94152"/>
                    <a:pt x="0" y="74416"/>
                  </a:cubicBezTo>
                  <a:lnTo>
                    <a:pt x="0" y="74416"/>
                  </a:lnTo>
                  <a:cubicBezTo>
                    <a:pt x="0" y="54680"/>
                    <a:pt x="7840" y="35752"/>
                    <a:pt x="21796" y="21796"/>
                  </a:cubicBezTo>
                  <a:cubicBezTo>
                    <a:pt x="35752" y="7840"/>
                    <a:pt x="54680" y="0"/>
                    <a:pt x="74416" y="0"/>
                  </a:cubicBezTo>
                  <a:close/>
                </a:path>
              </a:pathLst>
            </a:custGeom>
            <a:gradFill rotWithShape="1">
              <a:gsLst>
                <a:gs pos="0">
                  <a:srgbClr val="E5E5E5">
                    <a:alpha val="7500"/>
                  </a:srgbClr>
                </a:gs>
                <a:gs pos="100000">
                  <a:srgbClr val="953DC3">
                    <a:alpha val="7500"/>
                  </a:srgbClr>
                </a:gs>
              </a:gsLst>
              <a:lin ang="2700000"/>
            </a:gradFill>
            <a:ln w="19050" cap="rnd">
              <a:solidFill>
                <a:srgbClr val="953DC3"/>
              </a:solidFill>
              <a:prstDash val="solid"/>
              <a:round/>
            </a:ln>
          </p:spPr>
          <p:txBody>
            <a:bodyPr/>
            <a:lstStyle/>
            <a:p>
              <a:endParaRPr lang="en-US"/>
            </a:p>
          </p:txBody>
        </p:sp>
        <p:sp>
          <p:nvSpPr>
            <p:cNvPr id="17" name="TextBox 17"/>
            <p:cNvSpPr txBox="1"/>
            <p:nvPr/>
          </p:nvSpPr>
          <p:spPr>
            <a:xfrm>
              <a:off x="0" y="9525"/>
              <a:ext cx="691642" cy="139307"/>
            </a:xfrm>
            <a:prstGeom prst="rect">
              <a:avLst/>
            </a:prstGeom>
          </p:spPr>
          <p:txBody>
            <a:bodyPr lIns="50800" tIns="50800" rIns="50800" bIns="50800" rtlCol="0" anchor="ctr"/>
            <a:lstStyle/>
            <a:p>
              <a:pPr algn="ctr">
                <a:lnSpc>
                  <a:spcPts val="2200"/>
                </a:lnSpc>
              </a:pPr>
              <a:endParaRPr/>
            </a:p>
          </p:txBody>
        </p:sp>
      </p:grpSp>
      <p:grpSp>
        <p:nvGrpSpPr>
          <p:cNvPr id="18" name="Group 18"/>
          <p:cNvGrpSpPr/>
          <p:nvPr/>
        </p:nvGrpSpPr>
        <p:grpSpPr>
          <a:xfrm>
            <a:off x="7731904" y="3482361"/>
            <a:ext cx="2626079" cy="565096"/>
            <a:chOff x="0" y="0"/>
            <a:chExt cx="691642" cy="148832"/>
          </a:xfrm>
        </p:grpSpPr>
        <p:sp>
          <p:nvSpPr>
            <p:cNvPr id="19" name="Freeform 19"/>
            <p:cNvSpPr/>
            <p:nvPr/>
          </p:nvSpPr>
          <p:spPr>
            <a:xfrm>
              <a:off x="0" y="0"/>
              <a:ext cx="691642" cy="148832"/>
            </a:xfrm>
            <a:custGeom>
              <a:avLst/>
              <a:gdLst/>
              <a:ahLst/>
              <a:cxnLst/>
              <a:rect l="l" t="t" r="r" b="b"/>
              <a:pathLst>
                <a:path w="691642" h="148832">
                  <a:moveTo>
                    <a:pt x="74416" y="0"/>
                  </a:moveTo>
                  <a:lnTo>
                    <a:pt x="617226" y="0"/>
                  </a:lnTo>
                  <a:cubicBezTo>
                    <a:pt x="658325" y="0"/>
                    <a:pt x="691642" y="33317"/>
                    <a:pt x="691642" y="74416"/>
                  </a:cubicBezTo>
                  <a:lnTo>
                    <a:pt x="691642" y="74416"/>
                  </a:lnTo>
                  <a:cubicBezTo>
                    <a:pt x="691642" y="94152"/>
                    <a:pt x="683802" y="113080"/>
                    <a:pt x="669846" y="127036"/>
                  </a:cubicBezTo>
                  <a:cubicBezTo>
                    <a:pt x="655890" y="140992"/>
                    <a:pt x="636962" y="148832"/>
                    <a:pt x="617226" y="148832"/>
                  </a:cubicBezTo>
                  <a:lnTo>
                    <a:pt x="74416" y="148832"/>
                  </a:lnTo>
                  <a:cubicBezTo>
                    <a:pt x="54680" y="148832"/>
                    <a:pt x="35752" y="140992"/>
                    <a:pt x="21796" y="127036"/>
                  </a:cubicBezTo>
                  <a:cubicBezTo>
                    <a:pt x="7840" y="113080"/>
                    <a:pt x="0" y="94152"/>
                    <a:pt x="0" y="74416"/>
                  </a:cubicBezTo>
                  <a:lnTo>
                    <a:pt x="0" y="74416"/>
                  </a:lnTo>
                  <a:cubicBezTo>
                    <a:pt x="0" y="54680"/>
                    <a:pt x="7840" y="35752"/>
                    <a:pt x="21796" y="21796"/>
                  </a:cubicBezTo>
                  <a:cubicBezTo>
                    <a:pt x="35752" y="7840"/>
                    <a:pt x="54680" y="0"/>
                    <a:pt x="74416" y="0"/>
                  </a:cubicBezTo>
                  <a:close/>
                </a:path>
              </a:pathLst>
            </a:custGeom>
            <a:gradFill rotWithShape="1">
              <a:gsLst>
                <a:gs pos="0">
                  <a:srgbClr val="E5E5E5">
                    <a:alpha val="7500"/>
                  </a:srgbClr>
                </a:gs>
                <a:gs pos="100000">
                  <a:srgbClr val="953DC3">
                    <a:alpha val="7500"/>
                  </a:srgbClr>
                </a:gs>
              </a:gsLst>
              <a:lin ang="2700000"/>
            </a:gradFill>
            <a:ln w="19050" cap="rnd">
              <a:solidFill>
                <a:srgbClr val="953DC3"/>
              </a:solidFill>
              <a:prstDash val="solid"/>
              <a:round/>
            </a:ln>
          </p:spPr>
          <p:txBody>
            <a:bodyPr/>
            <a:lstStyle/>
            <a:p>
              <a:endParaRPr lang="en-US"/>
            </a:p>
          </p:txBody>
        </p:sp>
        <p:sp>
          <p:nvSpPr>
            <p:cNvPr id="20" name="TextBox 20"/>
            <p:cNvSpPr txBox="1"/>
            <p:nvPr/>
          </p:nvSpPr>
          <p:spPr>
            <a:xfrm>
              <a:off x="0" y="9525"/>
              <a:ext cx="691642" cy="139307"/>
            </a:xfrm>
            <a:prstGeom prst="rect">
              <a:avLst/>
            </a:prstGeom>
          </p:spPr>
          <p:txBody>
            <a:bodyPr lIns="50800" tIns="50800" rIns="50800" bIns="50800" rtlCol="0" anchor="ctr"/>
            <a:lstStyle/>
            <a:p>
              <a:pPr algn="ctr">
                <a:lnSpc>
                  <a:spcPts val="2200"/>
                </a:lnSpc>
              </a:pPr>
              <a:endParaRPr/>
            </a:p>
          </p:txBody>
        </p:sp>
      </p:grpSp>
      <p:grpSp>
        <p:nvGrpSpPr>
          <p:cNvPr id="21" name="Group 21"/>
          <p:cNvGrpSpPr/>
          <p:nvPr/>
        </p:nvGrpSpPr>
        <p:grpSpPr>
          <a:xfrm>
            <a:off x="11005683" y="3489696"/>
            <a:ext cx="2626079" cy="565096"/>
            <a:chOff x="0" y="0"/>
            <a:chExt cx="691642" cy="148832"/>
          </a:xfrm>
        </p:grpSpPr>
        <p:sp>
          <p:nvSpPr>
            <p:cNvPr id="22" name="Freeform 22"/>
            <p:cNvSpPr/>
            <p:nvPr/>
          </p:nvSpPr>
          <p:spPr>
            <a:xfrm>
              <a:off x="0" y="0"/>
              <a:ext cx="691642" cy="148832"/>
            </a:xfrm>
            <a:custGeom>
              <a:avLst/>
              <a:gdLst/>
              <a:ahLst/>
              <a:cxnLst/>
              <a:rect l="l" t="t" r="r" b="b"/>
              <a:pathLst>
                <a:path w="691642" h="148832">
                  <a:moveTo>
                    <a:pt x="74416" y="0"/>
                  </a:moveTo>
                  <a:lnTo>
                    <a:pt x="617226" y="0"/>
                  </a:lnTo>
                  <a:cubicBezTo>
                    <a:pt x="658325" y="0"/>
                    <a:pt x="691642" y="33317"/>
                    <a:pt x="691642" y="74416"/>
                  </a:cubicBezTo>
                  <a:lnTo>
                    <a:pt x="691642" y="74416"/>
                  </a:lnTo>
                  <a:cubicBezTo>
                    <a:pt x="691642" y="94152"/>
                    <a:pt x="683802" y="113080"/>
                    <a:pt x="669846" y="127036"/>
                  </a:cubicBezTo>
                  <a:cubicBezTo>
                    <a:pt x="655890" y="140992"/>
                    <a:pt x="636962" y="148832"/>
                    <a:pt x="617226" y="148832"/>
                  </a:cubicBezTo>
                  <a:lnTo>
                    <a:pt x="74416" y="148832"/>
                  </a:lnTo>
                  <a:cubicBezTo>
                    <a:pt x="54680" y="148832"/>
                    <a:pt x="35752" y="140992"/>
                    <a:pt x="21796" y="127036"/>
                  </a:cubicBezTo>
                  <a:cubicBezTo>
                    <a:pt x="7840" y="113080"/>
                    <a:pt x="0" y="94152"/>
                    <a:pt x="0" y="74416"/>
                  </a:cubicBezTo>
                  <a:lnTo>
                    <a:pt x="0" y="74416"/>
                  </a:lnTo>
                  <a:cubicBezTo>
                    <a:pt x="0" y="54680"/>
                    <a:pt x="7840" y="35752"/>
                    <a:pt x="21796" y="21796"/>
                  </a:cubicBezTo>
                  <a:cubicBezTo>
                    <a:pt x="35752" y="7840"/>
                    <a:pt x="54680" y="0"/>
                    <a:pt x="74416" y="0"/>
                  </a:cubicBezTo>
                  <a:close/>
                </a:path>
              </a:pathLst>
            </a:custGeom>
            <a:gradFill rotWithShape="1">
              <a:gsLst>
                <a:gs pos="0">
                  <a:srgbClr val="E5E5E5">
                    <a:alpha val="7500"/>
                  </a:srgbClr>
                </a:gs>
                <a:gs pos="100000">
                  <a:srgbClr val="953DC3">
                    <a:alpha val="7500"/>
                  </a:srgbClr>
                </a:gs>
              </a:gsLst>
              <a:lin ang="2700000"/>
            </a:gradFill>
            <a:ln w="19050" cap="rnd">
              <a:solidFill>
                <a:srgbClr val="953DC3"/>
              </a:solidFill>
              <a:prstDash val="solid"/>
              <a:round/>
            </a:ln>
          </p:spPr>
          <p:txBody>
            <a:bodyPr/>
            <a:lstStyle/>
            <a:p>
              <a:endParaRPr lang="en-US"/>
            </a:p>
          </p:txBody>
        </p:sp>
        <p:sp>
          <p:nvSpPr>
            <p:cNvPr id="23" name="TextBox 23"/>
            <p:cNvSpPr txBox="1"/>
            <p:nvPr/>
          </p:nvSpPr>
          <p:spPr>
            <a:xfrm>
              <a:off x="0" y="9525"/>
              <a:ext cx="691642" cy="139307"/>
            </a:xfrm>
            <a:prstGeom prst="rect">
              <a:avLst/>
            </a:prstGeom>
          </p:spPr>
          <p:txBody>
            <a:bodyPr lIns="50800" tIns="50800" rIns="50800" bIns="50800" rtlCol="0" anchor="ctr"/>
            <a:lstStyle/>
            <a:p>
              <a:pPr algn="ctr">
                <a:lnSpc>
                  <a:spcPts val="2200"/>
                </a:lnSpc>
              </a:pPr>
              <a:endParaRPr/>
            </a:p>
          </p:txBody>
        </p:sp>
      </p:grpSp>
      <p:sp>
        <p:nvSpPr>
          <p:cNvPr id="24" name="TextBox 24"/>
          <p:cNvSpPr txBox="1"/>
          <p:nvPr/>
        </p:nvSpPr>
        <p:spPr>
          <a:xfrm>
            <a:off x="14716647" y="3627749"/>
            <a:ext cx="1751707" cy="293370"/>
          </a:xfrm>
          <a:prstGeom prst="rect">
            <a:avLst/>
          </a:prstGeom>
        </p:spPr>
        <p:txBody>
          <a:bodyPr lIns="0" tIns="0" rIns="0" bIns="0" rtlCol="0" anchor="t">
            <a:spAutoFit/>
          </a:bodyPr>
          <a:lstStyle/>
          <a:p>
            <a:pPr algn="ctr">
              <a:lnSpc>
                <a:spcPts val="2310"/>
              </a:lnSpc>
            </a:pPr>
            <a:r>
              <a:rPr lang="en-US" sz="2100">
                <a:solidFill>
                  <a:srgbClr val="121417"/>
                </a:solidFill>
                <a:latin typeface="Canva Sans"/>
                <a:ea typeface="Canva Sans"/>
                <a:cs typeface="Canva Sans"/>
                <a:sym typeface="Canva Sans"/>
              </a:rPr>
              <a:t>Evaluation</a:t>
            </a:r>
          </a:p>
        </p:txBody>
      </p:sp>
      <p:grpSp>
        <p:nvGrpSpPr>
          <p:cNvPr id="25" name="Group 25"/>
          <p:cNvGrpSpPr/>
          <p:nvPr/>
        </p:nvGrpSpPr>
        <p:grpSpPr>
          <a:xfrm>
            <a:off x="14279461" y="3482361"/>
            <a:ext cx="2626079" cy="565096"/>
            <a:chOff x="0" y="0"/>
            <a:chExt cx="691642" cy="148832"/>
          </a:xfrm>
        </p:grpSpPr>
        <p:sp>
          <p:nvSpPr>
            <p:cNvPr id="26" name="Freeform 26"/>
            <p:cNvSpPr/>
            <p:nvPr/>
          </p:nvSpPr>
          <p:spPr>
            <a:xfrm>
              <a:off x="0" y="0"/>
              <a:ext cx="691642" cy="148832"/>
            </a:xfrm>
            <a:custGeom>
              <a:avLst/>
              <a:gdLst/>
              <a:ahLst/>
              <a:cxnLst/>
              <a:rect l="l" t="t" r="r" b="b"/>
              <a:pathLst>
                <a:path w="691642" h="148832">
                  <a:moveTo>
                    <a:pt x="74416" y="0"/>
                  </a:moveTo>
                  <a:lnTo>
                    <a:pt x="617226" y="0"/>
                  </a:lnTo>
                  <a:cubicBezTo>
                    <a:pt x="658325" y="0"/>
                    <a:pt x="691642" y="33317"/>
                    <a:pt x="691642" y="74416"/>
                  </a:cubicBezTo>
                  <a:lnTo>
                    <a:pt x="691642" y="74416"/>
                  </a:lnTo>
                  <a:cubicBezTo>
                    <a:pt x="691642" y="94152"/>
                    <a:pt x="683802" y="113080"/>
                    <a:pt x="669846" y="127036"/>
                  </a:cubicBezTo>
                  <a:cubicBezTo>
                    <a:pt x="655890" y="140992"/>
                    <a:pt x="636962" y="148832"/>
                    <a:pt x="617226" y="148832"/>
                  </a:cubicBezTo>
                  <a:lnTo>
                    <a:pt x="74416" y="148832"/>
                  </a:lnTo>
                  <a:cubicBezTo>
                    <a:pt x="54680" y="148832"/>
                    <a:pt x="35752" y="140992"/>
                    <a:pt x="21796" y="127036"/>
                  </a:cubicBezTo>
                  <a:cubicBezTo>
                    <a:pt x="7840" y="113080"/>
                    <a:pt x="0" y="94152"/>
                    <a:pt x="0" y="74416"/>
                  </a:cubicBezTo>
                  <a:lnTo>
                    <a:pt x="0" y="74416"/>
                  </a:lnTo>
                  <a:cubicBezTo>
                    <a:pt x="0" y="54680"/>
                    <a:pt x="7840" y="35752"/>
                    <a:pt x="21796" y="21796"/>
                  </a:cubicBezTo>
                  <a:cubicBezTo>
                    <a:pt x="35752" y="7840"/>
                    <a:pt x="54680" y="0"/>
                    <a:pt x="74416" y="0"/>
                  </a:cubicBezTo>
                  <a:close/>
                </a:path>
              </a:pathLst>
            </a:custGeom>
            <a:gradFill rotWithShape="1">
              <a:gsLst>
                <a:gs pos="0">
                  <a:srgbClr val="E5E5E5">
                    <a:alpha val="7500"/>
                  </a:srgbClr>
                </a:gs>
                <a:gs pos="100000">
                  <a:srgbClr val="953DC3">
                    <a:alpha val="7500"/>
                  </a:srgbClr>
                </a:gs>
              </a:gsLst>
              <a:lin ang="2700000"/>
            </a:gradFill>
            <a:ln w="19050" cap="rnd">
              <a:solidFill>
                <a:srgbClr val="953DC3"/>
              </a:solidFill>
              <a:prstDash val="solid"/>
              <a:round/>
            </a:ln>
          </p:spPr>
          <p:txBody>
            <a:bodyPr/>
            <a:lstStyle/>
            <a:p>
              <a:endParaRPr lang="en-US"/>
            </a:p>
          </p:txBody>
        </p:sp>
        <p:sp>
          <p:nvSpPr>
            <p:cNvPr id="27" name="TextBox 27"/>
            <p:cNvSpPr txBox="1"/>
            <p:nvPr/>
          </p:nvSpPr>
          <p:spPr>
            <a:xfrm>
              <a:off x="0" y="9525"/>
              <a:ext cx="691642" cy="139307"/>
            </a:xfrm>
            <a:prstGeom prst="rect">
              <a:avLst/>
            </a:prstGeom>
          </p:spPr>
          <p:txBody>
            <a:bodyPr lIns="50800" tIns="50800" rIns="50800" bIns="50800" rtlCol="0" anchor="ctr"/>
            <a:lstStyle/>
            <a:p>
              <a:pPr algn="ctr">
                <a:lnSpc>
                  <a:spcPts val="2200"/>
                </a:lnSpc>
              </a:pPr>
              <a:endParaRPr/>
            </a:p>
          </p:txBody>
        </p:sp>
      </p:grpSp>
      <p:sp>
        <p:nvSpPr>
          <p:cNvPr id="28" name="TextBox 28"/>
          <p:cNvSpPr txBox="1"/>
          <p:nvPr/>
        </p:nvSpPr>
        <p:spPr>
          <a:xfrm>
            <a:off x="15053548" y="4178594"/>
            <a:ext cx="1628445" cy="1166495"/>
          </a:xfrm>
          <a:prstGeom prst="rect">
            <a:avLst/>
          </a:prstGeom>
        </p:spPr>
        <p:txBody>
          <a:bodyPr lIns="0" tIns="0" rIns="0" bIns="0" rtlCol="0" anchor="t">
            <a:spAutoFit/>
          </a:bodyPr>
          <a:lstStyle/>
          <a:p>
            <a:pPr marL="367034" lvl="1" indent="-183517" algn="l">
              <a:lnSpc>
                <a:spcPts val="2380"/>
              </a:lnSpc>
              <a:buFont typeface="Arial"/>
              <a:buChar char="•"/>
            </a:pPr>
            <a:r>
              <a:rPr lang="en-US" sz="1700">
                <a:solidFill>
                  <a:srgbClr val="121417"/>
                </a:solidFill>
                <a:latin typeface="Canva Sans"/>
                <a:ea typeface="Canva Sans"/>
                <a:cs typeface="Canva Sans"/>
                <a:sym typeface="Canva Sans"/>
              </a:rPr>
              <a:t>Accurcy</a:t>
            </a:r>
          </a:p>
          <a:p>
            <a:pPr marL="367034" lvl="1" indent="-183517" algn="l">
              <a:lnSpc>
                <a:spcPts val="2380"/>
              </a:lnSpc>
              <a:buFont typeface="Arial"/>
              <a:buChar char="•"/>
            </a:pPr>
            <a:r>
              <a:rPr lang="en-US" sz="1700">
                <a:solidFill>
                  <a:srgbClr val="121417"/>
                </a:solidFill>
                <a:latin typeface="Canva Sans"/>
                <a:ea typeface="Canva Sans"/>
                <a:cs typeface="Canva Sans"/>
                <a:sym typeface="Canva Sans"/>
              </a:rPr>
              <a:t>Precision</a:t>
            </a:r>
          </a:p>
          <a:p>
            <a:pPr marL="367034" lvl="1" indent="-183517" algn="l">
              <a:lnSpc>
                <a:spcPts val="2380"/>
              </a:lnSpc>
              <a:buFont typeface="Arial"/>
              <a:buChar char="•"/>
            </a:pPr>
            <a:r>
              <a:rPr lang="en-US" sz="1700">
                <a:solidFill>
                  <a:srgbClr val="121417"/>
                </a:solidFill>
                <a:latin typeface="Canva Sans"/>
                <a:ea typeface="Canva Sans"/>
                <a:cs typeface="Canva Sans"/>
                <a:sym typeface="Canva Sans"/>
              </a:rPr>
              <a:t>Recall</a:t>
            </a:r>
          </a:p>
          <a:p>
            <a:pPr marL="367034" lvl="1" indent="-183517" algn="l">
              <a:lnSpc>
                <a:spcPts val="2380"/>
              </a:lnSpc>
              <a:buFont typeface="Arial"/>
              <a:buChar char="•"/>
            </a:pPr>
            <a:r>
              <a:rPr lang="en-US" sz="1700">
                <a:solidFill>
                  <a:srgbClr val="121417"/>
                </a:solidFill>
                <a:latin typeface="Canva Sans"/>
                <a:ea typeface="Canva Sans"/>
                <a:cs typeface="Canva Sans"/>
                <a:sym typeface="Canva Sans"/>
              </a:rPr>
              <a:t>F1 score</a:t>
            </a:r>
          </a:p>
        </p:txBody>
      </p:sp>
      <p:sp>
        <p:nvSpPr>
          <p:cNvPr id="29" name="TextBox 29"/>
          <p:cNvSpPr txBox="1"/>
          <p:nvPr/>
        </p:nvSpPr>
        <p:spPr>
          <a:xfrm>
            <a:off x="1028700" y="7099302"/>
            <a:ext cx="16442789" cy="1153795"/>
          </a:xfrm>
          <a:prstGeom prst="rect">
            <a:avLst/>
          </a:prstGeom>
        </p:spPr>
        <p:txBody>
          <a:bodyPr lIns="0" tIns="0" rIns="0" bIns="0" rtlCol="0" anchor="t">
            <a:spAutoFit/>
          </a:bodyPr>
          <a:lstStyle/>
          <a:p>
            <a:pPr algn="ctr">
              <a:lnSpc>
                <a:spcPts val="3080"/>
              </a:lnSpc>
            </a:pPr>
            <a:r>
              <a:rPr lang="en-US" sz="2200">
                <a:solidFill>
                  <a:srgbClr val="121417"/>
                </a:solidFill>
                <a:latin typeface="Canva Sans"/>
                <a:ea typeface="Canva Sans"/>
                <a:cs typeface="Canva Sans"/>
                <a:sym typeface="Canva Sans"/>
              </a:rPr>
              <a:t>The classification task evaluate the impact of preprocessing techniques, word representation methods and machine learning algorithms on Arabic text classification performance. Multiple configurations were tested to identify the most effective combination for the dataset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rot="-10800000" flipH="1">
            <a:off x="7905596" y="1028700"/>
            <a:ext cx="9353704" cy="1360539"/>
          </a:xfrm>
          <a:custGeom>
            <a:avLst/>
            <a:gdLst/>
            <a:ahLst/>
            <a:cxnLst/>
            <a:rect l="l" t="t" r="r" b="b"/>
            <a:pathLst>
              <a:path w="9353704" h="1360539">
                <a:moveTo>
                  <a:pt x="9353704" y="0"/>
                </a:moveTo>
                <a:lnTo>
                  <a:pt x="0" y="0"/>
                </a:lnTo>
                <a:lnTo>
                  <a:pt x="0" y="1360539"/>
                </a:lnTo>
                <a:lnTo>
                  <a:pt x="9353704" y="1360539"/>
                </a:lnTo>
                <a:lnTo>
                  <a:pt x="9353704"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844677" y="2979287"/>
            <a:ext cx="15927293" cy="4930775"/>
          </a:xfrm>
          <a:prstGeom prst="rect">
            <a:avLst/>
          </a:prstGeom>
        </p:spPr>
        <p:txBody>
          <a:bodyPr lIns="0" tIns="0" rIns="0" bIns="0" rtlCol="0" anchor="t">
            <a:spAutoFit/>
          </a:bodyPr>
          <a:lstStyle/>
          <a:p>
            <a:pPr algn="l">
              <a:lnSpc>
                <a:spcPts val="2800"/>
              </a:lnSpc>
            </a:pPr>
            <a:r>
              <a:rPr lang="en-US" sz="2000">
                <a:solidFill>
                  <a:srgbClr val="121417"/>
                </a:solidFill>
                <a:latin typeface="Canva Sans"/>
                <a:ea typeface="Canva Sans"/>
                <a:cs typeface="Canva Sans"/>
                <a:sym typeface="Canva Sans"/>
              </a:rPr>
              <a:t> Preprocessing steps were applied to all classification experiments:</a:t>
            </a:r>
          </a:p>
          <a:p>
            <a:pPr algn="l">
              <a:lnSpc>
                <a:spcPts val="2800"/>
              </a:lnSpc>
            </a:pPr>
            <a:endParaRPr lang="en-US" sz="2000">
              <a:solidFill>
                <a:srgbClr val="121417"/>
              </a:solidFill>
              <a:latin typeface="Canva Sans"/>
              <a:ea typeface="Canva Sans"/>
              <a:cs typeface="Canva Sans"/>
              <a:sym typeface="Canva Sans"/>
            </a:endParaRPr>
          </a:p>
          <a:p>
            <a:pPr marL="431802" lvl="1" indent="-215901" algn="l">
              <a:lnSpc>
                <a:spcPts val="2800"/>
              </a:lnSpc>
              <a:buFont typeface="Arial"/>
              <a:buChar char="•"/>
            </a:pPr>
            <a:r>
              <a:rPr lang="en-US" sz="2000">
                <a:solidFill>
                  <a:srgbClr val="121417"/>
                </a:solidFill>
                <a:latin typeface="Canva Sans"/>
                <a:ea typeface="Canva Sans"/>
                <a:cs typeface="Canva Sans"/>
                <a:sym typeface="Canva Sans"/>
              </a:rPr>
              <a:t>Arabic normalization to unify different forms of Arabic letters and reduce vocabulary fragmentation by removal Non Arabic character (punctuation, numbers, English letters and special symbols) to focus feature extraction on Arabic textual content</a:t>
            </a:r>
          </a:p>
          <a:p>
            <a:pPr algn="l">
              <a:lnSpc>
                <a:spcPts val="2800"/>
              </a:lnSpc>
            </a:pPr>
            <a:endParaRPr lang="en-US" sz="2000">
              <a:solidFill>
                <a:srgbClr val="121417"/>
              </a:solidFill>
              <a:latin typeface="Canva Sans"/>
              <a:ea typeface="Canva Sans"/>
              <a:cs typeface="Canva Sans"/>
              <a:sym typeface="Canva Sans"/>
            </a:endParaRPr>
          </a:p>
          <a:p>
            <a:pPr marL="431802" lvl="1" indent="-215901" algn="l">
              <a:lnSpc>
                <a:spcPts val="2800"/>
              </a:lnSpc>
              <a:buFont typeface="Arial"/>
              <a:buChar char="•"/>
            </a:pPr>
            <a:r>
              <a:rPr lang="en-US" sz="2000">
                <a:solidFill>
                  <a:srgbClr val="121417"/>
                </a:solidFill>
                <a:latin typeface="Canva Sans"/>
                <a:ea typeface="Canva Sans"/>
                <a:cs typeface="Canva Sans"/>
                <a:sym typeface="Canva Sans"/>
              </a:rPr>
              <a:t>Whitespace normalization to ensure consistent tokenization and text formatting</a:t>
            </a:r>
          </a:p>
          <a:p>
            <a:pPr algn="l">
              <a:lnSpc>
                <a:spcPts val="2800"/>
              </a:lnSpc>
            </a:pPr>
            <a:endParaRPr lang="en-US" sz="2000">
              <a:solidFill>
                <a:srgbClr val="121417"/>
              </a:solidFill>
              <a:latin typeface="Canva Sans"/>
              <a:ea typeface="Canva Sans"/>
              <a:cs typeface="Canva Sans"/>
              <a:sym typeface="Canva Sans"/>
            </a:endParaRPr>
          </a:p>
          <a:p>
            <a:pPr algn="l">
              <a:lnSpc>
                <a:spcPts val="2800"/>
              </a:lnSpc>
            </a:pPr>
            <a:r>
              <a:rPr lang="en-US" sz="2000">
                <a:solidFill>
                  <a:srgbClr val="121417"/>
                </a:solidFill>
                <a:latin typeface="Canva Sans"/>
                <a:ea typeface="Canva Sans"/>
                <a:cs typeface="Canva Sans"/>
                <a:sym typeface="Canva Sans"/>
              </a:rPr>
              <a:t> These steps standardize the dataset, reduce textual noise and improve feature quality before classification where traditional classifiers such as SVM, Logistic Regression and Naive Bayes rely on feature frequency statistics, removing irrelevant tokens helps reduce vocabulary size and sparsity resulting in cleaner and more meaningful text representations</a:t>
            </a:r>
          </a:p>
          <a:p>
            <a:pPr algn="l">
              <a:lnSpc>
                <a:spcPts val="2800"/>
              </a:lnSpc>
            </a:pPr>
            <a:endParaRPr lang="en-US" sz="2000">
              <a:solidFill>
                <a:srgbClr val="121417"/>
              </a:solidFill>
              <a:latin typeface="Canva Sans"/>
              <a:ea typeface="Canva Sans"/>
              <a:cs typeface="Canva Sans"/>
              <a:sym typeface="Canva Sans"/>
            </a:endParaRPr>
          </a:p>
          <a:p>
            <a:pPr algn="l">
              <a:lnSpc>
                <a:spcPts val="2800"/>
              </a:lnSpc>
            </a:pPr>
            <a:endParaRPr lang="en-US" sz="2000">
              <a:solidFill>
                <a:srgbClr val="121417"/>
              </a:solidFill>
              <a:latin typeface="Canva Sans"/>
              <a:ea typeface="Canva Sans"/>
              <a:cs typeface="Canva Sans"/>
              <a:sym typeface="Canva Sans"/>
            </a:endParaRPr>
          </a:p>
          <a:p>
            <a:pPr algn="l">
              <a:lnSpc>
                <a:spcPts val="2800"/>
              </a:lnSpc>
            </a:pPr>
            <a:endParaRPr lang="en-US" sz="2000">
              <a:solidFill>
                <a:srgbClr val="121417"/>
              </a:solidFill>
              <a:latin typeface="Canva Sans"/>
              <a:ea typeface="Canva Sans"/>
              <a:cs typeface="Canva Sans"/>
              <a:sym typeface="Canva Sans"/>
            </a:endParaRPr>
          </a:p>
          <a:p>
            <a:pPr algn="ctr">
              <a:lnSpc>
                <a:spcPts val="2800"/>
              </a:lnSpc>
            </a:pPr>
            <a:endParaRPr lang="en-US" sz="2000">
              <a:solidFill>
                <a:srgbClr val="121417"/>
              </a:solidFill>
              <a:latin typeface="Canva Sans"/>
              <a:ea typeface="Canva Sans"/>
              <a:cs typeface="Canva Sans"/>
              <a:sym typeface="Canva Sans"/>
            </a:endParaRPr>
          </a:p>
        </p:txBody>
      </p:sp>
      <p:sp>
        <p:nvSpPr>
          <p:cNvPr id="4" name="TextBox 4"/>
          <p:cNvSpPr txBox="1"/>
          <p:nvPr/>
        </p:nvSpPr>
        <p:spPr>
          <a:xfrm>
            <a:off x="844677" y="7121773"/>
            <a:ext cx="16096847" cy="2463800"/>
          </a:xfrm>
          <a:prstGeom prst="rect">
            <a:avLst/>
          </a:prstGeom>
        </p:spPr>
        <p:txBody>
          <a:bodyPr lIns="0" tIns="0" rIns="0" bIns="0" rtlCol="0" anchor="t">
            <a:spAutoFit/>
          </a:bodyPr>
          <a:lstStyle/>
          <a:p>
            <a:pPr algn="l">
              <a:lnSpc>
                <a:spcPts val="2800"/>
              </a:lnSpc>
            </a:pPr>
            <a:r>
              <a:rPr lang="en-US" sz="2000">
                <a:solidFill>
                  <a:srgbClr val="121417"/>
                </a:solidFill>
                <a:latin typeface="Canva Sans"/>
                <a:ea typeface="Canva Sans"/>
                <a:cs typeface="Canva Sans"/>
                <a:sym typeface="Canva Sans"/>
              </a:rPr>
              <a:t>To evaluate the impact of preprocessing on classification performance, two additional steps were created:</a:t>
            </a:r>
          </a:p>
          <a:p>
            <a:pPr algn="l">
              <a:lnSpc>
                <a:spcPts val="2800"/>
              </a:lnSpc>
            </a:pPr>
            <a:endParaRPr lang="en-US" sz="2000">
              <a:solidFill>
                <a:srgbClr val="121417"/>
              </a:solidFill>
              <a:latin typeface="Canva Sans"/>
              <a:ea typeface="Canva Sans"/>
              <a:cs typeface="Canva Sans"/>
              <a:sym typeface="Canva Sans"/>
            </a:endParaRPr>
          </a:p>
          <a:p>
            <a:pPr marL="431802" lvl="1" indent="-215901" algn="l">
              <a:lnSpc>
                <a:spcPts val="2800"/>
              </a:lnSpc>
              <a:buFont typeface="Arial"/>
              <a:buChar char="•"/>
            </a:pPr>
            <a:r>
              <a:rPr lang="en-US" sz="2000">
                <a:solidFill>
                  <a:srgbClr val="121417"/>
                </a:solidFill>
                <a:latin typeface="Canva Sans"/>
                <a:ea typeface="Canva Sans"/>
                <a:cs typeface="Canva Sans"/>
                <a:sym typeface="Canva Sans"/>
              </a:rPr>
              <a:t>Stopword Removal: Arabic stopwords were removed while retaining important question words to investigate whether removing frequent functional words improves class discrimination</a:t>
            </a:r>
          </a:p>
          <a:p>
            <a:pPr algn="l">
              <a:lnSpc>
                <a:spcPts val="2800"/>
              </a:lnSpc>
            </a:pPr>
            <a:endParaRPr lang="en-US" sz="2000">
              <a:solidFill>
                <a:srgbClr val="121417"/>
              </a:solidFill>
              <a:latin typeface="Canva Sans"/>
              <a:ea typeface="Canva Sans"/>
              <a:cs typeface="Canva Sans"/>
              <a:sym typeface="Canva Sans"/>
            </a:endParaRPr>
          </a:p>
          <a:p>
            <a:pPr marL="431802" lvl="1" indent="-215901" algn="l">
              <a:lnSpc>
                <a:spcPts val="2800"/>
              </a:lnSpc>
              <a:buFont typeface="Arial"/>
              <a:buChar char="•"/>
            </a:pPr>
            <a:r>
              <a:rPr lang="en-US" sz="2000">
                <a:solidFill>
                  <a:srgbClr val="121417"/>
                </a:solidFill>
                <a:latin typeface="Canva Sans"/>
                <a:ea typeface="Canva Sans"/>
                <a:cs typeface="Canva Sans"/>
                <a:sym typeface="Canva Sans"/>
              </a:rPr>
              <a:t>Stemming ISRI Stemmer was applied after stopword removal to reduce vocabulary sparsity by mapping different word forms to common stem and improving feature consistency</a:t>
            </a:r>
          </a:p>
        </p:txBody>
      </p:sp>
      <p:sp>
        <p:nvSpPr>
          <p:cNvPr id="5" name="TextBox 5"/>
          <p:cNvSpPr txBox="1"/>
          <p:nvPr/>
        </p:nvSpPr>
        <p:spPr>
          <a:xfrm>
            <a:off x="744847" y="759645"/>
            <a:ext cx="6797576" cy="1965325"/>
          </a:xfrm>
          <a:prstGeom prst="rect">
            <a:avLst/>
          </a:prstGeom>
        </p:spPr>
        <p:txBody>
          <a:bodyPr lIns="0" tIns="0" rIns="0" bIns="0" rtlCol="0" anchor="t">
            <a:spAutoFit/>
          </a:bodyPr>
          <a:lstStyle/>
          <a:p>
            <a:pPr algn="l">
              <a:lnSpc>
                <a:spcPts val="7699"/>
              </a:lnSpc>
            </a:pPr>
            <a:r>
              <a:rPr lang="en-US" sz="6999">
                <a:solidFill>
                  <a:srgbClr val="121417"/>
                </a:solidFill>
                <a:latin typeface="Canva Sans"/>
                <a:ea typeface="Canva Sans"/>
                <a:cs typeface="Canva Sans"/>
                <a:sym typeface="Canva Sans"/>
              </a:rPr>
              <a:t>Classification </a:t>
            </a:r>
          </a:p>
          <a:p>
            <a:pPr algn="l">
              <a:lnSpc>
                <a:spcPts val="7699"/>
              </a:lnSpc>
            </a:pPr>
            <a:r>
              <a:rPr lang="en-US" sz="6999">
                <a:solidFill>
                  <a:srgbClr val="121417"/>
                </a:solidFill>
                <a:latin typeface="Canva Sans"/>
                <a:ea typeface="Canva Sans"/>
                <a:cs typeface="Canva Sans"/>
                <a:sym typeface="Canva Sans"/>
              </a:rPr>
              <a:t>Preprocessing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rot="-5400000">
            <a:off x="-369379" y="7188032"/>
            <a:ext cx="3626452" cy="2571484"/>
          </a:xfrm>
          <a:custGeom>
            <a:avLst/>
            <a:gdLst/>
            <a:ahLst/>
            <a:cxnLst/>
            <a:rect l="l" t="t" r="r" b="b"/>
            <a:pathLst>
              <a:path w="3626452" h="2571484">
                <a:moveTo>
                  <a:pt x="0" y="0"/>
                </a:moveTo>
                <a:lnTo>
                  <a:pt x="3626452" y="0"/>
                </a:lnTo>
                <a:lnTo>
                  <a:pt x="3626452" y="2571484"/>
                </a:lnTo>
                <a:lnTo>
                  <a:pt x="0" y="2571484"/>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4" name="TextBox 4"/>
          <p:cNvSpPr txBox="1"/>
          <p:nvPr/>
        </p:nvSpPr>
        <p:spPr>
          <a:xfrm>
            <a:off x="363515" y="756220"/>
            <a:ext cx="17560970" cy="857250"/>
          </a:xfrm>
          <a:prstGeom prst="rect">
            <a:avLst/>
          </a:prstGeom>
        </p:spPr>
        <p:txBody>
          <a:bodyPr lIns="0" tIns="0" rIns="0" bIns="0" rtlCol="0" anchor="t">
            <a:spAutoFit/>
          </a:bodyPr>
          <a:lstStyle/>
          <a:p>
            <a:pPr algn="l">
              <a:lnSpc>
                <a:spcPts val="6600"/>
              </a:lnSpc>
            </a:pPr>
            <a:r>
              <a:rPr lang="en-US" sz="6000">
                <a:solidFill>
                  <a:srgbClr val="121417"/>
                </a:solidFill>
                <a:latin typeface="Canva Sans"/>
                <a:ea typeface="Canva Sans"/>
                <a:cs typeface="Canva Sans"/>
                <a:sym typeface="Canva Sans"/>
              </a:rPr>
              <a:t>Impact of Preprocessing on TF-IDF Features</a:t>
            </a:r>
          </a:p>
        </p:txBody>
      </p:sp>
      <p:sp>
        <p:nvSpPr>
          <p:cNvPr id="5" name="TextBox 5"/>
          <p:cNvSpPr txBox="1"/>
          <p:nvPr/>
        </p:nvSpPr>
        <p:spPr>
          <a:xfrm>
            <a:off x="828029" y="2002220"/>
            <a:ext cx="10849014" cy="6671310"/>
          </a:xfrm>
          <a:prstGeom prst="rect">
            <a:avLst/>
          </a:prstGeom>
        </p:spPr>
        <p:txBody>
          <a:bodyPr lIns="0" tIns="0" rIns="0" bIns="0" rtlCol="0" anchor="t">
            <a:spAutoFit/>
          </a:bodyPr>
          <a:lstStyle/>
          <a:p>
            <a:pPr algn="l">
              <a:lnSpc>
                <a:spcPts val="2939"/>
              </a:lnSpc>
              <a:spcBef>
                <a:spcPct val="0"/>
              </a:spcBef>
            </a:pPr>
            <a:r>
              <a:rPr lang="en-US" sz="2099">
                <a:solidFill>
                  <a:srgbClr val="121417"/>
                </a:solidFill>
                <a:latin typeface="Canva Sans"/>
                <a:ea typeface="Canva Sans"/>
                <a:cs typeface="Canva Sans"/>
                <a:sym typeface="Canva Sans"/>
              </a:rPr>
              <a:t>Stemming achieved the highest classification accuracy (69.9%) outperforming both the clean and stopword removed versions, this could be because of  the morphological richness of the Arabic language where single concept may appear in multiple inflected forms, reducing related word forms to common stem decreases vocabulary size and feature sparsity allowing semantically related terms to contribute to the same feature representation. (5.9% improvment)</a:t>
            </a:r>
          </a:p>
          <a:p>
            <a:pPr algn="l">
              <a:lnSpc>
                <a:spcPts val="2939"/>
              </a:lnSpc>
              <a:spcBef>
                <a:spcPct val="0"/>
              </a:spcBef>
            </a:pPr>
            <a:endParaRPr lang="en-US" sz="2099">
              <a:solidFill>
                <a:srgbClr val="121417"/>
              </a:solidFill>
              <a:latin typeface="Canva Sans"/>
              <a:ea typeface="Canva Sans"/>
              <a:cs typeface="Canva Sans"/>
              <a:sym typeface="Canva Sans"/>
            </a:endParaRPr>
          </a:p>
          <a:p>
            <a:pPr algn="l">
              <a:lnSpc>
                <a:spcPts val="2939"/>
              </a:lnSpc>
              <a:spcBef>
                <a:spcPct val="0"/>
              </a:spcBef>
            </a:pPr>
            <a:r>
              <a:rPr lang="en-US" sz="2099">
                <a:solidFill>
                  <a:srgbClr val="121417"/>
                </a:solidFill>
                <a:latin typeface="Canva Sans"/>
                <a:ea typeface="Canva Sans"/>
                <a:cs typeface="Canva Sans"/>
                <a:sym typeface="Canva Sans"/>
              </a:rPr>
              <a:t>stopword removal produced small improvement (65.1% vs. 64.0%) which suggest that stopwords were not major source of noise in the dataset while morphological variation had much stronger impact on performance.</a:t>
            </a:r>
          </a:p>
          <a:p>
            <a:pPr algn="l">
              <a:lnSpc>
                <a:spcPts val="2939"/>
              </a:lnSpc>
              <a:spcBef>
                <a:spcPct val="0"/>
              </a:spcBef>
            </a:pPr>
            <a:endParaRPr lang="en-US" sz="2099">
              <a:solidFill>
                <a:srgbClr val="121417"/>
              </a:solidFill>
              <a:latin typeface="Canva Sans"/>
              <a:ea typeface="Canva Sans"/>
              <a:cs typeface="Canva Sans"/>
              <a:sym typeface="Canva Sans"/>
            </a:endParaRPr>
          </a:p>
          <a:p>
            <a:pPr algn="l">
              <a:lnSpc>
                <a:spcPts val="2939"/>
              </a:lnSpc>
              <a:spcBef>
                <a:spcPct val="0"/>
              </a:spcBef>
            </a:pPr>
            <a:r>
              <a:rPr lang="en-US" sz="2099">
                <a:solidFill>
                  <a:srgbClr val="121417"/>
                </a:solidFill>
                <a:latin typeface="Canva Sans"/>
                <a:ea typeface="Canva Sans"/>
                <a:cs typeface="Canva Sans"/>
                <a:sym typeface="Canva Sans"/>
              </a:rPr>
              <a:t>These findings indicate that addressing complex arabic morphological is more beneficial than simply removing high frequency functional words when using frequency based representations such as TF-IDF</a:t>
            </a:r>
          </a:p>
          <a:p>
            <a:pPr algn="l">
              <a:lnSpc>
                <a:spcPts val="2939"/>
              </a:lnSpc>
              <a:spcBef>
                <a:spcPct val="0"/>
              </a:spcBef>
            </a:pPr>
            <a:endParaRPr lang="en-US" sz="2099">
              <a:solidFill>
                <a:srgbClr val="121417"/>
              </a:solidFill>
              <a:latin typeface="Canva Sans"/>
              <a:ea typeface="Canva Sans"/>
              <a:cs typeface="Canva Sans"/>
              <a:sym typeface="Canva Sans"/>
            </a:endParaRPr>
          </a:p>
          <a:p>
            <a:pPr algn="l">
              <a:lnSpc>
                <a:spcPts val="2939"/>
              </a:lnSpc>
              <a:spcBef>
                <a:spcPct val="0"/>
              </a:spcBef>
            </a:pPr>
            <a:r>
              <a:rPr lang="en-US" sz="2099">
                <a:solidFill>
                  <a:srgbClr val="121417"/>
                </a:solidFill>
                <a:latin typeface="Canva Sans"/>
                <a:ea typeface="Canva Sans"/>
                <a:cs typeface="Canva Sans"/>
                <a:sym typeface="Canva Sans"/>
              </a:rPr>
              <a:t>The observed improvement match the findings in Arabic text classification literature where stemming has been shown to reduce dimensionality and improve feature quality for classification tasks. </a:t>
            </a:r>
          </a:p>
        </p:txBody>
      </p:sp>
      <p:sp>
        <p:nvSpPr>
          <p:cNvPr id="6" name="TextBox 6"/>
          <p:cNvSpPr txBox="1"/>
          <p:nvPr/>
        </p:nvSpPr>
        <p:spPr>
          <a:xfrm>
            <a:off x="1605676" y="9073580"/>
            <a:ext cx="6332101" cy="280670"/>
          </a:xfrm>
          <a:prstGeom prst="rect">
            <a:avLst/>
          </a:prstGeom>
        </p:spPr>
        <p:txBody>
          <a:bodyPr lIns="0" tIns="0" rIns="0" bIns="0" rtlCol="0" anchor="t">
            <a:spAutoFit/>
          </a:bodyPr>
          <a:lstStyle/>
          <a:p>
            <a:pPr algn="l">
              <a:lnSpc>
                <a:spcPts val="2380"/>
              </a:lnSpc>
              <a:spcBef>
                <a:spcPct val="0"/>
              </a:spcBef>
            </a:pPr>
            <a:r>
              <a:rPr lang="en-US" sz="1700" u="sng">
                <a:solidFill>
                  <a:srgbClr val="121417"/>
                </a:solidFill>
                <a:latin typeface="Canva Sans"/>
                <a:ea typeface="Canva Sans"/>
                <a:cs typeface="Canva Sans"/>
                <a:sym typeface="Canva Sans"/>
                <a:hlinkClick r:id="rId3" tooltip="https://www.academia.edu/16708992/An_efficient_stemming_for_Arabic_Text_Classification"/>
              </a:rPr>
              <a:t>An_efficient_stemming_for_Arabic_Text_Classificationph text</a:t>
            </a:r>
          </a:p>
        </p:txBody>
      </p:sp>
      <p:graphicFrame>
        <p:nvGraphicFramePr>
          <p:cNvPr id="7" name="Table 6">
            <a:extLst>
              <a:ext uri="{FF2B5EF4-FFF2-40B4-BE49-F238E27FC236}">
                <a16:creationId xmlns:a16="http://schemas.microsoft.com/office/drawing/2014/main" id="{86EDE8C9-B145-E4DF-5B73-45CBC3F5C30D}"/>
              </a:ext>
            </a:extLst>
          </p:cNvPr>
          <p:cNvGraphicFramePr>
            <a:graphicFrameLocks noGrp="1"/>
          </p:cNvGraphicFramePr>
          <p:nvPr>
            <p:extLst>
              <p:ext uri="{D42A27DB-BD31-4B8C-83A1-F6EECF244321}">
                <p14:modId xmlns:p14="http://schemas.microsoft.com/office/powerpoint/2010/main" val="2707643650"/>
              </p:ext>
            </p:extLst>
          </p:nvPr>
        </p:nvGraphicFramePr>
        <p:xfrm>
          <a:off x="11677043" y="4000500"/>
          <a:ext cx="6248400" cy="3050972"/>
        </p:xfrm>
        <a:graphic>
          <a:graphicData uri="http://schemas.openxmlformats.org/drawingml/2006/table">
            <a:tbl>
              <a:tblPr/>
              <a:tblGrid>
                <a:gridCol w="3124200">
                  <a:extLst>
                    <a:ext uri="{9D8B030D-6E8A-4147-A177-3AD203B41FA5}">
                      <a16:colId xmlns:a16="http://schemas.microsoft.com/office/drawing/2014/main" val="125512391"/>
                    </a:ext>
                  </a:extLst>
                </a:gridCol>
                <a:gridCol w="3124200">
                  <a:extLst>
                    <a:ext uri="{9D8B030D-6E8A-4147-A177-3AD203B41FA5}">
                      <a16:colId xmlns:a16="http://schemas.microsoft.com/office/drawing/2014/main" val="3367969898"/>
                    </a:ext>
                  </a:extLst>
                </a:gridCol>
              </a:tblGrid>
              <a:tr h="762743">
                <a:tc>
                  <a:txBody>
                    <a:bodyPr/>
                    <a:lstStyle/>
                    <a:p>
                      <a:pPr>
                        <a:buNone/>
                      </a:pPr>
                      <a:r>
                        <a:rPr lang="en-US">
                          <a:effectLst/>
                        </a:rPr>
                        <a:t>TF-IDF Version</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Accuracy</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1914757017"/>
                  </a:ext>
                </a:extLst>
              </a:tr>
              <a:tr h="762743">
                <a:tc>
                  <a:txBody>
                    <a:bodyPr/>
                    <a:lstStyle/>
                    <a:p>
                      <a:pPr>
                        <a:buNone/>
                      </a:pPr>
                      <a:r>
                        <a:rPr lang="en-US">
                          <a:effectLst/>
                        </a:rPr>
                        <a:t>Clean</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64.00%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1536459328"/>
                  </a:ext>
                </a:extLst>
              </a:tr>
              <a:tr h="762743">
                <a:tc>
                  <a:txBody>
                    <a:bodyPr/>
                    <a:lstStyle/>
                    <a:p>
                      <a:pPr>
                        <a:buNone/>
                      </a:pPr>
                      <a:r>
                        <a:rPr lang="en-US">
                          <a:effectLst/>
                        </a:rPr>
                        <a:t>No Stopwords</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65.10%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4074584532"/>
                  </a:ext>
                </a:extLst>
              </a:tr>
              <a:tr h="762743">
                <a:tc>
                  <a:txBody>
                    <a:bodyPr/>
                    <a:lstStyle/>
                    <a:p>
                      <a:pPr>
                        <a:buNone/>
                      </a:pPr>
                      <a:r>
                        <a:rPr lang="en-US">
                          <a:effectLst/>
                        </a:rPr>
                        <a:t>Stemmed</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dirty="0">
                          <a:effectLst/>
                        </a:rPr>
                        <a:t>69.90%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1754684353"/>
                  </a:ext>
                </a:extLst>
              </a:tr>
            </a:tbl>
          </a:graphicData>
        </a:graphic>
      </p:graphicFrame>
      <p:sp>
        <p:nvSpPr>
          <p:cNvPr id="8" name="Rectangle 1">
            <a:extLst>
              <a:ext uri="{FF2B5EF4-FFF2-40B4-BE49-F238E27FC236}">
                <a16:creationId xmlns:a16="http://schemas.microsoft.com/office/drawing/2014/main" id="{8F23AC9D-6C00-A3CB-3CE0-7B20F099AE40}"/>
              </a:ext>
            </a:extLst>
          </p:cNvPr>
          <p:cNvSpPr>
            <a:spLocks noChangeArrowheads="1"/>
          </p:cNvSpPr>
          <p:nvPr/>
        </p:nvSpPr>
        <p:spPr bwMode="auto">
          <a:xfrm flipV="1">
            <a:off x="14098509" y="2553290"/>
            <a:ext cx="1388533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rot="-5400000">
            <a:off x="-691989" y="4540226"/>
            <a:ext cx="6724949" cy="4768600"/>
          </a:xfrm>
          <a:custGeom>
            <a:avLst/>
            <a:gdLst/>
            <a:ahLst/>
            <a:cxnLst/>
            <a:rect l="l" t="t" r="r" b="b"/>
            <a:pathLst>
              <a:path w="6724949" h="4768600">
                <a:moveTo>
                  <a:pt x="0" y="0"/>
                </a:moveTo>
                <a:lnTo>
                  <a:pt x="6724948" y="0"/>
                </a:lnTo>
                <a:lnTo>
                  <a:pt x="6724948" y="4768600"/>
                </a:lnTo>
                <a:lnTo>
                  <a:pt x="0" y="4768600"/>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3" name="TextBox 3"/>
          <p:cNvSpPr txBox="1"/>
          <p:nvPr/>
        </p:nvSpPr>
        <p:spPr>
          <a:xfrm>
            <a:off x="1141896" y="3328055"/>
            <a:ext cx="15601003" cy="5189968"/>
          </a:xfrm>
          <a:prstGeom prst="rect">
            <a:avLst/>
          </a:prstGeom>
        </p:spPr>
        <p:txBody>
          <a:bodyPr lIns="0" tIns="0" rIns="0" bIns="0" rtlCol="0" anchor="t">
            <a:spAutoFit/>
          </a:bodyPr>
          <a:lstStyle/>
          <a:p>
            <a:pPr algn="l">
              <a:lnSpc>
                <a:spcPts val="3213"/>
              </a:lnSpc>
            </a:pPr>
            <a:r>
              <a:rPr lang="en-US" sz="2295">
                <a:solidFill>
                  <a:srgbClr val="121417"/>
                </a:solidFill>
                <a:latin typeface="Canva Sans"/>
                <a:ea typeface="Canva Sans"/>
                <a:cs typeface="Canva Sans"/>
                <a:sym typeface="Canva Sans"/>
              </a:rPr>
              <a:t>One-Hot Encoding was not used because it produces extremely high dimensional and sparse vectors when applied to textual data since each unique word is represented by separate dimension, the feature space grows rapidly with vocabulary size which lead to increased memory requirements and reduced computational efficiency</a:t>
            </a:r>
          </a:p>
          <a:p>
            <a:pPr algn="l">
              <a:lnSpc>
                <a:spcPts val="3213"/>
              </a:lnSpc>
            </a:pPr>
            <a:endParaRPr lang="en-US" sz="2295">
              <a:solidFill>
                <a:srgbClr val="121417"/>
              </a:solidFill>
              <a:latin typeface="Canva Sans"/>
              <a:ea typeface="Canva Sans"/>
              <a:cs typeface="Canva Sans"/>
              <a:sym typeface="Canva Sans"/>
            </a:endParaRPr>
          </a:p>
          <a:p>
            <a:pPr algn="l">
              <a:lnSpc>
                <a:spcPts val="3213"/>
              </a:lnSpc>
            </a:pPr>
            <a:r>
              <a:rPr lang="en-US" sz="2295">
                <a:solidFill>
                  <a:srgbClr val="121417"/>
                </a:solidFill>
                <a:latin typeface="Canva Sans"/>
                <a:ea typeface="Canva Sans"/>
                <a:cs typeface="Canva Sans"/>
                <a:sym typeface="Canva Sans"/>
              </a:rPr>
              <a:t>One-Hot Encoding treats all words equally regardless of their frequently or how strongly they are associated with specific class, so the model cannot distinguish between highly representative keywords and less relevant words. </a:t>
            </a:r>
          </a:p>
          <a:p>
            <a:pPr algn="l">
              <a:lnSpc>
                <a:spcPts val="3213"/>
              </a:lnSpc>
            </a:pPr>
            <a:endParaRPr lang="en-US" sz="2295">
              <a:solidFill>
                <a:srgbClr val="121417"/>
              </a:solidFill>
              <a:latin typeface="Canva Sans"/>
              <a:ea typeface="Canva Sans"/>
              <a:cs typeface="Canva Sans"/>
              <a:sym typeface="Canva Sans"/>
            </a:endParaRPr>
          </a:p>
          <a:p>
            <a:pPr algn="l">
              <a:lnSpc>
                <a:spcPts val="3213"/>
              </a:lnSpc>
            </a:pPr>
            <a:r>
              <a:rPr lang="en-US" sz="2295">
                <a:solidFill>
                  <a:srgbClr val="121417"/>
                </a:solidFill>
                <a:latin typeface="Canva Sans"/>
                <a:ea typeface="Canva Sans"/>
                <a:cs typeface="Canva Sans"/>
                <a:sym typeface="Canva Sans"/>
              </a:rPr>
              <a:t>Instead, TF-IDF and other embedding were selected because they provide more useful representations of text. TF-IDF captures word importance, while other embeddings could capture semantic relationships between words which cannot be represented using One-Hot Encoding</a:t>
            </a:r>
          </a:p>
          <a:p>
            <a:pPr algn="l">
              <a:lnSpc>
                <a:spcPts val="3213"/>
              </a:lnSpc>
              <a:spcBef>
                <a:spcPct val="0"/>
              </a:spcBef>
            </a:pPr>
            <a:endParaRPr lang="en-US" sz="2295">
              <a:solidFill>
                <a:srgbClr val="121417"/>
              </a:solidFill>
              <a:latin typeface="Canva Sans"/>
              <a:ea typeface="Canva Sans"/>
              <a:cs typeface="Canva Sans"/>
              <a:sym typeface="Canva Sans"/>
            </a:endParaRPr>
          </a:p>
        </p:txBody>
      </p:sp>
      <p:sp>
        <p:nvSpPr>
          <p:cNvPr id="4" name="TextBox 4"/>
          <p:cNvSpPr txBox="1"/>
          <p:nvPr/>
        </p:nvSpPr>
        <p:spPr>
          <a:xfrm>
            <a:off x="1028700" y="1085850"/>
            <a:ext cx="13497388" cy="1695450"/>
          </a:xfrm>
          <a:prstGeom prst="rect">
            <a:avLst/>
          </a:prstGeom>
        </p:spPr>
        <p:txBody>
          <a:bodyPr lIns="0" tIns="0" rIns="0" bIns="0" rtlCol="0" anchor="t">
            <a:spAutoFit/>
          </a:bodyPr>
          <a:lstStyle/>
          <a:p>
            <a:pPr algn="l">
              <a:lnSpc>
                <a:spcPts val="6600"/>
              </a:lnSpc>
            </a:pPr>
            <a:r>
              <a:rPr lang="en-US" sz="6000">
                <a:solidFill>
                  <a:srgbClr val="121417"/>
                </a:solidFill>
                <a:latin typeface="Canva Sans"/>
                <a:ea typeface="Canva Sans"/>
                <a:cs typeface="Canva Sans"/>
                <a:sym typeface="Canva Sans"/>
              </a:rPr>
              <a:t>Impact of Traditional Feature Representation</a:t>
            </a:r>
          </a:p>
        </p:txBody>
      </p:sp>
      <p:sp>
        <p:nvSpPr>
          <p:cNvPr id="5" name="TextBox 5"/>
          <p:cNvSpPr txBox="1"/>
          <p:nvPr/>
        </p:nvSpPr>
        <p:spPr>
          <a:xfrm>
            <a:off x="14971934" y="9700482"/>
            <a:ext cx="2774513" cy="231141"/>
          </a:xfrm>
          <a:prstGeom prst="rect">
            <a:avLst/>
          </a:prstGeom>
        </p:spPr>
        <p:txBody>
          <a:bodyPr lIns="0" tIns="0" rIns="0" bIns="0" rtlCol="0" anchor="t">
            <a:spAutoFit/>
          </a:bodyPr>
          <a:lstStyle/>
          <a:p>
            <a:pPr algn="ctr">
              <a:lnSpc>
                <a:spcPts val="1870"/>
              </a:lnSpc>
              <a:spcBef>
                <a:spcPct val="0"/>
              </a:spcBef>
            </a:pPr>
            <a:r>
              <a:rPr lang="en-US" sz="1700">
                <a:solidFill>
                  <a:srgbClr val="121417"/>
                </a:solidFill>
                <a:latin typeface="Canva Sans"/>
                <a:ea typeface="Canva Sans"/>
                <a:cs typeface="Canva Sans"/>
                <a:sym typeface="Canva Sans"/>
                <a:hlinkClick r:id="rId3" tooltip="https://arxiv.org/abs/1301.3781"/>
              </a:rPr>
              <a:t>why one hot encoding falis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rot="-5400000">
            <a:off x="-245502" y="7915810"/>
            <a:ext cx="2774796" cy="1967583"/>
          </a:xfrm>
          <a:custGeom>
            <a:avLst/>
            <a:gdLst/>
            <a:ahLst/>
            <a:cxnLst/>
            <a:rect l="l" t="t" r="r" b="b"/>
            <a:pathLst>
              <a:path w="2774796" h="1967583">
                <a:moveTo>
                  <a:pt x="0" y="0"/>
                </a:moveTo>
                <a:lnTo>
                  <a:pt x="2774796" y="0"/>
                </a:lnTo>
                <a:lnTo>
                  <a:pt x="2774796" y="1967583"/>
                </a:lnTo>
                <a:lnTo>
                  <a:pt x="0" y="1967583"/>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3" name="TextBox 3"/>
          <p:cNvSpPr txBox="1"/>
          <p:nvPr/>
        </p:nvSpPr>
        <p:spPr>
          <a:xfrm>
            <a:off x="1028700" y="3278549"/>
            <a:ext cx="10530765" cy="5545267"/>
          </a:xfrm>
          <a:prstGeom prst="rect">
            <a:avLst/>
          </a:prstGeom>
        </p:spPr>
        <p:txBody>
          <a:bodyPr lIns="0" tIns="0" rIns="0" bIns="0" rtlCol="0" anchor="t">
            <a:spAutoFit/>
          </a:bodyPr>
          <a:lstStyle/>
          <a:p>
            <a:pPr algn="l">
              <a:lnSpc>
                <a:spcPts val="2933"/>
              </a:lnSpc>
            </a:pPr>
            <a:r>
              <a:rPr lang="en-US" sz="2095">
                <a:solidFill>
                  <a:srgbClr val="121417"/>
                </a:solidFill>
                <a:latin typeface="Canva Sans"/>
                <a:ea typeface="Canva Sans"/>
                <a:cs typeface="Canva Sans"/>
                <a:sym typeface="Canva Sans"/>
              </a:rPr>
              <a:t>TF-IDF achieved higher classification accuracy than BoW because it considers both term frequency within a document and term rarity across the entire corpus. Unlike BoW, which represents words using raw occurrence counts, TF-IDF reduces the influence of very common words while assigning greater importance to words that are more useful for distinguishing between classes. As a result, the generated feature vectors become more meaningful, allowing SVM to learn clearer class boundaries and improve classification performance</a:t>
            </a:r>
          </a:p>
          <a:p>
            <a:pPr algn="l">
              <a:lnSpc>
                <a:spcPts val="2933"/>
              </a:lnSpc>
            </a:pPr>
            <a:endParaRPr lang="en-US" sz="2095">
              <a:solidFill>
                <a:srgbClr val="121417"/>
              </a:solidFill>
              <a:latin typeface="Canva Sans"/>
              <a:ea typeface="Canva Sans"/>
              <a:cs typeface="Canva Sans"/>
              <a:sym typeface="Canva Sans"/>
            </a:endParaRPr>
          </a:p>
          <a:p>
            <a:pPr algn="l">
              <a:lnSpc>
                <a:spcPts val="2933"/>
              </a:lnSpc>
            </a:pPr>
            <a:r>
              <a:rPr lang="en-US" sz="2095">
                <a:solidFill>
                  <a:srgbClr val="121417"/>
                </a:solidFill>
                <a:latin typeface="Canva Sans"/>
                <a:ea typeface="Canva Sans"/>
                <a:cs typeface="Canva Sans"/>
                <a:sym typeface="Canva Sans"/>
              </a:rPr>
              <a:t>The results showed that classification accuracy decreased as the n-gram size increased . While unigram features captured the most useful vocabulary patterns, bigram and trigram representations produced much larger and sparser feature space. Many bigram and trigram features appeared only few times in the dataset which limit their statistical usefulness and reduce the model ability to generalize to unseen samples</a:t>
            </a:r>
          </a:p>
          <a:p>
            <a:pPr algn="l">
              <a:lnSpc>
                <a:spcPts val="2933"/>
              </a:lnSpc>
              <a:spcBef>
                <a:spcPct val="0"/>
              </a:spcBef>
            </a:pPr>
            <a:endParaRPr lang="en-US" sz="2095">
              <a:solidFill>
                <a:srgbClr val="121417"/>
              </a:solidFill>
              <a:latin typeface="Canva Sans"/>
              <a:ea typeface="Canva Sans"/>
              <a:cs typeface="Canva Sans"/>
              <a:sym typeface="Canva Sans"/>
            </a:endParaRPr>
          </a:p>
        </p:txBody>
      </p:sp>
      <p:sp>
        <p:nvSpPr>
          <p:cNvPr id="5" name="TextBox 5"/>
          <p:cNvSpPr txBox="1"/>
          <p:nvPr/>
        </p:nvSpPr>
        <p:spPr>
          <a:xfrm>
            <a:off x="1028700" y="1085850"/>
            <a:ext cx="13497388" cy="1695450"/>
          </a:xfrm>
          <a:prstGeom prst="rect">
            <a:avLst/>
          </a:prstGeom>
        </p:spPr>
        <p:txBody>
          <a:bodyPr lIns="0" tIns="0" rIns="0" bIns="0" rtlCol="0" anchor="t">
            <a:spAutoFit/>
          </a:bodyPr>
          <a:lstStyle/>
          <a:p>
            <a:pPr algn="l">
              <a:lnSpc>
                <a:spcPts val="6600"/>
              </a:lnSpc>
            </a:pPr>
            <a:r>
              <a:rPr lang="en-US" sz="6000">
                <a:solidFill>
                  <a:srgbClr val="121417"/>
                </a:solidFill>
                <a:latin typeface="Canva Sans"/>
                <a:ea typeface="Canva Sans"/>
                <a:cs typeface="Canva Sans"/>
                <a:sym typeface="Canva Sans"/>
              </a:rPr>
              <a:t>Impact of Traditional Feature Representation</a:t>
            </a:r>
          </a:p>
        </p:txBody>
      </p:sp>
      <p:sp>
        <p:nvSpPr>
          <p:cNvPr id="6" name="TextBox 6"/>
          <p:cNvSpPr txBox="1"/>
          <p:nvPr/>
        </p:nvSpPr>
        <p:spPr>
          <a:xfrm>
            <a:off x="1849541" y="9229725"/>
            <a:ext cx="6332101" cy="280670"/>
          </a:xfrm>
          <a:prstGeom prst="rect">
            <a:avLst/>
          </a:prstGeom>
        </p:spPr>
        <p:txBody>
          <a:bodyPr lIns="0" tIns="0" rIns="0" bIns="0" rtlCol="0" anchor="t">
            <a:spAutoFit/>
          </a:bodyPr>
          <a:lstStyle/>
          <a:p>
            <a:pPr algn="l">
              <a:lnSpc>
                <a:spcPts val="2380"/>
              </a:lnSpc>
              <a:spcBef>
                <a:spcPct val="0"/>
              </a:spcBef>
            </a:pPr>
            <a:r>
              <a:rPr lang="en-US" sz="1700" u="sng">
                <a:solidFill>
                  <a:srgbClr val="121417"/>
                </a:solidFill>
                <a:latin typeface="Canva Sans"/>
                <a:ea typeface="Canva Sans"/>
                <a:cs typeface="Canva Sans"/>
                <a:sym typeface="Canva Sans"/>
                <a:hlinkClick r:id="rId3" tooltip="https://www.academia.edu/16708992/An_efficient_stemming_for_Arabic_Text_Classification"/>
              </a:rPr>
              <a:t>An_efficient_stemming_for_Arabic_Text_Classificationph text</a:t>
            </a:r>
          </a:p>
        </p:txBody>
      </p:sp>
      <p:sp>
        <p:nvSpPr>
          <p:cNvPr id="8" name="Rectangle 1">
            <a:extLst>
              <a:ext uri="{FF2B5EF4-FFF2-40B4-BE49-F238E27FC236}">
                <a16:creationId xmlns:a16="http://schemas.microsoft.com/office/drawing/2014/main" id="{56C5F97E-0026-F93C-4D58-CE9881BCB928}"/>
              </a:ext>
            </a:extLst>
          </p:cNvPr>
          <p:cNvSpPr>
            <a:spLocks noChangeArrowheads="1"/>
          </p:cNvSpPr>
          <p:nvPr/>
        </p:nvSpPr>
        <p:spPr bwMode="auto">
          <a:xfrm flipV="1">
            <a:off x="11207236" y="2535662"/>
            <a:ext cx="13428300" cy="68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a16="http://schemas.microsoft.com/office/drawing/2014/main" id="{2FB6F3B4-0FCD-316E-D31B-6E3052A49610}"/>
              </a:ext>
            </a:extLst>
          </p:cNvPr>
          <p:cNvGraphicFramePr>
            <a:graphicFrameLocks noGrp="1"/>
          </p:cNvGraphicFramePr>
          <p:nvPr>
            <p:extLst>
              <p:ext uri="{D42A27DB-BD31-4B8C-83A1-F6EECF244321}">
                <p14:modId xmlns:p14="http://schemas.microsoft.com/office/powerpoint/2010/main" val="2730299891"/>
              </p:ext>
            </p:extLst>
          </p:nvPr>
        </p:nvGraphicFramePr>
        <p:xfrm>
          <a:off x="12268200" y="3512820"/>
          <a:ext cx="5257800" cy="4450079"/>
        </p:xfrm>
        <a:graphic>
          <a:graphicData uri="http://schemas.openxmlformats.org/drawingml/2006/table">
            <a:tbl>
              <a:tblPr/>
              <a:tblGrid>
                <a:gridCol w="2628900">
                  <a:extLst>
                    <a:ext uri="{9D8B030D-6E8A-4147-A177-3AD203B41FA5}">
                      <a16:colId xmlns:a16="http://schemas.microsoft.com/office/drawing/2014/main" val="2950938409"/>
                    </a:ext>
                  </a:extLst>
                </a:gridCol>
                <a:gridCol w="2628900">
                  <a:extLst>
                    <a:ext uri="{9D8B030D-6E8A-4147-A177-3AD203B41FA5}">
                      <a16:colId xmlns:a16="http://schemas.microsoft.com/office/drawing/2014/main" val="2681207514"/>
                    </a:ext>
                  </a:extLst>
                </a:gridCol>
              </a:tblGrid>
              <a:tr h="613804">
                <a:tc>
                  <a:txBody>
                    <a:bodyPr/>
                    <a:lstStyle/>
                    <a:p>
                      <a:pPr>
                        <a:buNone/>
                      </a:pPr>
                      <a:r>
                        <a:rPr lang="en-US">
                          <a:effectLst/>
                        </a:rPr>
                        <a:t>Representation</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SVM Accuracy</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2905775408"/>
                  </a:ext>
                </a:extLst>
              </a:tr>
              <a:tr h="613804">
                <a:tc>
                  <a:txBody>
                    <a:bodyPr/>
                    <a:lstStyle/>
                    <a:p>
                      <a:pPr>
                        <a:buNone/>
                      </a:pPr>
                      <a:r>
                        <a:rPr lang="en-US">
                          <a:effectLst/>
                        </a:rPr>
                        <a:t>TF-IDF Stemmed</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69.90%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3694279982"/>
                  </a:ext>
                </a:extLst>
              </a:tr>
              <a:tr h="1074157">
                <a:tc>
                  <a:txBody>
                    <a:bodyPr/>
                    <a:lstStyle/>
                    <a:p>
                      <a:pPr>
                        <a:buNone/>
                      </a:pPr>
                      <a:r>
                        <a:rPr lang="en-US">
                          <a:effectLst/>
                        </a:rPr>
                        <a:t>BoW Stemmed Unigram</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65.10%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3041072960"/>
                  </a:ext>
                </a:extLst>
              </a:tr>
              <a:tr h="1074157">
                <a:tc>
                  <a:txBody>
                    <a:bodyPr/>
                    <a:lstStyle/>
                    <a:p>
                      <a:pPr>
                        <a:buNone/>
                      </a:pPr>
                      <a:r>
                        <a:rPr lang="en-US">
                          <a:effectLst/>
                        </a:rPr>
                        <a:t>BoW Stemmed Bigram</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dirty="0">
                          <a:effectLst/>
                        </a:rPr>
                        <a:t>46.20%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3059652429"/>
                  </a:ext>
                </a:extLst>
              </a:tr>
              <a:tr h="1074157">
                <a:tc>
                  <a:txBody>
                    <a:bodyPr/>
                    <a:lstStyle/>
                    <a:p>
                      <a:pPr>
                        <a:buNone/>
                      </a:pPr>
                      <a:r>
                        <a:rPr lang="en-US">
                          <a:effectLst/>
                        </a:rPr>
                        <a:t>BoW Stemmed Trigram</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dirty="0">
                          <a:effectLst/>
                        </a:rPr>
                        <a:t>31.70%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218061148"/>
                  </a:ext>
                </a:extLst>
              </a:tr>
            </a:tbl>
          </a:graphicData>
        </a:graphic>
      </p:graphicFrame>
      <p:sp>
        <p:nvSpPr>
          <p:cNvPr id="10" name="Rectangle 2">
            <a:extLst>
              <a:ext uri="{FF2B5EF4-FFF2-40B4-BE49-F238E27FC236}">
                <a16:creationId xmlns:a16="http://schemas.microsoft.com/office/drawing/2014/main" id="{97868DE3-1033-40A0-0A2D-EE367B7C48D3}"/>
              </a:ext>
            </a:extLst>
          </p:cNvPr>
          <p:cNvSpPr>
            <a:spLocks noChangeArrowheads="1"/>
          </p:cNvSpPr>
          <p:nvPr/>
        </p:nvSpPr>
        <p:spPr bwMode="auto">
          <a:xfrm>
            <a:off x="14150431" y="3696263"/>
            <a:ext cx="1569703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rot="-5400000">
            <a:off x="-245502" y="7915810"/>
            <a:ext cx="2774796" cy="1967583"/>
          </a:xfrm>
          <a:custGeom>
            <a:avLst/>
            <a:gdLst/>
            <a:ahLst/>
            <a:cxnLst/>
            <a:rect l="l" t="t" r="r" b="b"/>
            <a:pathLst>
              <a:path w="2774796" h="1967583">
                <a:moveTo>
                  <a:pt x="0" y="0"/>
                </a:moveTo>
                <a:lnTo>
                  <a:pt x="2774796" y="0"/>
                </a:lnTo>
                <a:lnTo>
                  <a:pt x="2774796" y="1967583"/>
                </a:lnTo>
                <a:lnTo>
                  <a:pt x="0" y="1967583"/>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3" name="TextBox 3"/>
          <p:cNvSpPr txBox="1"/>
          <p:nvPr/>
        </p:nvSpPr>
        <p:spPr>
          <a:xfrm>
            <a:off x="1028700" y="3471521"/>
            <a:ext cx="11059579" cy="5545267"/>
          </a:xfrm>
          <a:prstGeom prst="rect">
            <a:avLst/>
          </a:prstGeom>
        </p:spPr>
        <p:txBody>
          <a:bodyPr lIns="0" tIns="0" rIns="0" bIns="0" rtlCol="0" anchor="t">
            <a:spAutoFit/>
          </a:bodyPr>
          <a:lstStyle/>
          <a:p>
            <a:pPr algn="l">
              <a:lnSpc>
                <a:spcPts val="2933"/>
              </a:lnSpc>
            </a:pPr>
            <a:r>
              <a:rPr lang="en-US" sz="2095">
                <a:solidFill>
                  <a:srgbClr val="121417"/>
                </a:solidFill>
                <a:latin typeface="Canva Sans"/>
                <a:ea typeface="Canva Sans"/>
                <a:cs typeface="Canva Sans"/>
                <a:sym typeface="Canva Sans"/>
              </a:rPr>
              <a:t>Despite using pretrained Arabic embeddings, FastText and AraVec achieved lower classification accuracy than TF-IDF. For example, TF-IDF combined with SVM achieved 69.9% accuracy while FastText achieved approximately 40.5% and AraVec models achieved around 38–39%</a:t>
            </a:r>
          </a:p>
          <a:p>
            <a:pPr algn="l">
              <a:lnSpc>
                <a:spcPts val="2933"/>
              </a:lnSpc>
            </a:pPr>
            <a:endParaRPr lang="en-US" sz="2095">
              <a:solidFill>
                <a:srgbClr val="121417"/>
              </a:solidFill>
              <a:latin typeface="Canva Sans"/>
              <a:ea typeface="Canva Sans"/>
              <a:cs typeface="Canva Sans"/>
              <a:sym typeface="Canva Sans"/>
            </a:endParaRPr>
          </a:p>
          <a:p>
            <a:pPr algn="l">
              <a:lnSpc>
                <a:spcPts val="2933"/>
              </a:lnSpc>
            </a:pPr>
            <a:r>
              <a:rPr lang="en-US" sz="2095">
                <a:solidFill>
                  <a:srgbClr val="121417"/>
                </a:solidFill>
                <a:latin typeface="Canva Sans"/>
                <a:ea typeface="Canva Sans"/>
                <a:cs typeface="Canva Sans"/>
                <a:sym typeface="Canva Sans"/>
              </a:rPr>
              <a:t>One possible explanation is that Word2Vec and FastText generate static word embeddings which mean that the word receive the same representation regardless of its context. In addition, sequence representations were generated using mean pooling which compresses the entire sentence into single averaged vector and may discard important contextual information.</a:t>
            </a:r>
          </a:p>
          <a:p>
            <a:pPr algn="l">
              <a:lnSpc>
                <a:spcPts val="2933"/>
              </a:lnSpc>
            </a:pPr>
            <a:endParaRPr lang="en-US" sz="2095">
              <a:solidFill>
                <a:srgbClr val="121417"/>
              </a:solidFill>
              <a:latin typeface="Canva Sans"/>
              <a:ea typeface="Canva Sans"/>
              <a:cs typeface="Canva Sans"/>
              <a:sym typeface="Canva Sans"/>
            </a:endParaRPr>
          </a:p>
          <a:p>
            <a:pPr algn="l">
              <a:lnSpc>
                <a:spcPts val="2933"/>
              </a:lnSpc>
            </a:pPr>
            <a:r>
              <a:rPr lang="en-US" sz="2095">
                <a:solidFill>
                  <a:srgbClr val="121417"/>
                </a:solidFill>
                <a:latin typeface="Canva Sans"/>
                <a:ea typeface="Canva Sans"/>
                <a:cs typeface="Canva Sans"/>
                <a:sym typeface="Canva Sans"/>
              </a:rPr>
              <a:t>Furthermore, TF-IDF is specifically designed to emphasize words that help distinguish between classes. Therefore, although Word2Vec and FastText capture semantic similarity, this does not necessarily translate into better classification performance.</a:t>
            </a:r>
          </a:p>
          <a:p>
            <a:pPr algn="l">
              <a:lnSpc>
                <a:spcPts val="2933"/>
              </a:lnSpc>
              <a:spcBef>
                <a:spcPct val="0"/>
              </a:spcBef>
            </a:pPr>
            <a:endParaRPr lang="en-US" sz="2095">
              <a:solidFill>
                <a:srgbClr val="121417"/>
              </a:solidFill>
              <a:latin typeface="Canva Sans"/>
              <a:ea typeface="Canva Sans"/>
              <a:cs typeface="Canva Sans"/>
              <a:sym typeface="Canva Sans"/>
            </a:endParaRPr>
          </a:p>
        </p:txBody>
      </p:sp>
      <p:sp>
        <p:nvSpPr>
          <p:cNvPr id="5" name="TextBox 5"/>
          <p:cNvSpPr txBox="1"/>
          <p:nvPr/>
        </p:nvSpPr>
        <p:spPr>
          <a:xfrm>
            <a:off x="1028700" y="1085850"/>
            <a:ext cx="13497388" cy="1695450"/>
          </a:xfrm>
          <a:prstGeom prst="rect">
            <a:avLst/>
          </a:prstGeom>
        </p:spPr>
        <p:txBody>
          <a:bodyPr lIns="0" tIns="0" rIns="0" bIns="0" rtlCol="0" anchor="t">
            <a:spAutoFit/>
          </a:bodyPr>
          <a:lstStyle/>
          <a:p>
            <a:pPr algn="l">
              <a:lnSpc>
                <a:spcPts val="6600"/>
              </a:lnSpc>
            </a:pPr>
            <a:r>
              <a:rPr lang="en-US" sz="6000">
                <a:solidFill>
                  <a:srgbClr val="121417"/>
                </a:solidFill>
                <a:latin typeface="Canva Sans"/>
                <a:ea typeface="Canva Sans"/>
                <a:cs typeface="Canva Sans"/>
                <a:sym typeface="Canva Sans"/>
              </a:rPr>
              <a:t>Impact of Traditional Feature Representation</a:t>
            </a:r>
          </a:p>
        </p:txBody>
      </p:sp>
      <p:sp>
        <p:nvSpPr>
          <p:cNvPr id="6" name="TextBox 6"/>
          <p:cNvSpPr txBox="1"/>
          <p:nvPr/>
        </p:nvSpPr>
        <p:spPr>
          <a:xfrm>
            <a:off x="1849541" y="9229725"/>
            <a:ext cx="6332101" cy="280670"/>
          </a:xfrm>
          <a:prstGeom prst="rect">
            <a:avLst/>
          </a:prstGeom>
        </p:spPr>
        <p:txBody>
          <a:bodyPr lIns="0" tIns="0" rIns="0" bIns="0" rtlCol="0" anchor="t">
            <a:spAutoFit/>
          </a:bodyPr>
          <a:lstStyle/>
          <a:p>
            <a:pPr algn="l">
              <a:lnSpc>
                <a:spcPts val="2380"/>
              </a:lnSpc>
              <a:spcBef>
                <a:spcPct val="0"/>
              </a:spcBef>
            </a:pPr>
            <a:r>
              <a:rPr lang="en-US" sz="1700" u="sng">
                <a:solidFill>
                  <a:srgbClr val="121417"/>
                </a:solidFill>
                <a:latin typeface="Canva Sans"/>
                <a:ea typeface="Canva Sans"/>
                <a:cs typeface="Canva Sans"/>
                <a:sym typeface="Canva Sans"/>
                <a:hlinkClick r:id="rId3" tooltip="https://www.academia.edu/16708992/An_efficient_stemming_for_Arabic_Text_Classification"/>
              </a:rPr>
              <a:t>An_efficient_stemming_for_Arabic_Text_Classificationph text</a:t>
            </a:r>
          </a:p>
        </p:txBody>
      </p:sp>
      <p:graphicFrame>
        <p:nvGraphicFramePr>
          <p:cNvPr id="7" name="Table 6">
            <a:extLst>
              <a:ext uri="{FF2B5EF4-FFF2-40B4-BE49-F238E27FC236}">
                <a16:creationId xmlns:a16="http://schemas.microsoft.com/office/drawing/2014/main" id="{3BBDA6C6-0B99-FF92-5EE5-844D4CF3DE60}"/>
              </a:ext>
            </a:extLst>
          </p:cNvPr>
          <p:cNvGraphicFramePr>
            <a:graphicFrameLocks noGrp="1"/>
          </p:cNvGraphicFramePr>
          <p:nvPr>
            <p:extLst>
              <p:ext uri="{D42A27DB-BD31-4B8C-83A1-F6EECF244321}">
                <p14:modId xmlns:p14="http://schemas.microsoft.com/office/powerpoint/2010/main" val="1338622583"/>
              </p:ext>
            </p:extLst>
          </p:nvPr>
        </p:nvGraphicFramePr>
        <p:xfrm>
          <a:off x="12344400" y="4229100"/>
          <a:ext cx="5513922" cy="3559269"/>
        </p:xfrm>
        <a:graphic>
          <a:graphicData uri="http://schemas.openxmlformats.org/drawingml/2006/table">
            <a:tbl>
              <a:tblPr/>
              <a:tblGrid>
                <a:gridCol w="2756961">
                  <a:extLst>
                    <a:ext uri="{9D8B030D-6E8A-4147-A177-3AD203B41FA5}">
                      <a16:colId xmlns:a16="http://schemas.microsoft.com/office/drawing/2014/main" val="861652334"/>
                    </a:ext>
                  </a:extLst>
                </a:gridCol>
                <a:gridCol w="2756961">
                  <a:extLst>
                    <a:ext uri="{9D8B030D-6E8A-4147-A177-3AD203B41FA5}">
                      <a16:colId xmlns:a16="http://schemas.microsoft.com/office/drawing/2014/main" val="598934739"/>
                    </a:ext>
                  </a:extLst>
                </a:gridCol>
              </a:tblGrid>
              <a:tr h="796161">
                <a:tc>
                  <a:txBody>
                    <a:bodyPr/>
                    <a:lstStyle/>
                    <a:p>
                      <a:pPr>
                        <a:buNone/>
                      </a:pPr>
                      <a:r>
                        <a:rPr lang="en-US">
                          <a:effectLst/>
                        </a:rPr>
                        <a:t>Representation</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LR Accuracy</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3807696709"/>
                  </a:ext>
                </a:extLst>
              </a:tr>
              <a:tr h="796161">
                <a:tc>
                  <a:txBody>
                    <a:bodyPr/>
                    <a:lstStyle/>
                    <a:p>
                      <a:pPr>
                        <a:buNone/>
                      </a:pPr>
                      <a:r>
                        <a:rPr lang="en-US">
                          <a:effectLst/>
                        </a:rPr>
                        <a:t>TF-IDF Stemmed</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68.40%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214287947"/>
                  </a:ext>
                </a:extLst>
              </a:tr>
              <a:tr h="585393">
                <a:tc>
                  <a:txBody>
                    <a:bodyPr/>
                    <a:lstStyle/>
                    <a:p>
                      <a:pPr>
                        <a:buNone/>
                      </a:pPr>
                      <a:r>
                        <a:rPr lang="en-US">
                          <a:effectLst/>
                        </a:rPr>
                        <a:t>FastText</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40.50%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121998596"/>
                  </a:ext>
                </a:extLst>
              </a:tr>
              <a:tr h="796161">
                <a:tc>
                  <a:txBody>
                    <a:bodyPr/>
                    <a:lstStyle/>
                    <a:p>
                      <a:pPr>
                        <a:buNone/>
                      </a:pPr>
                      <a:r>
                        <a:rPr lang="en-US">
                          <a:effectLst/>
                        </a:rPr>
                        <a:t>AraVec SkipGram</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39.20%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2784586894"/>
                  </a:ext>
                </a:extLst>
              </a:tr>
              <a:tr h="585393">
                <a:tc>
                  <a:txBody>
                    <a:bodyPr/>
                    <a:lstStyle/>
                    <a:p>
                      <a:pPr>
                        <a:buNone/>
                      </a:pPr>
                      <a:r>
                        <a:rPr lang="en-US">
                          <a:effectLst/>
                        </a:rPr>
                        <a:t>AraVec CBOW</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dirty="0">
                          <a:effectLst/>
                        </a:rPr>
                        <a:t>38.00%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643060787"/>
                  </a:ext>
                </a:extLst>
              </a:tr>
            </a:tbl>
          </a:graphicData>
        </a:graphic>
      </p:graphicFrame>
      <p:sp>
        <p:nvSpPr>
          <p:cNvPr id="8" name="Rectangle 1">
            <a:extLst>
              <a:ext uri="{FF2B5EF4-FFF2-40B4-BE49-F238E27FC236}">
                <a16:creationId xmlns:a16="http://schemas.microsoft.com/office/drawing/2014/main" id="{79D94DA8-4876-DADA-DB98-B94E4F4DC9F4}"/>
              </a:ext>
            </a:extLst>
          </p:cNvPr>
          <p:cNvSpPr>
            <a:spLocks noChangeArrowheads="1"/>
          </p:cNvSpPr>
          <p:nvPr/>
        </p:nvSpPr>
        <p:spPr bwMode="auto">
          <a:xfrm>
            <a:off x="15663564" y="4228674"/>
            <a:ext cx="12253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rot="-5400000">
            <a:off x="-245502" y="7915810"/>
            <a:ext cx="2774796" cy="1967583"/>
          </a:xfrm>
          <a:custGeom>
            <a:avLst/>
            <a:gdLst/>
            <a:ahLst/>
            <a:cxnLst/>
            <a:rect l="l" t="t" r="r" b="b"/>
            <a:pathLst>
              <a:path w="2774796" h="1967583">
                <a:moveTo>
                  <a:pt x="0" y="0"/>
                </a:moveTo>
                <a:lnTo>
                  <a:pt x="2774796" y="0"/>
                </a:lnTo>
                <a:lnTo>
                  <a:pt x="2774796" y="1967583"/>
                </a:lnTo>
                <a:lnTo>
                  <a:pt x="0" y="1967583"/>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3" name="TextBox 3"/>
          <p:cNvSpPr txBox="1"/>
          <p:nvPr/>
        </p:nvSpPr>
        <p:spPr>
          <a:xfrm>
            <a:off x="1262487" y="2371292"/>
            <a:ext cx="11059579" cy="7028039"/>
          </a:xfrm>
          <a:prstGeom prst="rect">
            <a:avLst/>
          </a:prstGeom>
        </p:spPr>
        <p:txBody>
          <a:bodyPr lIns="0" tIns="0" rIns="0" bIns="0" rtlCol="0" anchor="t">
            <a:spAutoFit/>
          </a:bodyPr>
          <a:lstStyle/>
          <a:p>
            <a:pPr algn="l">
              <a:lnSpc>
                <a:spcPts val="2933"/>
              </a:lnSpc>
            </a:pPr>
            <a:r>
              <a:rPr lang="en-US" sz="2095" dirty="0">
                <a:solidFill>
                  <a:srgbClr val="121417"/>
                </a:solidFill>
                <a:latin typeface="Canva Sans"/>
                <a:ea typeface="Canva Sans"/>
                <a:cs typeface="Canva Sans"/>
                <a:sym typeface="Canva Sans"/>
              </a:rPr>
              <a:t>All contextual embedding models achieved higher classification accuracy than traditional and static word representations which demonstrate their ability to capture semantic and contextual information more effectively.</a:t>
            </a:r>
          </a:p>
          <a:p>
            <a:pPr algn="l">
              <a:lnSpc>
                <a:spcPts val="2933"/>
              </a:lnSpc>
            </a:pPr>
            <a:endParaRPr lang="en-US" sz="2095" dirty="0">
              <a:solidFill>
                <a:srgbClr val="121417"/>
              </a:solidFill>
              <a:latin typeface="Canva Sans"/>
              <a:ea typeface="Canva Sans"/>
              <a:cs typeface="Canva Sans"/>
              <a:sym typeface="Canva Sans"/>
            </a:endParaRPr>
          </a:p>
          <a:p>
            <a:pPr algn="l">
              <a:lnSpc>
                <a:spcPts val="2933"/>
              </a:lnSpc>
            </a:pPr>
            <a:r>
              <a:rPr lang="en-US" sz="2095" dirty="0">
                <a:solidFill>
                  <a:srgbClr val="121417"/>
                </a:solidFill>
                <a:latin typeface="Canva Sans"/>
                <a:ea typeface="Canva Sans"/>
                <a:cs typeface="Canva Sans"/>
                <a:sym typeface="Canva Sans"/>
              </a:rPr>
              <a:t>Qwen achieved the highest performance (78.4%) followed by BERT (75.6%), BGE (75.2%) and E5 (71.3%). Although all four models are transformer based embeddings, differences in their pretraining objectives, training data and representation strategies resulted in varying classification performance.</a:t>
            </a:r>
          </a:p>
          <a:p>
            <a:pPr algn="l">
              <a:lnSpc>
                <a:spcPts val="2933"/>
              </a:lnSpc>
            </a:pPr>
            <a:r>
              <a:rPr lang="en-US" sz="2095" dirty="0">
                <a:solidFill>
                  <a:srgbClr val="121417"/>
                </a:solidFill>
                <a:latin typeface="Canva Sans"/>
                <a:ea typeface="Canva Sans"/>
                <a:cs typeface="Canva Sans"/>
                <a:sym typeface="Canva Sans"/>
              </a:rPr>
              <a:t>The relatively small performance gap between BERT, BGE and Qwen suggests that contextual understanding plays significant role in Arabic text classification. However, Qwen generated the most effective representations for this dataset which allow SVM to learn more accurate decision boundaries.</a:t>
            </a:r>
          </a:p>
          <a:p>
            <a:pPr algn="l">
              <a:lnSpc>
                <a:spcPts val="2933"/>
              </a:lnSpc>
            </a:pPr>
            <a:endParaRPr lang="en-US" sz="2095" dirty="0">
              <a:solidFill>
                <a:srgbClr val="121417"/>
              </a:solidFill>
              <a:latin typeface="Canva Sans"/>
              <a:ea typeface="Canva Sans"/>
              <a:cs typeface="Canva Sans"/>
              <a:sym typeface="Canva Sans"/>
            </a:endParaRPr>
          </a:p>
          <a:p>
            <a:pPr algn="l">
              <a:lnSpc>
                <a:spcPts val="2933"/>
              </a:lnSpc>
            </a:pPr>
            <a:r>
              <a:rPr lang="en-US" sz="2095" dirty="0">
                <a:solidFill>
                  <a:srgbClr val="121417"/>
                </a:solidFill>
                <a:latin typeface="Canva Sans"/>
                <a:ea typeface="Canva Sans"/>
                <a:cs typeface="Canva Sans"/>
                <a:sym typeface="Canva Sans"/>
              </a:rPr>
              <a:t>These results indicate that contextual embeddings are more suitable for Arabic classification tasks than static representations because the meaning of word is interpreted according to its surrounding context rather than being assigned fixed vector.</a:t>
            </a:r>
          </a:p>
          <a:p>
            <a:pPr algn="l">
              <a:lnSpc>
                <a:spcPts val="2933"/>
              </a:lnSpc>
            </a:pPr>
            <a:endParaRPr lang="en-US" sz="2095" dirty="0">
              <a:solidFill>
                <a:srgbClr val="121417"/>
              </a:solidFill>
              <a:latin typeface="Canva Sans"/>
              <a:ea typeface="Canva Sans"/>
              <a:cs typeface="Canva Sans"/>
              <a:sym typeface="Canva Sans"/>
            </a:endParaRPr>
          </a:p>
          <a:p>
            <a:pPr algn="l">
              <a:lnSpc>
                <a:spcPts val="2933"/>
              </a:lnSpc>
              <a:spcBef>
                <a:spcPct val="0"/>
              </a:spcBef>
            </a:pPr>
            <a:endParaRPr lang="en-US" sz="2095" dirty="0">
              <a:solidFill>
                <a:srgbClr val="121417"/>
              </a:solidFill>
              <a:latin typeface="Canva Sans"/>
              <a:ea typeface="Canva Sans"/>
              <a:cs typeface="Canva Sans"/>
              <a:sym typeface="Canva Sans"/>
            </a:endParaRPr>
          </a:p>
        </p:txBody>
      </p:sp>
      <p:sp>
        <p:nvSpPr>
          <p:cNvPr id="5" name="TextBox 5"/>
          <p:cNvSpPr txBox="1"/>
          <p:nvPr/>
        </p:nvSpPr>
        <p:spPr>
          <a:xfrm>
            <a:off x="1028700" y="1085850"/>
            <a:ext cx="13987143" cy="857250"/>
          </a:xfrm>
          <a:prstGeom prst="rect">
            <a:avLst/>
          </a:prstGeom>
        </p:spPr>
        <p:txBody>
          <a:bodyPr lIns="0" tIns="0" rIns="0" bIns="0" rtlCol="0" anchor="t">
            <a:spAutoFit/>
          </a:bodyPr>
          <a:lstStyle/>
          <a:p>
            <a:pPr algn="l">
              <a:lnSpc>
                <a:spcPts val="6600"/>
              </a:lnSpc>
            </a:pPr>
            <a:r>
              <a:rPr lang="en-US" sz="6000">
                <a:solidFill>
                  <a:srgbClr val="121417"/>
                </a:solidFill>
                <a:latin typeface="Canva Sans"/>
                <a:ea typeface="Canva Sans"/>
                <a:cs typeface="Canva Sans"/>
                <a:sym typeface="Canva Sans"/>
              </a:rPr>
              <a:t>Contextual Embeddings Comparison</a:t>
            </a:r>
          </a:p>
        </p:txBody>
      </p:sp>
      <p:graphicFrame>
        <p:nvGraphicFramePr>
          <p:cNvPr id="6" name="Table 5">
            <a:extLst>
              <a:ext uri="{FF2B5EF4-FFF2-40B4-BE49-F238E27FC236}">
                <a16:creationId xmlns:a16="http://schemas.microsoft.com/office/drawing/2014/main" id="{0FB31CCD-C68B-012E-F0F0-D3C6A9B7DA6A}"/>
              </a:ext>
            </a:extLst>
          </p:cNvPr>
          <p:cNvGraphicFramePr>
            <a:graphicFrameLocks noGrp="1"/>
          </p:cNvGraphicFramePr>
          <p:nvPr>
            <p:extLst>
              <p:ext uri="{D42A27DB-BD31-4B8C-83A1-F6EECF244321}">
                <p14:modId xmlns:p14="http://schemas.microsoft.com/office/powerpoint/2010/main" val="3245226373"/>
              </p:ext>
            </p:extLst>
          </p:nvPr>
        </p:nvGraphicFramePr>
        <p:xfrm>
          <a:off x="12527639" y="4439768"/>
          <a:ext cx="5508734" cy="3075366"/>
        </p:xfrm>
        <a:graphic>
          <a:graphicData uri="http://schemas.openxmlformats.org/drawingml/2006/table">
            <a:tbl>
              <a:tblPr/>
              <a:tblGrid>
                <a:gridCol w="2754367">
                  <a:extLst>
                    <a:ext uri="{9D8B030D-6E8A-4147-A177-3AD203B41FA5}">
                      <a16:colId xmlns:a16="http://schemas.microsoft.com/office/drawing/2014/main" val="284667290"/>
                    </a:ext>
                  </a:extLst>
                </a:gridCol>
                <a:gridCol w="2754367">
                  <a:extLst>
                    <a:ext uri="{9D8B030D-6E8A-4147-A177-3AD203B41FA5}">
                      <a16:colId xmlns:a16="http://schemas.microsoft.com/office/drawing/2014/main" val="3675416584"/>
                    </a:ext>
                  </a:extLst>
                </a:gridCol>
              </a:tblGrid>
              <a:tr h="757274">
                <a:tc>
                  <a:txBody>
                    <a:bodyPr/>
                    <a:lstStyle/>
                    <a:p>
                      <a:pPr>
                        <a:buNone/>
                      </a:pPr>
                      <a:r>
                        <a:rPr lang="en-US">
                          <a:effectLst/>
                        </a:rPr>
                        <a:t>Embedding</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SVM Accuracy</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106017153"/>
                  </a:ext>
                </a:extLst>
              </a:tr>
              <a:tr h="579523">
                <a:tc>
                  <a:txBody>
                    <a:bodyPr/>
                    <a:lstStyle/>
                    <a:p>
                      <a:pPr>
                        <a:buNone/>
                      </a:pPr>
                      <a:r>
                        <a:rPr lang="en-US">
                          <a:effectLst/>
                        </a:rPr>
                        <a:t>BERT</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75.60%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2624682107"/>
                  </a:ext>
                </a:extLst>
              </a:tr>
              <a:tr h="579523">
                <a:tc>
                  <a:txBody>
                    <a:bodyPr/>
                    <a:lstStyle/>
                    <a:p>
                      <a:pPr>
                        <a:buNone/>
                      </a:pPr>
                      <a:r>
                        <a:rPr lang="en-US">
                          <a:effectLst/>
                        </a:rPr>
                        <a:t>BGE</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75.20%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3947033084"/>
                  </a:ext>
                </a:extLst>
              </a:tr>
              <a:tr h="579523">
                <a:tc>
                  <a:txBody>
                    <a:bodyPr/>
                    <a:lstStyle/>
                    <a:p>
                      <a:pPr>
                        <a:buNone/>
                      </a:pPr>
                      <a:r>
                        <a:rPr lang="en-US">
                          <a:effectLst/>
                        </a:rPr>
                        <a:t>E5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71.30%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2967403058"/>
                  </a:ext>
                </a:extLst>
              </a:tr>
              <a:tr h="579523">
                <a:tc>
                  <a:txBody>
                    <a:bodyPr/>
                    <a:lstStyle/>
                    <a:p>
                      <a:pPr>
                        <a:buNone/>
                      </a:pPr>
                      <a:r>
                        <a:rPr lang="en-US">
                          <a:effectLst/>
                        </a:rPr>
                        <a:t>Qwen</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b="1" dirty="0">
                          <a:effectLst/>
                        </a:rPr>
                        <a:t>78.40%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3428225181"/>
                  </a:ext>
                </a:extLst>
              </a:tr>
            </a:tbl>
          </a:graphicData>
        </a:graphic>
      </p:graphicFrame>
      <p:sp>
        <p:nvSpPr>
          <p:cNvPr id="7" name="Rectangle 1">
            <a:extLst>
              <a:ext uri="{FF2B5EF4-FFF2-40B4-BE49-F238E27FC236}">
                <a16:creationId xmlns:a16="http://schemas.microsoft.com/office/drawing/2014/main" id="{126C771A-CFA0-CE9F-39FD-CDF4C8E000D7}"/>
              </a:ext>
            </a:extLst>
          </p:cNvPr>
          <p:cNvSpPr>
            <a:spLocks noChangeArrowheads="1"/>
          </p:cNvSpPr>
          <p:nvPr/>
        </p:nvSpPr>
        <p:spPr bwMode="auto">
          <a:xfrm>
            <a:off x="15282006" y="3820999"/>
            <a:ext cx="1224163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1028700" y="628650"/>
            <a:ext cx="12950141" cy="857250"/>
          </a:xfrm>
          <a:prstGeom prst="rect">
            <a:avLst/>
          </a:prstGeom>
        </p:spPr>
        <p:txBody>
          <a:bodyPr lIns="0" tIns="0" rIns="0" bIns="0" rtlCol="0" anchor="t">
            <a:spAutoFit/>
          </a:bodyPr>
          <a:lstStyle/>
          <a:p>
            <a:pPr algn="l">
              <a:lnSpc>
                <a:spcPts val="6600"/>
              </a:lnSpc>
            </a:pPr>
            <a:r>
              <a:rPr lang="en-US" sz="6000">
                <a:solidFill>
                  <a:srgbClr val="121417"/>
                </a:solidFill>
                <a:latin typeface="Canva Sans"/>
                <a:ea typeface="Canva Sans"/>
                <a:cs typeface="Canva Sans"/>
                <a:sym typeface="Canva Sans"/>
              </a:rPr>
              <a:t>Static vs Contextual Embeddings</a:t>
            </a:r>
          </a:p>
        </p:txBody>
      </p:sp>
      <p:sp>
        <p:nvSpPr>
          <p:cNvPr id="3" name="Freeform 3"/>
          <p:cNvSpPr/>
          <p:nvPr/>
        </p:nvSpPr>
        <p:spPr>
          <a:xfrm rot="-10800000">
            <a:off x="14416254" y="645157"/>
            <a:ext cx="3359994" cy="3359994"/>
          </a:xfrm>
          <a:custGeom>
            <a:avLst/>
            <a:gdLst/>
            <a:ahLst/>
            <a:cxnLst/>
            <a:rect l="l" t="t" r="r" b="b"/>
            <a:pathLst>
              <a:path w="3359994" h="3359994">
                <a:moveTo>
                  <a:pt x="0" y="0"/>
                </a:moveTo>
                <a:lnTo>
                  <a:pt x="3359994" y="0"/>
                </a:lnTo>
                <a:lnTo>
                  <a:pt x="3359994" y="3359994"/>
                </a:lnTo>
                <a:lnTo>
                  <a:pt x="0" y="3359994"/>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4" name="TextBox 4"/>
          <p:cNvSpPr txBox="1"/>
          <p:nvPr/>
        </p:nvSpPr>
        <p:spPr>
          <a:xfrm>
            <a:off x="1281976" y="2047366"/>
            <a:ext cx="15189818" cy="2111375"/>
          </a:xfrm>
          <a:prstGeom prst="rect">
            <a:avLst/>
          </a:prstGeom>
        </p:spPr>
        <p:txBody>
          <a:bodyPr lIns="0" tIns="0" rIns="0" bIns="0" rtlCol="0" anchor="t">
            <a:spAutoFit/>
          </a:bodyPr>
          <a:lstStyle/>
          <a:p>
            <a:pPr algn="l">
              <a:lnSpc>
                <a:spcPts val="2800"/>
              </a:lnSpc>
            </a:pPr>
            <a:r>
              <a:rPr lang="en-US" sz="2000">
                <a:solidFill>
                  <a:srgbClr val="121417"/>
                </a:solidFill>
                <a:latin typeface="Canva Sans"/>
                <a:ea typeface="Canva Sans"/>
                <a:cs typeface="Canva Sans"/>
                <a:sym typeface="Canva Sans"/>
              </a:rPr>
              <a:t>Transformer based embeddings achieved higher performance than TF-IDF, FastText, and Word2Vec representations because they generate contextual embeddings rather than static word representations.</a:t>
            </a:r>
          </a:p>
          <a:p>
            <a:pPr algn="l">
              <a:lnSpc>
                <a:spcPts val="2800"/>
              </a:lnSpc>
            </a:pPr>
            <a:endParaRPr lang="en-US" sz="2000">
              <a:solidFill>
                <a:srgbClr val="121417"/>
              </a:solidFill>
              <a:latin typeface="Canva Sans"/>
              <a:ea typeface="Canva Sans"/>
              <a:cs typeface="Canva Sans"/>
              <a:sym typeface="Canva Sans"/>
            </a:endParaRPr>
          </a:p>
          <a:p>
            <a:pPr algn="l">
              <a:lnSpc>
                <a:spcPts val="2800"/>
              </a:lnSpc>
            </a:pPr>
            <a:r>
              <a:rPr lang="en-US" sz="2000">
                <a:solidFill>
                  <a:srgbClr val="121417"/>
                </a:solidFill>
                <a:latin typeface="Canva Sans"/>
                <a:ea typeface="Canva Sans"/>
                <a:cs typeface="Canva Sans"/>
                <a:sym typeface="Canva Sans"/>
              </a:rPr>
              <a:t>In contextual embeddings, the representation of word changes according to the surrounding sentence. Therefore, the same word can have different vector representations depending on its meaning within the context.</a:t>
            </a:r>
          </a:p>
          <a:p>
            <a:pPr algn="l">
              <a:lnSpc>
                <a:spcPts val="2800"/>
              </a:lnSpc>
            </a:pPr>
            <a:endParaRPr lang="en-US" sz="2000">
              <a:solidFill>
                <a:srgbClr val="121417"/>
              </a:solidFill>
              <a:latin typeface="Canva Sans"/>
              <a:ea typeface="Canva Sans"/>
              <a:cs typeface="Canva Sans"/>
              <a:sym typeface="Canva Sans"/>
            </a:endParaRPr>
          </a:p>
        </p:txBody>
      </p:sp>
      <p:sp>
        <p:nvSpPr>
          <p:cNvPr id="5" name="TextBox 5"/>
          <p:cNvSpPr txBox="1"/>
          <p:nvPr/>
        </p:nvSpPr>
        <p:spPr>
          <a:xfrm>
            <a:off x="1281976" y="4262326"/>
            <a:ext cx="15024912" cy="1054100"/>
          </a:xfrm>
          <a:prstGeom prst="rect">
            <a:avLst/>
          </a:prstGeom>
        </p:spPr>
        <p:txBody>
          <a:bodyPr lIns="0" tIns="0" rIns="0" bIns="0" rtlCol="0" anchor="t">
            <a:spAutoFit/>
          </a:bodyPr>
          <a:lstStyle/>
          <a:p>
            <a:pPr algn="l">
              <a:lnSpc>
                <a:spcPts val="2800"/>
              </a:lnSpc>
            </a:pPr>
            <a:r>
              <a:rPr lang="en-US" sz="2000">
                <a:solidFill>
                  <a:srgbClr val="121417"/>
                </a:solidFill>
                <a:latin typeface="Canva Sans"/>
                <a:ea typeface="Canva Sans"/>
                <a:cs typeface="Canva Sans"/>
                <a:sym typeface="Canva Sans"/>
              </a:rPr>
              <a:t>Qwen achieved the highest classification accuracy (78.4%) outperforming BERT, E5, and BGE. This suggests that Qwen generated richer semantic representations for the dataset and was better able to capture contextual relationships between words and classes.</a:t>
            </a:r>
          </a:p>
        </p:txBody>
      </p:sp>
      <p:sp>
        <p:nvSpPr>
          <p:cNvPr id="6" name="TextBox 6"/>
          <p:cNvSpPr txBox="1"/>
          <p:nvPr/>
        </p:nvSpPr>
        <p:spPr>
          <a:xfrm>
            <a:off x="1281976" y="5572541"/>
            <a:ext cx="15269012" cy="1406525"/>
          </a:xfrm>
          <a:prstGeom prst="rect">
            <a:avLst/>
          </a:prstGeom>
        </p:spPr>
        <p:txBody>
          <a:bodyPr lIns="0" tIns="0" rIns="0" bIns="0" rtlCol="0" anchor="t">
            <a:spAutoFit/>
          </a:bodyPr>
          <a:lstStyle/>
          <a:p>
            <a:pPr algn="l">
              <a:lnSpc>
                <a:spcPts val="2800"/>
              </a:lnSpc>
            </a:pPr>
            <a:r>
              <a:rPr lang="en-US" sz="2000">
                <a:solidFill>
                  <a:srgbClr val="121417"/>
                </a:solidFill>
                <a:latin typeface="Canva Sans"/>
                <a:ea typeface="Canva Sans"/>
                <a:cs typeface="Canva Sans"/>
                <a:sym typeface="Canva Sans"/>
              </a:rPr>
              <a:t>One possible explanation for Qwen's superior performance is its strong semantic representation capability, which enables it to capture contextual relationships between words more effectively. Qwen generates context-aware representations that preserve sentence meaning and reduce ambiguity. This richer feature space likely provided SVM with more separable class representations leading to improved classification accuracy.</a:t>
            </a:r>
          </a:p>
        </p:txBody>
      </p:sp>
      <p:sp>
        <p:nvSpPr>
          <p:cNvPr id="7" name="TextBox 7"/>
          <p:cNvSpPr txBox="1"/>
          <p:nvPr/>
        </p:nvSpPr>
        <p:spPr>
          <a:xfrm>
            <a:off x="1281976" y="7541041"/>
            <a:ext cx="7862024" cy="1758950"/>
          </a:xfrm>
          <a:prstGeom prst="rect">
            <a:avLst/>
          </a:prstGeom>
        </p:spPr>
        <p:txBody>
          <a:bodyPr lIns="0" tIns="0" rIns="0" bIns="0" rtlCol="0" anchor="t">
            <a:spAutoFit/>
          </a:bodyPr>
          <a:lstStyle/>
          <a:p>
            <a:pPr algn="l">
              <a:lnSpc>
                <a:spcPts val="2800"/>
              </a:lnSpc>
            </a:pPr>
            <a:r>
              <a:rPr lang="en-US" sz="2000">
                <a:solidFill>
                  <a:srgbClr val="121417"/>
                </a:solidFill>
                <a:latin typeface="Canva Sans"/>
                <a:ea typeface="Canva Sans"/>
                <a:cs typeface="Canva Sans"/>
                <a:sym typeface="Canva Sans"/>
              </a:rPr>
              <a:t>Why Qwen?</a:t>
            </a:r>
          </a:p>
          <a:p>
            <a:pPr algn="l">
              <a:lnSpc>
                <a:spcPts val="2800"/>
              </a:lnSpc>
            </a:pPr>
            <a:endParaRPr lang="en-US" sz="2000">
              <a:solidFill>
                <a:srgbClr val="121417"/>
              </a:solidFill>
              <a:latin typeface="Canva Sans"/>
              <a:ea typeface="Canva Sans"/>
              <a:cs typeface="Canva Sans"/>
              <a:sym typeface="Canva Sans"/>
            </a:endParaRPr>
          </a:p>
          <a:p>
            <a:pPr marL="431802" lvl="1" indent="-215901" algn="l">
              <a:lnSpc>
                <a:spcPts val="2800"/>
              </a:lnSpc>
              <a:buFont typeface="Arial"/>
              <a:buChar char="•"/>
            </a:pPr>
            <a:r>
              <a:rPr lang="en-US" sz="2000">
                <a:solidFill>
                  <a:srgbClr val="121417"/>
                </a:solidFill>
                <a:latin typeface="Canva Sans"/>
                <a:ea typeface="Canva Sans"/>
                <a:cs typeface="Canva Sans"/>
                <a:sym typeface="Canva Sans"/>
              </a:rPr>
              <a:t>Trained on large multilingual corpora</a:t>
            </a:r>
          </a:p>
          <a:p>
            <a:pPr marL="431802" lvl="1" indent="-215901" algn="l">
              <a:lnSpc>
                <a:spcPts val="2800"/>
              </a:lnSpc>
              <a:buFont typeface="Arial"/>
              <a:buChar char="•"/>
            </a:pPr>
            <a:r>
              <a:rPr lang="en-US" sz="2000">
                <a:solidFill>
                  <a:srgbClr val="121417"/>
                </a:solidFill>
                <a:latin typeface="Canva Sans"/>
                <a:ea typeface="Canva Sans"/>
                <a:cs typeface="Canva Sans"/>
                <a:sym typeface="Canva Sans"/>
              </a:rPr>
              <a:t>Optimized for language understanding and generation</a:t>
            </a:r>
          </a:p>
          <a:p>
            <a:pPr algn="l">
              <a:lnSpc>
                <a:spcPts val="2800"/>
              </a:lnSpc>
            </a:pPr>
            <a:endParaRPr lang="en-US" sz="2000">
              <a:solidFill>
                <a:srgbClr val="121417"/>
              </a:solidFill>
              <a:latin typeface="Canva Sans"/>
              <a:ea typeface="Canva Sans"/>
              <a:cs typeface="Canva Sans"/>
              <a:sym typeface="Canva Sans"/>
            </a:endParaRPr>
          </a:p>
        </p:txBody>
      </p:sp>
      <p:sp>
        <p:nvSpPr>
          <p:cNvPr id="8" name="TextBox 8"/>
          <p:cNvSpPr txBox="1"/>
          <p:nvPr/>
        </p:nvSpPr>
        <p:spPr>
          <a:xfrm>
            <a:off x="9144000" y="7893466"/>
            <a:ext cx="7862024" cy="1406525"/>
          </a:xfrm>
          <a:prstGeom prst="rect">
            <a:avLst/>
          </a:prstGeom>
        </p:spPr>
        <p:txBody>
          <a:bodyPr lIns="0" tIns="0" rIns="0" bIns="0" rtlCol="0" anchor="t">
            <a:spAutoFit/>
          </a:bodyPr>
          <a:lstStyle/>
          <a:p>
            <a:pPr algn="l">
              <a:lnSpc>
                <a:spcPts val="2800"/>
              </a:lnSpc>
            </a:pPr>
            <a:endParaRPr/>
          </a:p>
          <a:p>
            <a:pPr marL="431802" lvl="1" indent="-215901" algn="l">
              <a:lnSpc>
                <a:spcPts val="2800"/>
              </a:lnSpc>
              <a:buFont typeface="Arial"/>
              <a:buChar char="•"/>
            </a:pPr>
            <a:r>
              <a:rPr lang="en-US" sz="2000">
                <a:solidFill>
                  <a:srgbClr val="121417"/>
                </a:solidFill>
                <a:latin typeface="Canva Sans"/>
                <a:ea typeface="Canva Sans"/>
                <a:cs typeface="Canva Sans"/>
                <a:sym typeface="Canva Sans"/>
              </a:rPr>
              <a:t>Captures richer semantic and contextual information.</a:t>
            </a:r>
          </a:p>
          <a:p>
            <a:pPr marL="431802" lvl="1" indent="-215901" algn="l">
              <a:lnSpc>
                <a:spcPts val="2800"/>
              </a:lnSpc>
              <a:buFont typeface="Arial"/>
              <a:buChar char="•"/>
            </a:pPr>
            <a:r>
              <a:rPr lang="en-US" sz="2000">
                <a:solidFill>
                  <a:srgbClr val="121417"/>
                </a:solidFill>
                <a:latin typeface="Canva Sans"/>
                <a:ea typeface="Canva Sans"/>
                <a:cs typeface="Canva Sans"/>
                <a:sym typeface="Canva Sans"/>
              </a:rPr>
              <a:t>Produced more separable class representations for SVM.</a:t>
            </a:r>
          </a:p>
          <a:p>
            <a:pPr algn="l">
              <a:lnSpc>
                <a:spcPts val="2800"/>
              </a:lnSpc>
            </a:pPr>
            <a:endParaRPr lang="en-US" sz="2000">
              <a:solidFill>
                <a:srgbClr val="121417"/>
              </a:solidFill>
              <a:latin typeface="Canva Sans"/>
              <a:ea typeface="Canva Sans"/>
              <a:cs typeface="Canva Sans"/>
              <a:sym typeface="Canv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flipH="1" flipV="1">
            <a:off x="602091" y="7793330"/>
            <a:ext cx="3451157" cy="2284039"/>
          </a:xfrm>
          <a:custGeom>
            <a:avLst/>
            <a:gdLst/>
            <a:ahLst/>
            <a:cxnLst/>
            <a:rect l="l" t="t" r="r" b="b"/>
            <a:pathLst>
              <a:path w="3451157" h="2284039">
                <a:moveTo>
                  <a:pt x="3451157" y="2284039"/>
                </a:moveTo>
                <a:lnTo>
                  <a:pt x="0" y="2284039"/>
                </a:lnTo>
                <a:lnTo>
                  <a:pt x="0" y="0"/>
                </a:lnTo>
                <a:lnTo>
                  <a:pt x="3451157" y="0"/>
                </a:lnTo>
                <a:lnTo>
                  <a:pt x="3451157" y="2284039"/>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3" name="Freeform 3"/>
          <p:cNvSpPr/>
          <p:nvPr/>
        </p:nvSpPr>
        <p:spPr>
          <a:xfrm>
            <a:off x="6200552" y="677669"/>
            <a:ext cx="663025" cy="729327"/>
          </a:xfrm>
          <a:custGeom>
            <a:avLst/>
            <a:gdLst/>
            <a:ahLst/>
            <a:cxnLst/>
            <a:rect l="l" t="t" r="r" b="b"/>
            <a:pathLst>
              <a:path w="663025" h="729327">
                <a:moveTo>
                  <a:pt x="0" y="0"/>
                </a:moveTo>
                <a:lnTo>
                  <a:pt x="663025" y="0"/>
                </a:lnTo>
                <a:lnTo>
                  <a:pt x="663025" y="729327"/>
                </a:lnTo>
                <a:lnTo>
                  <a:pt x="0" y="72932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6228364" y="5440446"/>
            <a:ext cx="663025" cy="729327"/>
          </a:xfrm>
          <a:custGeom>
            <a:avLst/>
            <a:gdLst/>
            <a:ahLst/>
            <a:cxnLst/>
            <a:rect l="l" t="t" r="r" b="b"/>
            <a:pathLst>
              <a:path w="663025" h="729327">
                <a:moveTo>
                  <a:pt x="0" y="0"/>
                </a:moveTo>
                <a:lnTo>
                  <a:pt x="663025" y="0"/>
                </a:lnTo>
                <a:lnTo>
                  <a:pt x="663025" y="729328"/>
                </a:lnTo>
                <a:lnTo>
                  <a:pt x="0" y="72932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948745" y="1099482"/>
            <a:ext cx="4565754" cy="1695450"/>
          </a:xfrm>
          <a:prstGeom prst="rect">
            <a:avLst/>
          </a:prstGeom>
        </p:spPr>
        <p:txBody>
          <a:bodyPr lIns="0" tIns="0" rIns="0" bIns="0" rtlCol="0" anchor="t">
            <a:spAutoFit/>
          </a:bodyPr>
          <a:lstStyle/>
          <a:p>
            <a:pPr algn="ctr">
              <a:lnSpc>
                <a:spcPts val="6600"/>
              </a:lnSpc>
            </a:pPr>
            <a:r>
              <a:rPr lang="en-US" sz="6000">
                <a:solidFill>
                  <a:srgbClr val="121417"/>
                </a:solidFill>
                <a:latin typeface="Canva Sans"/>
                <a:ea typeface="Canva Sans"/>
                <a:cs typeface="Canva Sans"/>
                <a:sym typeface="Canva Sans"/>
              </a:rPr>
              <a:t>Model Comparison</a:t>
            </a:r>
          </a:p>
        </p:txBody>
      </p:sp>
      <p:sp>
        <p:nvSpPr>
          <p:cNvPr id="7" name="TextBox 7"/>
          <p:cNvSpPr txBox="1"/>
          <p:nvPr/>
        </p:nvSpPr>
        <p:spPr>
          <a:xfrm>
            <a:off x="6172739" y="865673"/>
            <a:ext cx="718649" cy="368920"/>
          </a:xfrm>
          <a:prstGeom prst="rect">
            <a:avLst/>
          </a:prstGeom>
        </p:spPr>
        <p:txBody>
          <a:bodyPr lIns="0" tIns="0" rIns="0" bIns="0" rtlCol="0" anchor="t">
            <a:spAutoFit/>
          </a:bodyPr>
          <a:lstStyle/>
          <a:p>
            <a:pPr algn="ctr">
              <a:lnSpc>
                <a:spcPts val="2800"/>
              </a:lnSpc>
            </a:pPr>
            <a:r>
              <a:rPr lang="en-US" sz="2545" b="1">
                <a:solidFill>
                  <a:srgbClr val="121417"/>
                </a:solidFill>
                <a:latin typeface="Canva Sans Bold"/>
                <a:ea typeface="Canva Sans Bold"/>
                <a:cs typeface="Canva Sans Bold"/>
                <a:sym typeface="Canva Sans Bold"/>
              </a:rPr>
              <a:t>01</a:t>
            </a:r>
          </a:p>
        </p:txBody>
      </p:sp>
      <p:sp>
        <p:nvSpPr>
          <p:cNvPr id="8" name="TextBox 8"/>
          <p:cNvSpPr txBox="1"/>
          <p:nvPr/>
        </p:nvSpPr>
        <p:spPr>
          <a:xfrm>
            <a:off x="6200552" y="5630152"/>
            <a:ext cx="718649" cy="368920"/>
          </a:xfrm>
          <a:prstGeom prst="rect">
            <a:avLst/>
          </a:prstGeom>
        </p:spPr>
        <p:txBody>
          <a:bodyPr lIns="0" tIns="0" rIns="0" bIns="0" rtlCol="0" anchor="t">
            <a:spAutoFit/>
          </a:bodyPr>
          <a:lstStyle/>
          <a:p>
            <a:pPr algn="ctr">
              <a:lnSpc>
                <a:spcPts val="2800"/>
              </a:lnSpc>
            </a:pPr>
            <a:r>
              <a:rPr lang="en-US" sz="2545" b="1">
                <a:solidFill>
                  <a:srgbClr val="121417"/>
                </a:solidFill>
                <a:latin typeface="Canva Sans Bold"/>
                <a:ea typeface="Canva Sans Bold"/>
                <a:cs typeface="Canva Sans Bold"/>
                <a:sym typeface="Canva Sans Bold"/>
              </a:rPr>
              <a:t>02</a:t>
            </a:r>
          </a:p>
        </p:txBody>
      </p:sp>
      <p:sp>
        <p:nvSpPr>
          <p:cNvPr id="9" name="TextBox 9"/>
          <p:cNvSpPr txBox="1"/>
          <p:nvPr/>
        </p:nvSpPr>
        <p:spPr>
          <a:xfrm>
            <a:off x="7036378" y="815320"/>
            <a:ext cx="2691749" cy="492125"/>
          </a:xfrm>
          <a:prstGeom prst="rect">
            <a:avLst/>
          </a:prstGeom>
        </p:spPr>
        <p:txBody>
          <a:bodyPr lIns="0" tIns="0" rIns="0" bIns="0" rtlCol="0" anchor="t">
            <a:spAutoFit/>
          </a:bodyPr>
          <a:lstStyle/>
          <a:p>
            <a:pPr algn="l">
              <a:lnSpc>
                <a:spcPts val="3849"/>
              </a:lnSpc>
            </a:pPr>
            <a:r>
              <a:rPr lang="en-US" sz="3499">
                <a:solidFill>
                  <a:srgbClr val="121417"/>
                </a:solidFill>
                <a:latin typeface="Canva Sans"/>
                <a:ea typeface="Canva Sans"/>
                <a:cs typeface="Canva Sans"/>
                <a:sym typeface="Canva Sans"/>
              </a:rPr>
              <a:t>SVM</a:t>
            </a:r>
          </a:p>
        </p:txBody>
      </p:sp>
      <p:sp>
        <p:nvSpPr>
          <p:cNvPr id="10" name="TextBox 10"/>
          <p:cNvSpPr txBox="1"/>
          <p:nvPr/>
        </p:nvSpPr>
        <p:spPr>
          <a:xfrm>
            <a:off x="7195060" y="5578098"/>
            <a:ext cx="5619781" cy="492125"/>
          </a:xfrm>
          <a:prstGeom prst="rect">
            <a:avLst/>
          </a:prstGeom>
        </p:spPr>
        <p:txBody>
          <a:bodyPr lIns="0" tIns="0" rIns="0" bIns="0" rtlCol="0" anchor="t">
            <a:spAutoFit/>
          </a:bodyPr>
          <a:lstStyle/>
          <a:p>
            <a:pPr algn="l">
              <a:lnSpc>
                <a:spcPts val="3849"/>
              </a:lnSpc>
            </a:pPr>
            <a:r>
              <a:rPr lang="en-US" sz="3499">
                <a:solidFill>
                  <a:srgbClr val="121417"/>
                </a:solidFill>
                <a:latin typeface="Canva Sans"/>
                <a:ea typeface="Canva Sans"/>
                <a:cs typeface="Canva Sans"/>
                <a:sym typeface="Canva Sans"/>
              </a:rPr>
              <a:t>Logistic Regression </a:t>
            </a:r>
          </a:p>
        </p:txBody>
      </p:sp>
      <p:sp>
        <p:nvSpPr>
          <p:cNvPr id="11" name="TextBox 11"/>
          <p:cNvSpPr txBox="1"/>
          <p:nvPr/>
        </p:nvSpPr>
        <p:spPr>
          <a:xfrm>
            <a:off x="7195060" y="1368896"/>
            <a:ext cx="10477611" cy="4070985"/>
          </a:xfrm>
          <a:prstGeom prst="rect">
            <a:avLst/>
          </a:prstGeom>
        </p:spPr>
        <p:txBody>
          <a:bodyPr lIns="0" tIns="0" rIns="0" bIns="0" rtlCol="0" anchor="t">
            <a:spAutoFit/>
          </a:bodyPr>
          <a:lstStyle/>
          <a:p>
            <a:pPr algn="l">
              <a:lnSpc>
                <a:spcPts val="2940"/>
              </a:lnSpc>
            </a:pPr>
            <a:r>
              <a:rPr lang="en-US" sz="2100">
                <a:solidFill>
                  <a:srgbClr val="121417"/>
                </a:solidFill>
                <a:latin typeface="Canva Sans"/>
                <a:ea typeface="Canva Sans"/>
                <a:cs typeface="Canva Sans"/>
                <a:sym typeface="Canva Sans"/>
              </a:rPr>
              <a:t>SVM achieved the highest classification accuracy because it performs particularly well in high dimensional feature spaces since text classification datasets often contain hundreds or thousands of features and SVM is highly effective at identifying the clear decision boundaries between classes.</a:t>
            </a:r>
          </a:p>
          <a:p>
            <a:pPr algn="l">
              <a:lnSpc>
                <a:spcPts val="2940"/>
              </a:lnSpc>
            </a:pPr>
            <a:endParaRPr lang="en-US" sz="2100">
              <a:solidFill>
                <a:srgbClr val="121417"/>
              </a:solidFill>
              <a:latin typeface="Canva Sans"/>
              <a:ea typeface="Canva Sans"/>
              <a:cs typeface="Canva Sans"/>
              <a:sym typeface="Canva Sans"/>
            </a:endParaRPr>
          </a:p>
          <a:p>
            <a:pPr algn="l">
              <a:lnSpc>
                <a:spcPts val="2940"/>
              </a:lnSpc>
            </a:pPr>
            <a:r>
              <a:rPr lang="en-US" sz="2100">
                <a:solidFill>
                  <a:srgbClr val="121417"/>
                </a:solidFill>
                <a:latin typeface="Canva Sans"/>
                <a:ea typeface="Canva Sans"/>
                <a:cs typeface="Canva Sans"/>
                <a:sym typeface="Canva Sans"/>
              </a:rPr>
              <a:t>In addition, SVM is robust to sparse textual data and focuses on maximizing the separation margin between categories which improves generalization performance</a:t>
            </a:r>
          </a:p>
          <a:p>
            <a:pPr algn="l">
              <a:lnSpc>
                <a:spcPts val="2940"/>
              </a:lnSpc>
            </a:pPr>
            <a:endParaRPr lang="en-US" sz="2100">
              <a:solidFill>
                <a:srgbClr val="121417"/>
              </a:solidFill>
              <a:latin typeface="Canva Sans"/>
              <a:ea typeface="Canva Sans"/>
              <a:cs typeface="Canva Sans"/>
              <a:sym typeface="Canva Sans"/>
            </a:endParaRPr>
          </a:p>
          <a:p>
            <a:pPr algn="l">
              <a:lnSpc>
                <a:spcPts val="2940"/>
              </a:lnSpc>
            </a:pPr>
            <a:r>
              <a:rPr lang="en-US" sz="2100">
                <a:solidFill>
                  <a:srgbClr val="121417"/>
                </a:solidFill>
                <a:latin typeface="Canva Sans"/>
                <a:ea typeface="Canva Sans"/>
                <a:cs typeface="Canva Sans"/>
                <a:sym typeface="Canva Sans"/>
              </a:rPr>
              <a:t>This behavior was reflected in the experimental results where SVM achieved the highest accuracy (69.9%) among all traditional classifiers.</a:t>
            </a:r>
          </a:p>
        </p:txBody>
      </p:sp>
      <p:sp>
        <p:nvSpPr>
          <p:cNvPr id="12" name="TextBox 12"/>
          <p:cNvSpPr txBox="1"/>
          <p:nvPr/>
        </p:nvSpPr>
        <p:spPr>
          <a:xfrm>
            <a:off x="7362747" y="6122149"/>
            <a:ext cx="10631734" cy="3873500"/>
          </a:xfrm>
          <a:prstGeom prst="rect">
            <a:avLst/>
          </a:prstGeom>
        </p:spPr>
        <p:txBody>
          <a:bodyPr lIns="0" tIns="0" rIns="0" bIns="0" rtlCol="0" anchor="t">
            <a:spAutoFit/>
          </a:bodyPr>
          <a:lstStyle/>
          <a:p>
            <a:pPr algn="l">
              <a:lnSpc>
                <a:spcPts val="2800"/>
              </a:lnSpc>
            </a:pPr>
            <a:r>
              <a:rPr lang="en-US" sz="2000">
                <a:solidFill>
                  <a:srgbClr val="121417"/>
                </a:solidFill>
                <a:latin typeface="Canva Sans"/>
                <a:ea typeface="Canva Sans"/>
                <a:cs typeface="Canva Sans"/>
                <a:sym typeface="Canva Sans"/>
              </a:rPr>
              <a:t>Logistic Regression achieved competitive performance because it learns the contribution of each feature to the target classes and combines them to estimate class probabilities which allow the model to effectively identify patterns that distinguish between categories and make reliable classification decisions.</a:t>
            </a:r>
          </a:p>
          <a:p>
            <a:pPr algn="l">
              <a:lnSpc>
                <a:spcPts val="2800"/>
              </a:lnSpc>
            </a:pPr>
            <a:endParaRPr lang="en-US" sz="2000">
              <a:solidFill>
                <a:srgbClr val="121417"/>
              </a:solidFill>
              <a:latin typeface="Canva Sans"/>
              <a:ea typeface="Canva Sans"/>
              <a:cs typeface="Canva Sans"/>
              <a:sym typeface="Canva Sans"/>
            </a:endParaRPr>
          </a:p>
          <a:p>
            <a:pPr algn="l">
              <a:lnSpc>
                <a:spcPts val="2800"/>
              </a:lnSpc>
            </a:pPr>
            <a:r>
              <a:rPr lang="en-US" sz="2000">
                <a:solidFill>
                  <a:srgbClr val="121417"/>
                </a:solidFill>
                <a:latin typeface="Canva Sans"/>
                <a:ea typeface="Canva Sans"/>
                <a:cs typeface="Canva Sans"/>
                <a:sym typeface="Canva Sans"/>
              </a:rPr>
              <a:t>However, SVM achieved slightly better results because its objective is not only to classify samples correctly, but also to maximize the separation between classes. By creating larger margin between category boundaries, SVM becomes more robust to ambiguous or overlapping samples and is therefore often able to generalize better to unseen data.</a:t>
            </a:r>
          </a:p>
          <a:p>
            <a:pPr algn="l">
              <a:lnSpc>
                <a:spcPts val="2800"/>
              </a:lnSpc>
            </a:pPr>
            <a:endParaRPr lang="en-US" sz="2000">
              <a:solidFill>
                <a:srgbClr val="121417"/>
              </a:solidFill>
              <a:latin typeface="Canva Sans"/>
              <a:ea typeface="Canva Sans"/>
              <a:cs typeface="Canva Sans"/>
              <a:sym typeface="Canva Sans"/>
            </a:endParaRPr>
          </a:p>
        </p:txBody>
      </p:sp>
      <p:graphicFrame>
        <p:nvGraphicFramePr>
          <p:cNvPr id="13" name="Table 12">
            <a:extLst>
              <a:ext uri="{FF2B5EF4-FFF2-40B4-BE49-F238E27FC236}">
                <a16:creationId xmlns:a16="http://schemas.microsoft.com/office/drawing/2014/main" id="{3F06014D-F26D-1CB6-A7F5-904063A86FAF}"/>
              </a:ext>
            </a:extLst>
          </p:cNvPr>
          <p:cNvGraphicFramePr>
            <a:graphicFrameLocks noGrp="1"/>
          </p:cNvGraphicFramePr>
          <p:nvPr>
            <p:extLst>
              <p:ext uri="{D42A27DB-BD31-4B8C-83A1-F6EECF244321}">
                <p14:modId xmlns:p14="http://schemas.microsoft.com/office/powerpoint/2010/main" val="4077246091"/>
              </p:ext>
            </p:extLst>
          </p:nvPr>
        </p:nvGraphicFramePr>
        <p:xfrm>
          <a:off x="615329" y="3799612"/>
          <a:ext cx="5334326" cy="3652455"/>
        </p:xfrm>
        <a:graphic>
          <a:graphicData uri="http://schemas.openxmlformats.org/drawingml/2006/table">
            <a:tbl>
              <a:tblPr/>
              <a:tblGrid>
                <a:gridCol w="2667163">
                  <a:extLst>
                    <a:ext uri="{9D8B030D-6E8A-4147-A177-3AD203B41FA5}">
                      <a16:colId xmlns:a16="http://schemas.microsoft.com/office/drawing/2014/main" val="2780669214"/>
                    </a:ext>
                  </a:extLst>
                </a:gridCol>
                <a:gridCol w="2667163">
                  <a:extLst>
                    <a:ext uri="{9D8B030D-6E8A-4147-A177-3AD203B41FA5}">
                      <a16:colId xmlns:a16="http://schemas.microsoft.com/office/drawing/2014/main" val="3889181206"/>
                    </a:ext>
                  </a:extLst>
                </a:gridCol>
              </a:tblGrid>
              <a:tr h="692838">
                <a:tc>
                  <a:txBody>
                    <a:bodyPr/>
                    <a:lstStyle/>
                    <a:p>
                      <a:pPr>
                        <a:buNone/>
                      </a:pPr>
                      <a:r>
                        <a:rPr lang="en-US">
                          <a:effectLst/>
                        </a:rPr>
                        <a:t>Model</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Accuracy</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1147210384"/>
                  </a:ext>
                </a:extLst>
              </a:tr>
              <a:tr h="692838">
                <a:tc>
                  <a:txBody>
                    <a:bodyPr/>
                    <a:lstStyle/>
                    <a:p>
                      <a:pPr>
                        <a:buNone/>
                      </a:pPr>
                      <a:r>
                        <a:rPr lang="en-US">
                          <a:effectLst/>
                        </a:rPr>
                        <a:t>SVM</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69.90%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1576266791"/>
                  </a:ext>
                </a:extLst>
              </a:tr>
              <a:tr h="881103">
                <a:tc>
                  <a:txBody>
                    <a:bodyPr/>
                    <a:lstStyle/>
                    <a:p>
                      <a:pPr>
                        <a:buNone/>
                      </a:pPr>
                      <a:r>
                        <a:rPr lang="en-US">
                          <a:effectLst/>
                        </a:rPr>
                        <a:t>Logistic Regression</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68.40%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1912218924"/>
                  </a:ext>
                </a:extLst>
              </a:tr>
              <a:tr h="692838">
                <a:tc>
                  <a:txBody>
                    <a:bodyPr/>
                    <a:lstStyle/>
                    <a:p>
                      <a:pPr>
                        <a:buNone/>
                      </a:pPr>
                      <a:r>
                        <a:rPr lang="en-US">
                          <a:effectLst/>
                        </a:rPr>
                        <a:t>Random Forest</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65.90%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2075519298"/>
                  </a:ext>
                </a:extLst>
              </a:tr>
              <a:tr h="692838">
                <a:tc>
                  <a:txBody>
                    <a:bodyPr/>
                    <a:lstStyle/>
                    <a:p>
                      <a:pPr>
                        <a:buNone/>
                      </a:pPr>
                      <a:r>
                        <a:rPr lang="en-US">
                          <a:effectLst/>
                        </a:rPr>
                        <a:t>Naive Bayes</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dirty="0">
                          <a:effectLst/>
                        </a:rPr>
                        <a:t>50.80%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1934547231"/>
                  </a:ext>
                </a:extLst>
              </a:tr>
            </a:tbl>
          </a:graphicData>
        </a:graphic>
      </p:graphicFrame>
      <p:sp>
        <p:nvSpPr>
          <p:cNvPr id="14" name="Rectangle 1">
            <a:extLst>
              <a:ext uri="{FF2B5EF4-FFF2-40B4-BE49-F238E27FC236}">
                <a16:creationId xmlns:a16="http://schemas.microsoft.com/office/drawing/2014/main" id="{FBCC3151-CD5B-158B-ADAF-85F655B29679}"/>
              </a:ext>
            </a:extLst>
          </p:cNvPr>
          <p:cNvSpPr>
            <a:spLocks noChangeArrowheads="1"/>
          </p:cNvSpPr>
          <p:nvPr/>
        </p:nvSpPr>
        <p:spPr bwMode="auto">
          <a:xfrm>
            <a:off x="615331" y="3799354"/>
            <a:ext cx="1185405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flipH="1" flipV="1">
            <a:off x="602091" y="7793330"/>
            <a:ext cx="3451157" cy="2284039"/>
          </a:xfrm>
          <a:custGeom>
            <a:avLst/>
            <a:gdLst/>
            <a:ahLst/>
            <a:cxnLst/>
            <a:rect l="l" t="t" r="r" b="b"/>
            <a:pathLst>
              <a:path w="3451157" h="2284039">
                <a:moveTo>
                  <a:pt x="3451157" y="2284039"/>
                </a:moveTo>
                <a:lnTo>
                  <a:pt x="0" y="2284039"/>
                </a:lnTo>
                <a:lnTo>
                  <a:pt x="0" y="0"/>
                </a:lnTo>
                <a:lnTo>
                  <a:pt x="3451157" y="0"/>
                </a:lnTo>
                <a:lnTo>
                  <a:pt x="3451157" y="2284039"/>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3" name="Freeform 3"/>
          <p:cNvSpPr/>
          <p:nvPr/>
        </p:nvSpPr>
        <p:spPr>
          <a:xfrm>
            <a:off x="6473035" y="1264292"/>
            <a:ext cx="663025" cy="729327"/>
          </a:xfrm>
          <a:custGeom>
            <a:avLst/>
            <a:gdLst/>
            <a:ahLst/>
            <a:cxnLst/>
            <a:rect l="l" t="t" r="r" b="b"/>
            <a:pathLst>
              <a:path w="663025" h="729327">
                <a:moveTo>
                  <a:pt x="0" y="0"/>
                </a:moveTo>
                <a:lnTo>
                  <a:pt x="663025" y="0"/>
                </a:lnTo>
                <a:lnTo>
                  <a:pt x="663025" y="729327"/>
                </a:lnTo>
                <a:lnTo>
                  <a:pt x="0" y="72932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6500847" y="5221050"/>
            <a:ext cx="663025" cy="729327"/>
          </a:xfrm>
          <a:custGeom>
            <a:avLst/>
            <a:gdLst/>
            <a:ahLst/>
            <a:cxnLst/>
            <a:rect l="l" t="t" r="r" b="b"/>
            <a:pathLst>
              <a:path w="663025" h="729327">
                <a:moveTo>
                  <a:pt x="0" y="0"/>
                </a:moveTo>
                <a:lnTo>
                  <a:pt x="663025" y="0"/>
                </a:lnTo>
                <a:lnTo>
                  <a:pt x="663025" y="729327"/>
                </a:lnTo>
                <a:lnTo>
                  <a:pt x="0" y="72932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948745" y="1099482"/>
            <a:ext cx="4565754" cy="1695450"/>
          </a:xfrm>
          <a:prstGeom prst="rect">
            <a:avLst/>
          </a:prstGeom>
        </p:spPr>
        <p:txBody>
          <a:bodyPr lIns="0" tIns="0" rIns="0" bIns="0" rtlCol="0" anchor="t">
            <a:spAutoFit/>
          </a:bodyPr>
          <a:lstStyle/>
          <a:p>
            <a:pPr algn="ctr">
              <a:lnSpc>
                <a:spcPts val="6600"/>
              </a:lnSpc>
            </a:pPr>
            <a:r>
              <a:rPr lang="en-US" sz="6000">
                <a:solidFill>
                  <a:srgbClr val="121417"/>
                </a:solidFill>
                <a:latin typeface="Canva Sans"/>
                <a:ea typeface="Canva Sans"/>
                <a:cs typeface="Canva Sans"/>
                <a:sym typeface="Canva Sans"/>
              </a:rPr>
              <a:t>Model Comparison</a:t>
            </a:r>
          </a:p>
        </p:txBody>
      </p:sp>
      <p:sp>
        <p:nvSpPr>
          <p:cNvPr id="7" name="TextBox 7"/>
          <p:cNvSpPr txBox="1"/>
          <p:nvPr/>
        </p:nvSpPr>
        <p:spPr>
          <a:xfrm>
            <a:off x="6445223" y="1452296"/>
            <a:ext cx="718649" cy="368920"/>
          </a:xfrm>
          <a:prstGeom prst="rect">
            <a:avLst/>
          </a:prstGeom>
        </p:spPr>
        <p:txBody>
          <a:bodyPr lIns="0" tIns="0" rIns="0" bIns="0" rtlCol="0" anchor="t">
            <a:spAutoFit/>
          </a:bodyPr>
          <a:lstStyle/>
          <a:p>
            <a:pPr algn="ctr">
              <a:lnSpc>
                <a:spcPts val="2800"/>
              </a:lnSpc>
            </a:pPr>
            <a:r>
              <a:rPr lang="en-US" sz="2545" b="1">
                <a:solidFill>
                  <a:srgbClr val="121417"/>
                </a:solidFill>
                <a:latin typeface="Canva Sans Bold"/>
                <a:ea typeface="Canva Sans Bold"/>
                <a:cs typeface="Canva Sans Bold"/>
                <a:sym typeface="Canva Sans Bold"/>
              </a:rPr>
              <a:t>03</a:t>
            </a:r>
          </a:p>
        </p:txBody>
      </p:sp>
      <p:sp>
        <p:nvSpPr>
          <p:cNvPr id="8" name="TextBox 8"/>
          <p:cNvSpPr txBox="1"/>
          <p:nvPr/>
        </p:nvSpPr>
        <p:spPr>
          <a:xfrm>
            <a:off x="6473035" y="5410756"/>
            <a:ext cx="718649" cy="368920"/>
          </a:xfrm>
          <a:prstGeom prst="rect">
            <a:avLst/>
          </a:prstGeom>
        </p:spPr>
        <p:txBody>
          <a:bodyPr lIns="0" tIns="0" rIns="0" bIns="0" rtlCol="0" anchor="t">
            <a:spAutoFit/>
          </a:bodyPr>
          <a:lstStyle/>
          <a:p>
            <a:pPr algn="ctr">
              <a:lnSpc>
                <a:spcPts val="2800"/>
              </a:lnSpc>
            </a:pPr>
            <a:r>
              <a:rPr lang="en-US" sz="2545" b="1">
                <a:solidFill>
                  <a:srgbClr val="121417"/>
                </a:solidFill>
                <a:latin typeface="Canva Sans Bold"/>
                <a:ea typeface="Canva Sans Bold"/>
                <a:cs typeface="Canva Sans Bold"/>
                <a:sym typeface="Canva Sans Bold"/>
              </a:rPr>
              <a:t>04</a:t>
            </a:r>
          </a:p>
        </p:txBody>
      </p:sp>
      <p:sp>
        <p:nvSpPr>
          <p:cNvPr id="9" name="TextBox 9"/>
          <p:cNvSpPr txBox="1"/>
          <p:nvPr/>
        </p:nvSpPr>
        <p:spPr>
          <a:xfrm>
            <a:off x="7549629" y="1302392"/>
            <a:ext cx="3658249" cy="492125"/>
          </a:xfrm>
          <a:prstGeom prst="rect">
            <a:avLst/>
          </a:prstGeom>
        </p:spPr>
        <p:txBody>
          <a:bodyPr lIns="0" tIns="0" rIns="0" bIns="0" rtlCol="0" anchor="t">
            <a:spAutoFit/>
          </a:bodyPr>
          <a:lstStyle/>
          <a:p>
            <a:pPr algn="l">
              <a:lnSpc>
                <a:spcPts val="3849"/>
              </a:lnSpc>
            </a:pPr>
            <a:r>
              <a:rPr lang="en-US" sz="3499">
                <a:solidFill>
                  <a:srgbClr val="121417"/>
                </a:solidFill>
                <a:latin typeface="Canva Sans"/>
                <a:ea typeface="Canva Sans"/>
                <a:cs typeface="Canva Sans"/>
                <a:sym typeface="Canva Sans"/>
              </a:rPr>
              <a:t>Random Forest</a:t>
            </a:r>
          </a:p>
        </p:txBody>
      </p:sp>
      <p:sp>
        <p:nvSpPr>
          <p:cNvPr id="10" name="TextBox 10"/>
          <p:cNvSpPr txBox="1"/>
          <p:nvPr/>
        </p:nvSpPr>
        <p:spPr>
          <a:xfrm>
            <a:off x="7525886" y="5357598"/>
            <a:ext cx="5619781" cy="492125"/>
          </a:xfrm>
          <a:prstGeom prst="rect">
            <a:avLst/>
          </a:prstGeom>
        </p:spPr>
        <p:txBody>
          <a:bodyPr lIns="0" tIns="0" rIns="0" bIns="0" rtlCol="0" anchor="t">
            <a:spAutoFit/>
          </a:bodyPr>
          <a:lstStyle/>
          <a:p>
            <a:pPr algn="l">
              <a:lnSpc>
                <a:spcPts val="3849"/>
              </a:lnSpc>
            </a:pPr>
            <a:r>
              <a:rPr lang="en-US" sz="3499">
                <a:solidFill>
                  <a:srgbClr val="121417"/>
                </a:solidFill>
                <a:latin typeface="Canva Sans"/>
                <a:ea typeface="Canva Sans"/>
                <a:cs typeface="Canva Sans"/>
                <a:sym typeface="Canva Sans"/>
              </a:rPr>
              <a:t>Naive Bayes </a:t>
            </a:r>
          </a:p>
        </p:txBody>
      </p:sp>
      <p:sp>
        <p:nvSpPr>
          <p:cNvPr id="11" name="TextBox 11"/>
          <p:cNvSpPr txBox="1"/>
          <p:nvPr/>
        </p:nvSpPr>
        <p:spPr>
          <a:xfrm>
            <a:off x="7656266" y="1897186"/>
            <a:ext cx="10477611" cy="2325370"/>
          </a:xfrm>
          <a:prstGeom prst="rect">
            <a:avLst/>
          </a:prstGeom>
        </p:spPr>
        <p:txBody>
          <a:bodyPr lIns="0" tIns="0" rIns="0" bIns="0" rtlCol="0" anchor="t">
            <a:spAutoFit/>
          </a:bodyPr>
          <a:lstStyle/>
          <a:p>
            <a:pPr algn="l">
              <a:lnSpc>
                <a:spcPts val="3080"/>
              </a:lnSpc>
            </a:pPr>
            <a:r>
              <a:rPr lang="en-US" sz="2200">
                <a:solidFill>
                  <a:srgbClr val="121417"/>
                </a:solidFill>
                <a:latin typeface="Canva Sans"/>
                <a:ea typeface="Canva Sans"/>
                <a:cs typeface="Canva Sans"/>
                <a:sym typeface="Canva Sans"/>
              </a:rPr>
              <a:t>Random Forest performed reasonably well but was less effective than SVM and Logistic Regression. Text representations often contain large number of features which make it difficult for decision trees to identify the most informative splits. Consequently, the ensemble was not able to fully exploit the available textual information.</a:t>
            </a:r>
          </a:p>
          <a:p>
            <a:pPr algn="l">
              <a:lnSpc>
                <a:spcPts val="3080"/>
              </a:lnSpc>
            </a:pPr>
            <a:endParaRPr lang="en-US" sz="2200">
              <a:solidFill>
                <a:srgbClr val="121417"/>
              </a:solidFill>
              <a:latin typeface="Canva Sans"/>
              <a:ea typeface="Canva Sans"/>
              <a:cs typeface="Canva Sans"/>
              <a:sym typeface="Canva Sans"/>
            </a:endParaRPr>
          </a:p>
        </p:txBody>
      </p:sp>
      <p:sp>
        <p:nvSpPr>
          <p:cNvPr id="12" name="TextBox 12"/>
          <p:cNvSpPr txBox="1"/>
          <p:nvPr/>
        </p:nvSpPr>
        <p:spPr>
          <a:xfrm>
            <a:off x="7632523" y="6043905"/>
            <a:ext cx="10631734" cy="2325370"/>
          </a:xfrm>
          <a:prstGeom prst="rect">
            <a:avLst/>
          </a:prstGeom>
        </p:spPr>
        <p:txBody>
          <a:bodyPr lIns="0" tIns="0" rIns="0" bIns="0" rtlCol="0" anchor="t">
            <a:spAutoFit/>
          </a:bodyPr>
          <a:lstStyle/>
          <a:p>
            <a:pPr algn="l">
              <a:lnSpc>
                <a:spcPts val="3080"/>
              </a:lnSpc>
            </a:pPr>
            <a:r>
              <a:rPr lang="en-US" sz="2200">
                <a:solidFill>
                  <a:srgbClr val="121417"/>
                </a:solidFill>
                <a:latin typeface="Canva Sans"/>
                <a:ea typeface="Canva Sans"/>
                <a:cs typeface="Canva Sans"/>
                <a:sym typeface="Canva Sans"/>
              </a:rPr>
              <a:t>Naive Bayes assumes that features are independent from one another which rarely holds in natural language where words and features are often related and appear in meaningful patterns. As a result, Naive Bayes was less capable of capturing complex relationships within the text and achieved the lowest classification accuracy.</a:t>
            </a:r>
          </a:p>
          <a:p>
            <a:pPr algn="l">
              <a:lnSpc>
                <a:spcPts val="3080"/>
              </a:lnSpc>
            </a:pPr>
            <a:endParaRPr lang="en-US" sz="2200">
              <a:solidFill>
                <a:srgbClr val="121417"/>
              </a:solidFill>
              <a:latin typeface="Canva Sans"/>
              <a:ea typeface="Canva Sans"/>
              <a:cs typeface="Canva Sans"/>
              <a:sym typeface="Canva Sans"/>
            </a:endParaRPr>
          </a:p>
        </p:txBody>
      </p:sp>
      <p:graphicFrame>
        <p:nvGraphicFramePr>
          <p:cNvPr id="13" name="Table 12">
            <a:extLst>
              <a:ext uri="{FF2B5EF4-FFF2-40B4-BE49-F238E27FC236}">
                <a16:creationId xmlns:a16="http://schemas.microsoft.com/office/drawing/2014/main" id="{294E60EB-ADF3-49E7-E6CB-E70AE261B7AC}"/>
              </a:ext>
            </a:extLst>
          </p:cNvPr>
          <p:cNvGraphicFramePr>
            <a:graphicFrameLocks noGrp="1"/>
          </p:cNvGraphicFramePr>
          <p:nvPr>
            <p:extLst>
              <p:ext uri="{D42A27DB-BD31-4B8C-83A1-F6EECF244321}">
                <p14:modId xmlns:p14="http://schemas.microsoft.com/office/powerpoint/2010/main" val="3738239861"/>
              </p:ext>
            </p:extLst>
          </p:nvPr>
        </p:nvGraphicFramePr>
        <p:xfrm>
          <a:off x="607953" y="3617502"/>
          <a:ext cx="5503068" cy="3936422"/>
        </p:xfrm>
        <a:graphic>
          <a:graphicData uri="http://schemas.openxmlformats.org/drawingml/2006/table">
            <a:tbl>
              <a:tblPr/>
              <a:tblGrid>
                <a:gridCol w="2592447">
                  <a:extLst>
                    <a:ext uri="{9D8B030D-6E8A-4147-A177-3AD203B41FA5}">
                      <a16:colId xmlns:a16="http://schemas.microsoft.com/office/drawing/2014/main" val="4194815981"/>
                    </a:ext>
                  </a:extLst>
                </a:gridCol>
                <a:gridCol w="2910621">
                  <a:extLst>
                    <a:ext uri="{9D8B030D-6E8A-4147-A177-3AD203B41FA5}">
                      <a16:colId xmlns:a16="http://schemas.microsoft.com/office/drawing/2014/main" val="2009686056"/>
                    </a:ext>
                  </a:extLst>
                </a:gridCol>
              </a:tblGrid>
              <a:tr h="746704">
                <a:tc>
                  <a:txBody>
                    <a:bodyPr/>
                    <a:lstStyle/>
                    <a:p>
                      <a:pPr>
                        <a:buNone/>
                      </a:pPr>
                      <a:r>
                        <a:rPr lang="en-US">
                          <a:effectLst/>
                        </a:rPr>
                        <a:t>Model</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Accuracy</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752985666"/>
                  </a:ext>
                </a:extLst>
              </a:tr>
              <a:tr h="746704">
                <a:tc>
                  <a:txBody>
                    <a:bodyPr/>
                    <a:lstStyle/>
                    <a:p>
                      <a:pPr>
                        <a:buNone/>
                      </a:pPr>
                      <a:r>
                        <a:rPr lang="en-US">
                          <a:effectLst/>
                        </a:rPr>
                        <a:t>SVM</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69.90%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227358317"/>
                  </a:ext>
                </a:extLst>
              </a:tr>
              <a:tr h="949606">
                <a:tc>
                  <a:txBody>
                    <a:bodyPr/>
                    <a:lstStyle/>
                    <a:p>
                      <a:pPr>
                        <a:buNone/>
                      </a:pPr>
                      <a:r>
                        <a:rPr lang="en-US">
                          <a:effectLst/>
                        </a:rPr>
                        <a:t>Logistic Regression</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68.40%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1263320683"/>
                  </a:ext>
                </a:extLst>
              </a:tr>
              <a:tr h="746704">
                <a:tc>
                  <a:txBody>
                    <a:bodyPr/>
                    <a:lstStyle/>
                    <a:p>
                      <a:pPr>
                        <a:buNone/>
                      </a:pPr>
                      <a:r>
                        <a:rPr lang="en-US">
                          <a:effectLst/>
                        </a:rPr>
                        <a:t>Random Forest</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65.90%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3574216637"/>
                  </a:ext>
                </a:extLst>
              </a:tr>
              <a:tr h="746704">
                <a:tc>
                  <a:txBody>
                    <a:bodyPr/>
                    <a:lstStyle/>
                    <a:p>
                      <a:pPr>
                        <a:buNone/>
                      </a:pPr>
                      <a:r>
                        <a:rPr lang="en-US">
                          <a:effectLst/>
                        </a:rPr>
                        <a:t>Naive Bayes</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dirty="0">
                          <a:effectLst/>
                        </a:rPr>
                        <a:t>50.80%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554513581"/>
                  </a:ext>
                </a:extLst>
              </a:tr>
            </a:tbl>
          </a:graphicData>
        </a:graphic>
      </p:graphicFrame>
      <p:sp>
        <p:nvSpPr>
          <p:cNvPr id="14" name="Rectangle 1">
            <a:extLst>
              <a:ext uri="{FF2B5EF4-FFF2-40B4-BE49-F238E27FC236}">
                <a16:creationId xmlns:a16="http://schemas.microsoft.com/office/drawing/2014/main" id="{374D574C-3158-60A0-9EF6-6C044A51982D}"/>
              </a:ext>
            </a:extLst>
          </p:cNvPr>
          <p:cNvSpPr>
            <a:spLocks noChangeArrowheads="1"/>
          </p:cNvSpPr>
          <p:nvPr/>
        </p:nvSpPr>
        <p:spPr bwMode="auto">
          <a:xfrm>
            <a:off x="607952" y="3856649"/>
            <a:ext cx="1222903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flipH="1" flipV="1">
            <a:off x="0" y="8219440"/>
            <a:ext cx="3124060" cy="2067560"/>
          </a:xfrm>
          <a:custGeom>
            <a:avLst/>
            <a:gdLst/>
            <a:ahLst/>
            <a:cxnLst/>
            <a:rect l="l" t="t" r="r" b="b"/>
            <a:pathLst>
              <a:path w="3124060" h="2067560">
                <a:moveTo>
                  <a:pt x="3124060" y="2067560"/>
                </a:moveTo>
                <a:lnTo>
                  <a:pt x="0" y="2067560"/>
                </a:lnTo>
                <a:lnTo>
                  <a:pt x="0" y="0"/>
                </a:lnTo>
                <a:lnTo>
                  <a:pt x="3124060" y="0"/>
                </a:lnTo>
                <a:lnTo>
                  <a:pt x="3124060" y="206756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3" name="TextBox 3"/>
          <p:cNvSpPr txBox="1"/>
          <p:nvPr/>
        </p:nvSpPr>
        <p:spPr>
          <a:xfrm>
            <a:off x="1028700" y="1213420"/>
            <a:ext cx="11624788" cy="857250"/>
          </a:xfrm>
          <a:prstGeom prst="rect">
            <a:avLst/>
          </a:prstGeom>
        </p:spPr>
        <p:txBody>
          <a:bodyPr lIns="0" tIns="0" rIns="0" bIns="0" rtlCol="0" anchor="t">
            <a:spAutoFit/>
          </a:bodyPr>
          <a:lstStyle/>
          <a:p>
            <a:pPr algn="l">
              <a:lnSpc>
                <a:spcPts val="6600"/>
              </a:lnSpc>
            </a:pPr>
            <a:r>
              <a:rPr lang="en-US" sz="6000">
                <a:solidFill>
                  <a:srgbClr val="121417"/>
                </a:solidFill>
                <a:latin typeface="Canva Sans"/>
                <a:ea typeface="Canva Sans"/>
                <a:cs typeface="Canva Sans"/>
                <a:sym typeface="Canva Sans"/>
              </a:rPr>
              <a:t>The Best Classification Model</a:t>
            </a:r>
          </a:p>
        </p:txBody>
      </p:sp>
      <p:sp>
        <p:nvSpPr>
          <p:cNvPr id="4" name="TextBox 4"/>
          <p:cNvSpPr txBox="1"/>
          <p:nvPr/>
        </p:nvSpPr>
        <p:spPr>
          <a:xfrm>
            <a:off x="1562030" y="2326290"/>
            <a:ext cx="16230600" cy="5589905"/>
          </a:xfrm>
          <a:prstGeom prst="rect">
            <a:avLst/>
          </a:prstGeom>
        </p:spPr>
        <p:txBody>
          <a:bodyPr lIns="0" tIns="0" rIns="0" bIns="0" rtlCol="0" anchor="t">
            <a:spAutoFit/>
          </a:bodyPr>
          <a:lstStyle/>
          <a:p>
            <a:pPr algn="l">
              <a:lnSpc>
                <a:spcPts val="3219"/>
              </a:lnSpc>
            </a:pPr>
            <a:r>
              <a:rPr lang="en-US" sz="2299">
                <a:solidFill>
                  <a:srgbClr val="121417"/>
                </a:solidFill>
                <a:latin typeface="Canva Sans"/>
                <a:ea typeface="Canva Sans"/>
                <a:cs typeface="Canva Sans"/>
                <a:sym typeface="Canva Sans"/>
              </a:rPr>
              <a:t>The best performance was achieved by combining Qwen embeddings with SVM, this can be explained by the complementary strengths of both components.</a:t>
            </a:r>
          </a:p>
          <a:p>
            <a:pPr algn="l">
              <a:lnSpc>
                <a:spcPts val="3219"/>
              </a:lnSpc>
            </a:pPr>
            <a:endParaRPr lang="en-US" sz="2299">
              <a:solidFill>
                <a:srgbClr val="121417"/>
              </a:solidFill>
              <a:latin typeface="Canva Sans"/>
              <a:ea typeface="Canva Sans"/>
              <a:cs typeface="Canva Sans"/>
              <a:sym typeface="Canva Sans"/>
            </a:endParaRPr>
          </a:p>
          <a:p>
            <a:pPr algn="l">
              <a:lnSpc>
                <a:spcPts val="3219"/>
              </a:lnSpc>
            </a:pPr>
            <a:r>
              <a:rPr lang="en-US" sz="2299">
                <a:solidFill>
                  <a:srgbClr val="121417"/>
                </a:solidFill>
                <a:latin typeface="Canva Sans"/>
                <a:ea typeface="Canva Sans"/>
                <a:cs typeface="Canva Sans"/>
                <a:sym typeface="Canva Sans"/>
              </a:rPr>
              <a:t>Qwen generated rich contextual representations that captured semantic relationships and word meanings according to their surrounding context. Unlike traditional and static embeddings, the same word could receive different representations depending on its usage within the sentence.</a:t>
            </a:r>
          </a:p>
          <a:p>
            <a:pPr algn="l">
              <a:lnSpc>
                <a:spcPts val="3219"/>
              </a:lnSpc>
            </a:pPr>
            <a:endParaRPr lang="en-US" sz="2299">
              <a:solidFill>
                <a:srgbClr val="121417"/>
              </a:solidFill>
              <a:latin typeface="Canva Sans"/>
              <a:ea typeface="Canva Sans"/>
              <a:cs typeface="Canva Sans"/>
              <a:sym typeface="Canva Sans"/>
            </a:endParaRPr>
          </a:p>
          <a:p>
            <a:pPr algn="l">
              <a:lnSpc>
                <a:spcPts val="3219"/>
              </a:lnSpc>
            </a:pPr>
            <a:r>
              <a:rPr lang="en-US" sz="2299">
                <a:solidFill>
                  <a:srgbClr val="121417"/>
                </a:solidFill>
                <a:latin typeface="Canva Sans"/>
                <a:ea typeface="Canva Sans"/>
                <a:cs typeface="Canva Sans"/>
                <a:sym typeface="Canva Sans"/>
              </a:rPr>
              <a:t>SVM was then able to effectively separate these high quality representations by constructing optimal decision boundaries between categories, its margin maximization strategy may improved generalization and reduced the impact of overlapping samples.</a:t>
            </a:r>
          </a:p>
          <a:p>
            <a:pPr algn="l">
              <a:lnSpc>
                <a:spcPts val="3219"/>
              </a:lnSpc>
            </a:pPr>
            <a:endParaRPr lang="en-US" sz="2299">
              <a:solidFill>
                <a:srgbClr val="121417"/>
              </a:solidFill>
              <a:latin typeface="Canva Sans"/>
              <a:ea typeface="Canva Sans"/>
              <a:cs typeface="Canva Sans"/>
              <a:sym typeface="Canva Sans"/>
            </a:endParaRPr>
          </a:p>
          <a:p>
            <a:pPr algn="l">
              <a:lnSpc>
                <a:spcPts val="3219"/>
              </a:lnSpc>
            </a:pPr>
            <a:r>
              <a:rPr lang="en-US" sz="2299">
                <a:solidFill>
                  <a:srgbClr val="121417"/>
                </a:solidFill>
                <a:latin typeface="Canva Sans"/>
                <a:ea typeface="Canva Sans"/>
                <a:cs typeface="Canva Sans"/>
                <a:sym typeface="Canva Sans"/>
              </a:rPr>
              <a:t>Consequently, the combination of strong contextual understanding from Qwen and robust classification capabilities from SVM produced the highest overall classification accuracy.</a:t>
            </a:r>
          </a:p>
          <a:p>
            <a:pPr algn="l">
              <a:lnSpc>
                <a:spcPts val="3219"/>
              </a:lnSpc>
            </a:pPr>
            <a:endParaRPr lang="en-US" sz="2299">
              <a:solidFill>
                <a:srgbClr val="121417"/>
              </a:solidFill>
              <a:latin typeface="Canva Sans"/>
              <a:ea typeface="Canva Sans"/>
              <a:cs typeface="Canva Sans"/>
              <a:sym typeface="Canv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flipH="1">
            <a:off x="12420904" y="4332261"/>
            <a:ext cx="5464284" cy="5464284"/>
          </a:xfrm>
          <a:custGeom>
            <a:avLst/>
            <a:gdLst/>
            <a:ahLst/>
            <a:cxnLst/>
            <a:rect l="l" t="t" r="r" b="b"/>
            <a:pathLst>
              <a:path w="5464284" h="5464284">
                <a:moveTo>
                  <a:pt x="5464284" y="0"/>
                </a:moveTo>
                <a:lnTo>
                  <a:pt x="0" y="0"/>
                </a:lnTo>
                <a:lnTo>
                  <a:pt x="0" y="5464284"/>
                </a:lnTo>
                <a:lnTo>
                  <a:pt x="5464284" y="5464284"/>
                </a:lnTo>
                <a:lnTo>
                  <a:pt x="5464284"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664478" y="7190031"/>
            <a:ext cx="305513" cy="144424"/>
          </a:xfrm>
          <a:custGeom>
            <a:avLst/>
            <a:gdLst/>
            <a:ahLst/>
            <a:cxnLst/>
            <a:rect l="l" t="t" r="r" b="b"/>
            <a:pathLst>
              <a:path w="305513" h="144424">
                <a:moveTo>
                  <a:pt x="0" y="0"/>
                </a:moveTo>
                <a:lnTo>
                  <a:pt x="305512" y="0"/>
                </a:lnTo>
                <a:lnTo>
                  <a:pt x="305512" y="144424"/>
                </a:lnTo>
                <a:lnTo>
                  <a:pt x="0" y="1444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2934622" y="4911629"/>
            <a:ext cx="12418756" cy="1358897"/>
          </a:xfrm>
          <a:prstGeom prst="rect">
            <a:avLst/>
          </a:prstGeom>
        </p:spPr>
        <p:txBody>
          <a:bodyPr lIns="0" tIns="0" rIns="0" bIns="0" rtlCol="0" anchor="t">
            <a:spAutoFit/>
          </a:bodyPr>
          <a:lstStyle/>
          <a:p>
            <a:pPr algn="l">
              <a:lnSpc>
                <a:spcPts val="10449"/>
              </a:lnSpc>
            </a:pPr>
            <a:r>
              <a:rPr lang="en-US" sz="9499">
                <a:solidFill>
                  <a:srgbClr val="121417"/>
                </a:solidFill>
                <a:latin typeface="Canva Sans"/>
                <a:ea typeface="Canva Sans"/>
                <a:cs typeface="Canva Sans"/>
                <a:sym typeface="Canva Sans"/>
              </a:rPr>
              <a:t>Machine Translation</a:t>
            </a:r>
          </a:p>
        </p:txBody>
      </p:sp>
      <p:sp>
        <p:nvSpPr>
          <p:cNvPr id="5" name="Freeform 5"/>
          <p:cNvSpPr/>
          <p:nvPr/>
        </p:nvSpPr>
        <p:spPr>
          <a:xfrm rot="-10800000" flipH="1">
            <a:off x="499880" y="654034"/>
            <a:ext cx="5220935" cy="5220935"/>
          </a:xfrm>
          <a:custGeom>
            <a:avLst/>
            <a:gdLst/>
            <a:ahLst/>
            <a:cxnLst/>
            <a:rect l="l" t="t" r="r" b="b"/>
            <a:pathLst>
              <a:path w="5220935" h="5220935">
                <a:moveTo>
                  <a:pt x="5220935" y="0"/>
                </a:moveTo>
                <a:lnTo>
                  <a:pt x="0" y="0"/>
                </a:lnTo>
                <a:lnTo>
                  <a:pt x="0" y="5220935"/>
                </a:lnTo>
                <a:lnTo>
                  <a:pt x="5220935" y="5220935"/>
                </a:lnTo>
                <a:lnTo>
                  <a:pt x="5220935"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1028700" y="1213420"/>
            <a:ext cx="5069290" cy="857250"/>
          </a:xfrm>
          <a:prstGeom prst="rect">
            <a:avLst/>
          </a:prstGeom>
        </p:spPr>
        <p:txBody>
          <a:bodyPr lIns="0" tIns="0" rIns="0" bIns="0" rtlCol="0" anchor="t">
            <a:spAutoFit/>
          </a:bodyPr>
          <a:lstStyle/>
          <a:p>
            <a:pPr algn="l">
              <a:lnSpc>
                <a:spcPts val="6600"/>
              </a:lnSpc>
            </a:pPr>
            <a:r>
              <a:rPr lang="en-US" sz="6000">
                <a:solidFill>
                  <a:srgbClr val="121417"/>
                </a:solidFill>
                <a:latin typeface="Canva Sans"/>
                <a:ea typeface="Canva Sans"/>
                <a:cs typeface="Canva Sans"/>
                <a:sym typeface="Canva Sans"/>
              </a:rPr>
              <a:t>GPT-4o-mini</a:t>
            </a:r>
          </a:p>
        </p:txBody>
      </p:sp>
      <p:sp>
        <p:nvSpPr>
          <p:cNvPr id="3" name="TextBox 3"/>
          <p:cNvSpPr txBox="1"/>
          <p:nvPr/>
        </p:nvSpPr>
        <p:spPr>
          <a:xfrm>
            <a:off x="1562030" y="2326290"/>
            <a:ext cx="16230600" cy="789305"/>
          </a:xfrm>
          <a:prstGeom prst="rect">
            <a:avLst/>
          </a:prstGeom>
        </p:spPr>
        <p:txBody>
          <a:bodyPr lIns="0" tIns="0" rIns="0" bIns="0" rtlCol="0" anchor="t">
            <a:spAutoFit/>
          </a:bodyPr>
          <a:lstStyle/>
          <a:p>
            <a:pPr algn="l">
              <a:lnSpc>
                <a:spcPts val="3219"/>
              </a:lnSpc>
            </a:pPr>
            <a:r>
              <a:rPr lang="en-US" sz="2299">
                <a:solidFill>
                  <a:srgbClr val="121417"/>
                </a:solidFill>
                <a:latin typeface="Canva Sans"/>
                <a:ea typeface="Canva Sans"/>
                <a:cs typeface="Canva Sans"/>
                <a:sym typeface="Canva Sans"/>
              </a:rPr>
              <a:t>GPT-4o-mini is lightweight Large Language Model (LLM) developed by openai,  trained on large multilingual text corpora and can understand and generate text in multiple languages such as Arabic and English</a:t>
            </a:r>
          </a:p>
        </p:txBody>
      </p:sp>
      <p:sp>
        <p:nvSpPr>
          <p:cNvPr id="4" name="Freeform 4"/>
          <p:cNvSpPr/>
          <p:nvPr/>
        </p:nvSpPr>
        <p:spPr>
          <a:xfrm>
            <a:off x="1562030" y="3742211"/>
            <a:ext cx="663025" cy="729327"/>
          </a:xfrm>
          <a:custGeom>
            <a:avLst/>
            <a:gdLst/>
            <a:ahLst/>
            <a:cxnLst/>
            <a:rect l="l" t="t" r="r" b="b"/>
            <a:pathLst>
              <a:path w="663025" h="729327">
                <a:moveTo>
                  <a:pt x="0" y="0"/>
                </a:moveTo>
                <a:lnTo>
                  <a:pt x="663025" y="0"/>
                </a:lnTo>
                <a:lnTo>
                  <a:pt x="663025" y="729327"/>
                </a:lnTo>
                <a:lnTo>
                  <a:pt x="0" y="72932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TextBox 5"/>
          <p:cNvSpPr txBox="1"/>
          <p:nvPr/>
        </p:nvSpPr>
        <p:spPr>
          <a:xfrm>
            <a:off x="1562030" y="3931963"/>
            <a:ext cx="718649" cy="368920"/>
          </a:xfrm>
          <a:prstGeom prst="rect">
            <a:avLst/>
          </a:prstGeom>
        </p:spPr>
        <p:txBody>
          <a:bodyPr lIns="0" tIns="0" rIns="0" bIns="0" rtlCol="0" anchor="t">
            <a:spAutoFit/>
          </a:bodyPr>
          <a:lstStyle/>
          <a:p>
            <a:pPr algn="ctr">
              <a:lnSpc>
                <a:spcPts val="2800"/>
              </a:lnSpc>
            </a:pPr>
            <a:r>
              <a:rPr lang="en-US" sz="2545" b="1">
                <a:solidFill>
                  <a:srgbClr val="121417"/>
                </a:solidFill>
                <a:latin typeface="Canva Sans Bold"/>
                <a:ea typeface="Canva Sans Bold"/>
                <a:cs typeface="Canva Sans Bold"/>
                <a:sym typeface="Canva Sans Bold"/>
              </a:rPr>
              <a:t>01</a:t>
            </a:r>
          </a:p>
        </p:txBody>
      </p:sp>
      <p:sp>
        <p:nvSpPr>
          <p:cNvPr id="6" name="TextBox 6"/>
          <p:cNvSpPr txBox="1"/>
          <p:nvPr/>
        </p:nvSpPr>
        <p:spPr>
          <a:xfrm>
            <a:off x="2435872" y="3845587"/>
            <a:ext cx="4610486" cy="389255"/>
          </a:xfrm>
          <a:prstGeom prst="rect">
            <a:avLst/>
          </a:prstGeom>
        </p:spPr>
        <p:txBody>
          <a:bodyPr lIns="0" tIns="0" rIns="0" bIns="0" rtlCol="0" anchor="t">
            <a:spAutoFit/>
          </a:bodyPr>
          <a:lstStyle/>
          <a:p>
            <a:pPr algn="l">
              <a:lnSpc>
                <a:spcPts val="3219"/>
              </a:lnSpc>
            </a:pPr>
            <a:r>
              <a:rPr lang="en-US" sz="2299">
                <a:solidFill>
                  <a:srgbClr val="121417"/>
                </a:solidFill>
                <a:latin typeface="Canva Sans"/>
                <a:ea typeface="Canva Sans"/>
                <a:cs typeface="Canva Sans"/>
                <a:sym typeface="Canva Sans"/>
              </a:rPr>
              <a:t>Strong Multilingual Capabilities</a:t>
            </a:r>
          </a:p>
        </p:txBody>
      </p:sp>
      <p:sp>
        <p:nvSpPr>
          <p:cNvPr id="7" name="TextBox 7"/>
          <p:cNvSpPr txBox="1"/>
          <p:nvPr/>
        </p:nvSpPr>
        <p:spPr>
          <a:xfrm>
            <a:off x="2637607" y="4423913"/>
            <a:ext cx="5817857" cy="1406525"/>
          </a:xfrm>
          <a:prstGeom prst="rect">
            <a:avLst/>
          </a:prstGeom>
        </p:spPr>
        <p:txBody>
          <a:bodyPr lIns="0" tIns="0" rIns="0" bIns="0" rtlCol="0" anchor="t">
            <a:spAutoFit/>
          </a:bodyPr>
          <a:lstStyle/>
          <a:p>
            <a:pPr algn="l">
              <a:lnSpc>
                <a:spcPts val="2800"/>
              </a:lnSpc>
            </a:pPr>
            <a:r>
              <a:rPr lang="en-US" sz="2000">
                <a:solidFill>
                  <a:srgbClr val="121417"/>
                </a:solidFill>
                <a:latin typeface="Canva Sans"/>
                <a:ea typeface="Canva Sans"/>
                <a:cs typeface="Canva Sans"/>
                <a:sym typeface="Canva Sans"/>
              </a:rPr>
              <a:t>capable of understanding Arabic and generating fluent English text which make it suitable for Arabic to English machine translation tasks</a:t>
            </a:r>
          </a:p>
        </p:txBody>
      </p:sp>
      <p:sp>
        <p:nvSpPr>
          <p:cNvPr id="8" name="Freeform 8"/>
          <p:cNvSpPr/>
          <p:nvPr/>
        </p:nvSpPr>
        <p:spPr>
          <a:xfrm>
            <a:off x="9317454" y="3420395"/>
            <a:ext cx="663025" cy="729327"/>
          </a:xfrm>
          <a:custGeom>
            <a:avLst/>
            <a:gdLst/>
            <a:ahLst/>
            <a:cxnLst/>
            <a:rect l="l" t="t" r="r" b="b"/>
            <a:pathLst>
              <a:path w="663025" h="729327">
                <a:moveTo>
                  <a:pt x="0" y="0"/>
                </a:moveTo>
                <a:lnTo>
                  <a:pt x="663025" y="0"/>
                </a:lnTo>
                <a:lnTo>
                  <a:pt x="663025" y="729327"/>
                </a:lnTo>
                <a:lnTo>
                  <a:pt x="0" y="72932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9" name="TextBox 9"/>
          <p:cNvSpPr txBox="1"/>
          <p:nvPr/>
        </p:nvSpPr>
        <p:spPr>
          <a:xfrm>
            <a:off x="9317454" y="3610147"/>
            <a:ext cx="718649" cy="368920"/>
          </a:xfrm>
          <a:prstGeom prst="rect">
            <a:avLst/>
          </a:prstGeom>
        </p:spPr>
        <p:txBody>
          <a:bodyPr lIns="0" tIns="0" rIns="0" bIns="0" rtlCol="0" anchor="t">
            <a:spAutoFit/>
          </a:bodyPr>
          <a:lstStyle/>
          <a:p>
            <a:pPr algn="ctr">
              <a:lnSpc>
                <a:spcPts val="2800"/>
              </a:lnSpc>
            </a:pPr>
            <a:r>
              <a:rPr lang="en-US" sz="2545" b="1">
                <a:solidFill>
                  <a:srgbClr val="121417"/>
                </a:solidFill>
                <a:latin typeface="Canva Sans Bold"/>
                <a:ea typeface="Canva Sans Bold"/>
                <a:cs typeface="Canva Sans Bold"/>
                <a:sym typeface="Canva Sans Bold"/>
              </a:rPr>
              <a:t>03</a:t>
            </a:r>
          </a:p>
        </p:txBody>
      </p:sp>
      <p:sp>
        <p:nvSpPr>
          <p:cNvPr id="10" name="TextBox 10"/>
          <p:cNvSpPr txBox="1"/>
          <p:nvPr/>
        </p:nvSpPr>
        <p:spPr>
          <a:xfrm>
            <a:off x="10393031" y="4102097"/>
            <a:ext cx="7399599" cy="1054100"/>
          </a:xfrm>
          <a:prstGeom prst="rect">
            <a:avLst/>
          </a:prstGeom>
        </p:spPr>
        <p:txBody>
          <a:bodyPr lIns="0" tIns="0" rIns="0" bIns="0" rtlCol="0" anchor="t">
            <a:spAutoFit/>
          </a:bodyPr>
          <a:lstStyle/>
          <a:p>
            <a:pPr algn="l">
              <a:lnSpc>
                <a:spcPts val="2800"/>
              </a:lnSpc>
            </a:pPr>
            <a:r>
              <a:rPr lang="en-US" sz="2000">
                <a:solidFill>
                  <a:srgbClr val="121417"/>
                </a:solidFill>
                <a:latin typeface="Canva Sans"/>
                <a:ea typeface="Canva Sans"/>
                <a:cs typeface="Canva Sans"/>
                <a:sym typeface="Canva Sans"/>
              </a:rPr>
              <a:t>Unlike rule based translation systems and early statistical machine translation approaches, GPT-4o-mini considers the entire sentence context when generating translations</a:t>
            </a:r>
          </a:p>
        </p:txBody>
      </p:sp>
      <p:sp>
        <p:nvSpPr>
          <p:cNvPr id="11" name="TextBox 11"/>
          <p:cNvSpPr txBox="1"/>
          <p:nvPr/>
        </p:nvSpPr>
        <p:spPr>
          <a:xfrm>
            <a:off x="10393031" y="3523771"/>
            <a:ext cx="5808871" cy="389255"/>
          </a:xfrm>
          <a:prstGeom prst="rect">
            <a:avLst/>
          </a:prstGeom>
        </p:spPr>
        <p:txBody>
          <a:bodyPr lIns="0" tIns="0" rIns="0" bIns="0" rtlCol="0" anchor="t">
            <a:spAutoFit/>
          </a:bodyPr>
          <a:lstStyle/>
          <a:p>
            <a:pPr algn="l">
              <a:lnSpc>
                <a:spcPts val="3219"/>
              </a:lnSpc>
            </a:pPr>
            <a:r>
              <a:rPr lang="en-US" sz="2299">
                <a:solidFill>
                  <a:srgbClr val="121417"/>
                </a:solidFill>
                <a:latin typeface="Canva Sans"/>
                <a:ea typeface="Canva Sans"/>
                <a:cs typeface="Canva Sans"/>
                <a:sym typeface="Canva Sans"/>
              </a:rPr>
              <a:t>Context Aware Translation</a:t>
            </a:r>
          </a:p>
        </p:txBody>
      </p:sp>
      <p:sp>
        <p:nvSpPr>
          <p:cNvPr id="12" name="Freeform 12"/>
          <p:cNvSpPr/>
          <p:nvPr/>
        </p:nvSpPr>
        <p:spPr>
          <a:xfrm>
            <a:off x="1562030" y="6199110"/>
            <a:ext cx="663025" cy="729327"/>
          </a:xfrm>
          <a:custGeom>
            <a:avLst/>
            <a:gdLst/>
            <a:ahLst/>
            <a:cxnLst/>
            <a:rect l="l" t="t" r="r" b="b"/>
            <a:pathLst>
              <a:path w="663025" h="729327">
                <a:moveTo>
                  <a:pt x="0" y="0"/>
                </a:moveTo>
                <a:lnTo>
                  <a:pt x="663025" y="0"/>
                </a:lnTo>
                <a:lnTo>
                  <a:pt x="663025" y="729327"/>
                </a:lnTo>
                <a:lnTo>
                  <a:pt x="0" y="72932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3" name="TextBox 13"/>
          <p:cNvSpPr txBox="1"/>
          <p:nvPr/>
        </p:nvSpPr>
        <p:spPr>
          <a:xfrm>
            <a:off x="1562030" y="6388861"/>
            <a:ext cx="718649" cy="368920"/>
          </a:xfrm>
          <a:prstGeom prst="rect">
            <a:avLst/>
          </a:prstGeom>
        </p:spPr>
        <p:txBody>
          <a:bodyPr lIns="0" tIns="0" rIns="0" bIns="0" rtlCol="0" anchor="t">
            <a:spAutoFit/>
          </a:bodyPr>
          <a:lstStyle/>
          <a:p>
            <a:pPr algn="ctr">
              <a:lnSpc>
                <a:spcPts val="2800"/>
              </a:lnSpc>
            </a:pPr>
            <a:r>
              <a:rPr lang="en-US" sz="2545" b="1">
                <a:solidFill>
                  <a:srgbClr val="121417"/>
                </a:solidFill>
                <a:latin typeface="Canva Sans Bold"/>
                <a:ea typeface="Canva Sans Bold"/>
                <a:cs typeface="Canva Sans Bold"/>
                <a:sym typeface="Canva Sans Bold"/>
              </a:rPr>
              <a:t>02</a:t>
            </a:r>
          </a:p>
        </p:txBody>
      </p:sp>
      <p:sp>
        <p:nvSpPr>
          <p:cNvPr id="14" name="TextBox 14"/>
          <p:cNvSpPr txBox="1"/>
          <p:nvPr/>
        </p:nvSpPr>
        <p:spPr>
          <a:xfrm>
            <a:off x="2435872" y="6302486"/>
            <a:ext cx="3570762" cy="389255"/>
          </a:xfrm>
          <a:prstGeom prst="rect">
            <a:avLst/>
          </a:prstGeom>
        </p:spPr>
        <p:txBody>
          <a:bodyPr lIns="0" tIns="0" rIns="0" bIns="0" rtlCol="0" anchor="t">
            <a:spAutoFit/>
          </a:bodyPr>
          <a:lstStyle/>
          <a:p>
            <a:pPr algn="l">
              <a:lnSpc>
                <a:spcPts val="3219"/>
              </a:lnSpc>
            </a:pPr>
            <a:r>
              <a:rPr lang="en-US" sz="2299">
                <a:solidFill>
                  <a:srgbClr val="121417"/>
                </a:solidFill>
                <a:latin typeface="Canva Sans"/>
                <a:ea typeface="Canva Sans"/>
                <a:cs typeface="Canva Sans"/>
                <a:sym typeface="Canva Sans"/>
              </a:rPr>
              <a:t>No Training Required</a:t>
            </a:r>
          </a:p>
        </p:txBody>
      </p:sp>
      <p:sp>
        <p:nvSpPr>
          <p:cNvPr id="15" name="TextBox 15"/>
          <p:cNvSpPr txBox="1"/>
          <p:nvPr/>
        </p:nvSpPr>
        <p:spPr>
          <a:xfrm>
            <a:off x="2637607" y="6880812"/>
            <a:ext cx="5906128" cy="1406525"/>
          </a:xfrm>
          <a:prstGeom prst="rect">
            <a:avLst/>
          </a:prstGeom>
        </p:spPr>
        <p:txBody>
          <a:bodyPr lIns="0" tIns="0" rIns="0" bIns="0" rtlCol="0" anchor="t">
            <a:spAutoFit/>
          </a:bodyPr>
          <a:lstStyle/>
          <a:p>
            <a:pPr algn="l">
              <a:lnSpc>
                <a:spcPts val="2800"/>
              </a:lnSpc>
            </a:pPr>
            <a:r>
              <a:rPr lang="en-US" sz="2000">
                <a:solidFill>
                  <a:srgbClr val="121417"/>
                </a:solidFill>
                <a:latin typeface="Canva Sans"/>
                <a:ea typeface="Canva Sans"/>
                <a:cs typeface="Canva Sans"/>
                <a:sym typeface="Canva Sans"/>
              </a:rPr>
              <a:t>The model is already pretrained on massive datasets which eliminate the need for collecting bilingual corpora or training  custom neural machine translation model</a:t>
            </a:r>
          </a:p>
        </p:txBody>
      </p:sp>
      <p:sp>
        <p:nvSpPr>
          <p:cNvPr id="16" name="Freeform 16"/>
          <p:cNvSpPr/>
          <p:nvPr/>
        </p:nvSpPr>
        <p:spPr>
          <a:xfrm>
            <a:off x="9317454" y="5719223"/>
            <a:ext cx="663025" cy="729327"/>
          </a:xfrm>
          <a:custGeom>
            <a:avLst/>
            <a:gdLst/>
            <a:ahLst/>
            <a:cxnLst/>
            <a:rect l="l" t="t" r="r" b="b"/>
            <a:pathLst>
              <a:path w="663025" h="729327">
                <a:moveTo>
                  <a:pt x="0" y="0"/>
                </a:moveTo>
                <a:lnTo>
                  <a:pt x="663025" y="0"/>
                </a:lnTo>
                <a:lnTo>
                  <a:pt x="663025" y="729328"/>
                </a:lnTo>
                <a:lnTo>
                  <a:pt x="0" y="72932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7" name="TextBox 17"/>
          <p:cNvSpPr txBox="1"/>
          <p:nvPr/>
        </p:nvSpPr>
        <p:spPr>
          <a:xfrm>
            <a:off x="9317454" y="5908975"/>
            <a:ext cx="718649" cy="368920"/>
          </a:xfrm>
          <a:prstGeom prst="rect">
            <a:avLst/>
          </a:prstGeom>
        </p:spPr>
        <p:txBody>
          <a:bodyPr lIns="0" tIns="0" rIns="0" bIns="0" rtlCol="0" anchor="t">
            <a:spAutoFit/>
          </a:bodyPr>
          <a:lstStyle/>
          <a:p>
            <a:pPr algn="ctr">
              <a:lnSpc>
                <a:spcPts val="2800"/>
              </a:lnSpc>
            </a:pPr>
            <a:r>
              <a:rPr lang="en-US" sz="2545" b="1">
                <a:solidFill>
                  <a:srgbClr val="121417"/>
                </a:solidFill>
                <a:latin typeface="Canva Sans Bold"/>
                <a:ea typeface="Canva Sans Bold"/>
                <a:cs typeface="Canva Sans Bold"/>
                <a:sym typeface="Canva Sans Bold"/>
              </a:rPr>
              <a:t>04</a:t>
            </a:r>
          </a:p>
        </p:txBody>
      </p:sp>
      <p:sp>
        <p:nvSpPr>
          <p:cNvPr id="18" name="TextBox 18"/>
          <p:cNvSpPr txBox="1"/>
          <p:nvPr/>
        </p:nvSpPr>
        <p:spPr>
          <a:xfrm>
            <a:off x="10393031" y="6402355"/>
            <a:ext cx="7735521" cy="701675"/>
          </a:xfrm>
          <a:prstGeom prst="rect">
            <a:avLst/>
          </a:prstGeom>
        </p:spPr>
        <p:txBody>
          <a:bodyPr lIns="0" tIns="0" rIns="0" bIns="0" rtlCol="0" anchor="t">
            <a:spAutoFit/>
          </a:bodyPr>
          <a:lstStyle/>
          <a:p>
            <a:pPr algn="l">
              <a:lnSpc>
                <a:spcPts val="2800"/>
              </a:lnSpc>
            </a:pPr>
            <a:r>
              <a:rPr lang="en-US" sz="2000">
                <a:solidFill>
                  <a:srgbClr val="121417"/>
                </a:solidFill>
                <a:latin typeface="Canva Sans"/>
                <a:ea typeface="Canva Sans"/>
                <a:cs typeface="Canva Sans"/>
                <a:sym typeface="Canva Sans"/>
              </a:rPr>
              <a:t>API can be integrated directly into NLP applications enabling fast deployment with minimal computational resources.</a:t>
            </a:r>
          </a:p>
        </p:txBody>
      </p:sp>
      <p:sp>
        <p:nvSpPr>
          <p:cNvPr id="19" name="TextBox 19"/>
          <p:cNvSpPr txBox="1"/>
          <p:nvPr/>
        </p:nvSpPr>
        <p:spPr>
          <a:xfrm>
            <a:off x="10393031" y="5822599"/>
            <a:ext cx="5808871" cy="389255"/>
          </a:xfrm>
          <a:prstGeom prst="rect">
            <a:avLst/>
          </a:prstGeom>
        </p:spPr>
        <p:txBody>
          <a:bodyPr lIns="0" tIns="0" rIns="0" bIns="0" rtlCol="0" anchor="t">
            <a:spAutoFit/>
          </a:bodyPr>
          <a:lstStyle/>
          <a:p>
            <a:pPr algn="l">
              <a:lnSpc>
                <a:spcPts val="3219"/>
              </a:lnSpc>
            </a:pPr>
            <a:r>
              <a:rPr lang="en-US" sz="2299">
                <a:solidFill>
                  <a:srgbClr val="121417"/>
                </a:solidFill>
                <a:latin typeface="Canva Sans"/>
                <a:ea typeface="Canva Sans"/>
                <a:cs typeface="Canva Sans"/>
                <a:sym typeface="Canva Sans"/>
              </a:rPr>
              <a:t>Easy Integration</a:t>
            </a:r>
          </a:p>
        </p:txBody>
      </p:sp>
      <p:sp>
        <p:nvSpPr>
          <p:cNvPr id="20" name="Freeform 20"/>
          <p:cNvSpPr/>
          <p:nvPr/>
        </p:nvSpPr>
        <p:spPr>
          <a:xfrm>
            <a:off x="9317454" y="7818404"/>
            <a:ext cx="663025" cy="729327"/>
          </a:xfrm>
          <a:custGeom>
            <a:avLst/>
            <a:gdLst/>
            <a:ahLst/>
            <a:cxnLst/>
            <a:rect l="l" t="t" r="r" b="b"/>
            <a:pathLst>
              <a:path w="663025" h="729327">
                <a:moveTo>
                  <a:pt x="0" y="0"/>
                </a:moveTo>
                <a:lnTo>
                  <a:pt x="663025" y="0"/>
                </a:lnTo>
                <a:lnTo>
                  <a:pt x="663025" y="729328"/>
                </a:lnTo>
                <a:lnTo>
                  <a:pt x="0" y="72932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21" name="TextBox 21"/>
          <p:cNvSpPr txBox="1"/>
          <p:nvPr/>
        </p:nvSpPr>
        <p:spPr>
          <a:xfrm>
            <a:off x="9317454" y="8008156"/>
            <a:ext cx="718649" cy="368920"/>
          </a:xfrm>
          <a:prstGeom prst="rect">
            <a:avLst/>
          </a:prstGeom>
        </p:spPr>
        <p:txBody>
          <a:bodyPr lIns="0" tIns="0" rIns="0" bIns="0" rtlCol="0" anchor="t">
            <a:spAutoFit/>
          </a:bodyPr>
          <a:lstStyle/>
          <a:p>
            <a:pPr algn="ctr">
              <a:lnSpc>
                <a:spcPts val="2800"/>
              </a:lnSpc>
            </a:pPr>
            <a:r>
              <a:rPr lang="en-US" sz="2545" b="1">
                <a:solidFill>
                  <a:srgbClr val="121417"/>
                </a:solidFill>
                <a:latin typeface="Canva Sans Bold"/>
                <a:ea typeface="Canva Sans Bold"/>
                <a:cs typeface="Canva Sans Bold"/>
                <a:sym typeface="Canva Sans Bold"/>
              </a:rPr>
              <a:t>05</a:t>
            </a:r>
          </a:p>
        </p:txBody>
      </p:sp>
      <p:sp>
        <p:nvSpPr>
          <p:cNvPr id="22" name="TextBox 22"/>
          <p:cNvSpPr txBox="1"/>
          <p:nvPr/>
        </p:nvSpPr>
        <p:spPr>
          <a:xfrm>
            <a:off x="10393031" y="8501536"/>
            <a:ext cx="7735521" cy="1054100"/>
          </a:xfrm>
          <a:prstGeom prst="rect">
            <a:avLst/>
          </a:prstGeom>
        </p:spPr>
        <p:txBody>
          <a:bodyPr lIns="0" tIns="0" rIns="0" bIns="0" rtlCol="0" anchor="t">
            <a:spAutoFit/>
          </a:bodyPr>
          <a:lstStyle/>
          <a:p>
            <a:pPr algn="l">
              <a:lnSpc>
                <a:spcPts val="2800"/>
              </a:lnSpc>
            </a:pPr>
            <a:r>
              <a:rPr lang="en-US" sz="2000">
                <a:solidFill>
                  <a:srgbClr val="121417"/>
                </a:solidFill>
                <a:latin typeface="Canva Sans"/>
                <a:ea typeface="Canva Sans"/>
                <a:cs typeface="Canva Sans"/>
                <a:sym typeface="Canva Sans"/>
              </a:rPr>
              <a:t>The generated translations are typically more fluent and contextually appropriate which help preserve the original meaning of Arabic questions and answers</a:t>
            </a:r>
          </a:p>
        </p:txBody>
      </p:sp>
      <p:sp>
        <p:nvSpPr>
          <p:cNvPr id="23" name="TextBox 23"/>
          <p:cNvSpPr txBox="1"/>
          <p:nvPr/>
        </p:nvSpPr>
        <p:spPr>
          <a:xfrm>
            <a:off x="10393031" y="7921781"/>
            <a:ext cx="5808871" cy="389255"/>
          </a:xfrm>
          <a:prstGeom prst="rect">
            <a:avLst/>
          </a:prstGeom>
        </p:spPr>
        <p:txBody>
          <a:bodyPr lIns="0" tIns="0" rIns="0" bIns="0" rtlCol="0" anchor="t">
            <a:spAutoFit/>
          </a:bodyPr>
          <a:lstStyle/>
          <a:p>
            <a:pPr algn="l">
              <a:lnSpc>
                <a:spcPts val="3219"/>
              </a:lnSpc>
            </a:pPr>
            <a:r>
              <a:rPr lang="en-US" sz="2299">
                <a:solidFill>
                  <a:srgbClr val="121417"/>
                </a:solidFill>
                <a:latin typeface="Canva Sans"/>
                <a:ea typeface="Canva Sans"/>
                <a:cs typeface="Canva Sans"/>
                <a:sym typeface="Canva Sans"/>
              </a:rPr>
              <a:t>High Fluency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flipH="1" flipV="1">
            <a:off x="0" y="8219440"/>
            <a:ext cx="3124060" cy="2067560"/>
          </a:xfrm>
          <a:custGeom>
            <a:avLst/>
            <a:gdLst/>
            <a:ahLst/>
            <a:cxnLst/>
            <a:rect l="l" t="t" r="r" b="b"/>
            <a:pathLst>
              <a:path w="3124060" h="2067560">
                <a:moveTo>
                  <a:pt x="3124060" y="2067560"/>
                </a:moveTo>
                <a:lnTo>
                  <a:pt x="0" y="2067560"/>
                </a:lnTo>
                <a:lnTo>
                  <a:pt x="0" y="0"/>
                </a:lnTo>
                <a:lnTo>
                  <a:pt x="3124060" y="0"/>
                </a:lnTo>
                <a:lnTo>
                  <a:pt x="3124060" y="206756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3" name="TextBox 3"/>
          <p:cNvSpPr txBox="1"/>
          <p:nvPr/>
        </p:nvSpPr>
        <p:spPr>
          <a:xfrm>
            <a:off x="1028700" y="1213420"/>
            <a:ext cx="5069290" cy="857250"/>
          </a:xfrm>
          <a:prstGeom prst="rect">
            <a:avLst/>
          </a:prstGeom>
        </p:spPr>
        <p:txBody>
          <a:bodyPr lIns="0" tIns="0" rIns="0" bIns="0" rtlCol="0" anchor="t">
            <a:spAutoFit/>
          </a:bodyPr>
          <a:lstStyle/>
          <a:p>
            <a:pPr algn="l">
              <a:lnSpc>
                <a:spcPts val="6600"/>
              </a:lnSpc>
            </a:pPr>
            <a:r>
              <a:rPr lang="en-US" sz="6000">
                <a:solidFill>
                  <a:srgbClr val="121417"/>
                </a:solidFill>
                <a:latin typeface="Canva Sans"/>
                <a:ea typeface="Canva Sans"/>
                <a:cs typeface="Canva Sans"/>
                <a:sym typeface="Canva Sans"/>
              </a:rPr>
              <a:t>GPT-4o-mini</a:t>
            </a:r>
          </a:p>
        </p:txBody>
      </p:sp>
      <p:sp>
        <p:nvSpPr>
          <p:cNvPr id="4" name="TextBox 4"/>
          <p:cNvSpPr txBox="1"/>
          <p:nvPr/>
        </p:nvSpPr>
        <p:spPr>
          <a:xfrm>
            <a:off x="1180477" y="2499097"/>
            <a:ext cx="4502779" cy="905510"/>
          </a:xfrm>
          <a:prstGeom prst="rect">
            <a:avLst/>
          </a:prstGeom>
        </p:spPr>
        <p:txBody>
          <a:bodyPr lIns="0" tIns="0" rIns="0" bIns="0" rtlCol="0" anchor="t">
            <a:spAutoFit/>
          </a:bodyPr>
          <a:lstStyle/>
          <a:p>
            <a:pPr algn="l">
              <a:lnSpc>
                <a:spcPts val="3639"/>
              </a:lnSpc>
            </a:pPr>
            <a:r>
              <a:rPr lang="en-US" sz="2599">
                <a:solidFill>
                  <a:srgbClr val="121417"/>
                </a:solidFill>
                <a:latin typeface="Canva Sans"/>
                <a:ea typeface="Canva Sans"/>
                <a:cs typeface="Canva Sans"/>
                <a:sym typeface="Canva Sans"/>
              </a:rPr>
              <a:t>Why GPT ??</a:t>
            </a:r>
          </a:p>
          <a:p>
            <a:pPr algn="l">
              <a:lnSpc>
                <a:spcPts val="3639"/>
              </a:lnSpc>
            </a:pPr>
            <a:endParaRPr lang="en-US" sz="2599">
              <a:solidFill>
                <a:srgbClr val="121417"/>
              </a:solidFill>
              <a:latin typeface="Canva Sans"/>
              <a:ea typeface="Canva Sans"/>
              <a:cs typeface="Canva Sans"/>
              <a:sym typeface="Canva Sans"/>
            </a:endParaRPr>
          </a:p>
        </p:txBody>
      </p:sp>
      <p:sp>
        <p:nvSpPr>
          <p:cNvPr id="5" name="TextBox 5"/>
          <p:cNvSpPr txBox="1"/>
          <p:nvPr/>
        </p:nvSpPr>
        <p:spPr>
          <a:xfrm>
            <a:off x="1318804" y="3347457"/>
            <a:ext cx="15650393" cy="3798570"/>
          </a:xfrm>
          <a:prstGeom prst="rect">
            <a:avLst/>
          </a:prstGeom>
        </p:spPr>
        <p:txBody>
          <a:bodyPr lIns="0" tIns="0" rIns="0" bIns="0" rtlCol="0" anchor="t">
            <a:spAutoFit/>
          </a:bodyPr>
          <a:lstStyle/>
          <a:p>
            <a:pPr marL="582927" lvl="1" indent="-291463" algn="l">
              <a:lnSpc>
                <a:spcPts val="3779"/>
              </a:lnSpc>
              <a:buFont typeface="Arial"/>
              <a:buChar char="•"/>
            </a:pPr>
            <a:r>
              <a:rPr lang="en-US" sz="2699">
                <a:solidFill>
                  <a:srgbClr val="121417"/>
                </a:solidFill>
                <a:latin typeface="Canva Sans"/>
                <a:ea typeface="Canva Sans"/>
                <a:cs typeface="Canva Sans"/>
                <a:sym typeface="Canva Sans"/>
              </a:rPr>
              <a:t>GPT-4o-mini can be integrated directly through an API and produces high quality translations without requiring model training, fine-tuning or complex preprocessing steps.</a:t>
            </a:r>
          </a:p>
          <a:p>
            <a:pPr algn="l">
              <a:lnSpc>
                <a:spcPts val="3779"/>
              </a:lnSpc>
            </a:pPr>
            <a:endParaRPr lang="en-US" sz="2699">
              <a:solidFill>
                <a:srgbClr val="121417"/>
              </a:solidFill>
              <a:latin typeface="Canva Sans"/>
              <a:ea typeface="Canva Sans"/>
              <a:cs typeface="Canva Sans"/>
              <a:sym typeface="Canva Sans"/>
            </a:endParaRPr>
          </a:p>
          <a:p>
            <a:pPr marL="582927" lvl="1" indent="-291463" algn="l">
              <a:lnSpc>
                <a:spcPts val="3779"/>
              </a:lnSpc>
              <a:buFont typeface="Arial"/>
              <a:buChar char="•"/>
            </a:pPr>
            <a:r>
              <a:rPr lang="en-US" sz="2699">
                <a:solidFill>
                  <a:srgbClr val="121417"/>
                </a:solidFill>
                <a:latin typeface="Canva Sans"/>
                <a:ea typeface="Canva Sans"/>
                <a:cs typeface="Canva Sans"/>
                <a:sym typeface="Canva Sans"/>
              </a:rPr>
              <a:t>While Running , GPT-4o-mini is faster and provided translations in shorter response times</a:t>
            </a:r>
          </a:p>
          <a:p>
            <a:pPr algn="l">
              <a:lnSpc>
                <a:spcPts val="3779"/>
              </a:lnSpc>
            </a:pPr>
            <a:endParaRPr lang="en-US" sz="2699">
              <a:solidFill>
                <a:srgbClr val="121417"/>
              </a:solidFill>
              <a:latin typeface="Canva Sans"/>
              <a:ea typeface="Canva Sans"/>
              <a:cs typeface="Canva Sans"/>
              <a:sym typeface="Canva Sans"/>
            </a:endParaRPr>
          </a:p>
          <a:p>
            <a:pPr marL="582927" lvl="1" indent="-291463" algn="l">
              <a:lnSpc>
                <a:spcPts val="3779"/>
              </a:lnSpc>
              <a:buFont typeface="Arial"/>
              <a:buChar char="•"/>
            </a:pPr>
            <a:r>
              <a:rPr lang="en-US" sz="2699">
                <a:solidFill>
                  <a:srgbClr val="121417"/>
                </a:solidFill>
                <a:latin typeface="Canva Sans"/>
                <a:ea typeface="Canva Sans"/>
                <a:cs typeface="Canva Sans"/>
                <a:sym typeface="Canva Sans"/>
              </a:rPr>
              <a:t>GPT-4o-mini is designed as lightweight and cost efficient member of the GPT family, providing good balance between translation quality, speed and computational efficiency.</a:t>
            </a:r>
          </a:p>
          <a:p>
            <a:pPr algn="l">
              <a:lnSpc>
                <a:spcPts val="3779"/>
              </a:lnSpc>
            </a:pPr>
            <a:endParaRPr lang="en-US" sz="2699">
              <a:solidFill>
                <a:srgbClr val="121417"/>
              </a:solidFill>
              <a:latin typeface="Canva Sans"/>
              <a:ea typeface="Canva Sans"/>
              <a:cs typeface="Canva Sans"/>
              <a:sym typeface="Canva Sans"/>
            </a:endParaRPr>
          </a:p>
        </p:txBody>
      </p:sp>
      <p:sp>
        <p:nvSpPr>
          <p:cNvPr id="6" name="TextBox 6"/>
          <p:cNvSpPr txBox="1"/>
          <p:nvPr/>
        </p:nvSpPr>
        <p:spPr>
          <a:xfrm>
            <a:off x="6630263" y="9527509"/>
            <a:ext cx="11354872" cy="389255"/>
          </a:xfrm>
          <a:prstGeom prst="rect">
            <a:avLst/>
          </a:prstGeom>
        </p:spPr>
        <p:txBody>
          <a:bodyPr lIns="0" tIns="0" rIns="0" bIns="0" rtlCol="0" anchor="t">
            <a:spAutoFit/>
          </a:bodyPr>
          <a:lstStyle/>
          <a:p>
            <a:pPr algn="ctr">
              <a:lnSpc>
                <a:spcPts val="3219"/>
              </a:lnSpc>
              <a:spcBef>
                <a:spcPct val="0"/>
              </a:spcBef>
            </a:pPr>
            <a:r>
              <a:rPr lang="en-US" sz="2299" u="sng">
                <a:solidFill>
                  <a:srgbClr val="121417"/>
                </a:solidFill>
                <a:latin typeface="Canva Sans"/>
                <a:ea typeface="Canva Sans"/>
                <a:cs typeface="Canva Sans"/>
                <a:sym typeface="Canva Sans"/>
                <a:hlinkClick r:id="rId3" tooltip="https://arxiv.org/abs/2302.09210"/>
              </a:rPr>
              <a:t> How Good Are GPT Models at Machine Translation? A Comprehensive Evaluation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flipH="1">
            <a:off x="12420904" y="4332261"/>
            <a:ext cx="5464284" cy="5464284"/>
          </a:xfrm>
          <a:custGeom>
            <a:avLst/>
            <a:gdLst/>
            <a:ahLst/>
            <a:cxnLst/>
            <a:rect l="l" t="t" r="r" b="b"/>
            <a:pathLst>
              <a:path w="5464284" h="5464284">
                <a:moveTo>
                  <a:pt x="5464284" y="0"/>
                </a:moveTo>
                <a:lnTo>
                  <a:pt x="0" y="0"/>
                </a:lnTo>
                <a:lnTo>
                  <a:pt x="0" y="5464284"/>
                </a:lnTo>
                <a:lnTo>
                  <a:pt x="5464284" y="5464284"/>
                </a:lnTo>
                <a:lnTo>
                  <a:pt x="5464284"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664478" y="7190031"/>
            <a:ext cx="305513" cy="144424"/>
          </a:xfrm>
          <a:custGeom>
            <a:avLst/>
            <a:gdLst/>
            <a:ahLst/>
            <a:cxnLst/>
            <a:rect l="l" t="t" r="r" b="b"/>
            <a:pathLst>
              <a:path w="305513" h="144424">
                <a:moveTo>
                  <a:pt x="0" y="0"/>
                </a:moveTo>
                <a:lnTo>
                  <a:pt x="305512" y="0"/>
                </a:lnTo>
                <a:lnTo>
                  <a:pt x="305512" y="144424"/>
                </a:lnTo>
                <a:lnTo>
                  <a:pt x="0" y="1444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2934622" y="4911629"/>
            <a:ext cx="12418756" cy="1358897"/>
          </a:xfrm>
          <a:prstGeom prst="rect">
            <a:avLst/>
          </a:prstGeom>
        </p:spPr>
        <p:txBody>
          <a:bodyPr lIns="0" tIns="0" rIns="0" bIns="0" rtlCol="0" anchor="t">
            <a:spAutoFit/>
          </a:bodyPr>
          <a:lstStyle/>
          <a:p>
            <a:pPr algn="l">
              <a:lnSpc>
                <a:spcPts val="10449"/>
              </a:lnSpc>
            </a:pPr>
            <a:r>
              <a:rPr lang="en-US" sz="9499">
                <a:solidFill>
                  <a:srgbClr val="121417"/>
                </a:solidFill>
                <a:latin typeface="Canva Sans"/>
                <a:ea typeface="Canva Sans"/>
                <a:cs typeface="Canva Sans"/>
                <a:sym typeface="Canva Sans"/>
              </a:rPr>
              <a:t>Question Answering </a:t>
            </a:r>
          </a:p>
        </p:txBody>
      </p:sp>
      <p:sp>
        <p:nvSpPr>
          <p:cNvPr id="5" name="Freeform 5"/>
          <p:cNvSpPr/>
          <p:nvPr/>
        </p:nvSpPr>
        <p:spPr>
          <a:xfrm rot="-10800000" flipH="1">
            <a:off x="499880" y="654034"/>
            <a:ext cx="5220935" cy="5220935"/>
          </a:xfrm>
          <a:custGeom>
            <a:avLst/>
            <a:gdLst/>
            <a:ahLst/>
            <a:cxnLst/>
            <a:rect l="l" t="t" r="r" b="b"/>
            <a:pathLst>
              <a:path w="5220935" h="5220935">
                <a:moveTo>
                  <a:pt x="5220935" y="0"/>
                </a:moveTo>
                <a:lnTo>
                  <a:pt x="0" y="0"/>
                </a:lnTo>
                <a:lnTo>
                  <a:pt x="0" y="5220935"/>
                </a:lnTo>
                <a:lnTo>
                  <a:pt x="5220935" y="5220935"/>
                </a:lnTo>
                <a:lnTo>
                  <a:pt x="5220935"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a:off x="1664478" y="7190031"/>
            <a:ext cx="305513" cy="144424"/>
          </a:xfrm>
          <a:custGeom>
            <a:avLst/>
            <a:gdLst/>
            <a:ahLst/>
            <a:cxnLst/>
            <a:rect l="l" t="t" r="r" b="b"/>
            <a:pathLst>
              <a:path w="305513" h="144424">
                <a:moveTo>
                  <a:pt x="0" y="0"/>
                </a:moveTo>
                <a:lnTo>
                  <a:pt x="305512" y="0"/>
                </a:lnTo>
                <a:lnTo>
                  <a:pt x="305512" y="144424"/>
                </a:lnTo>
                <a:lnTo>
                  <a:pt x="0" y="1444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2919496" y="3303060"/>
            <a:ext cx="11498700" cy="4190703"/>
          </a:xfrm>
          <a:custGeom>
            <a:avLst/>
            <a:gdLst/>
            <a:ahLst/>
            <a:cxnLst/>
            <a:rect l="l" t="t" r="r" b="b"/>
            <a:pathLst>
              <a:path w="11498700" h="4190703">
                <a:moveTo>
                  <a:pt x="0" y="0"/>
                </a:moveTo>
                <a:lnTo>
                  <a:pt x="11498700" y="0"/>
                </a:lnTo>
                <a:lnTo>
                  <a:pt x="11498700" y="4190703"/>
                </a:lnTo>
                <a:lnTo>
                  <a:pt x="0" y="4190703"/>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885676" y="1307126"/>
            <a:ext cx="14516648" cy="1266824"/>
          </a:xfrm>
          <a:prstGeom prst="rect">
            <a:avLst/>
          </a:prstGeom>
        </p:spPr>
        <p:txBody>
          <a:bodyPr lIns="0" tIns="0" rIns="0" bIns="0" rtlCol="0" anchor="t">
            <a:spAutoFit/>
          </a:bodyPr>
          <a:lstStyle/>
          <a:p>
            <a:pPr algn="l">
              <a:lnSpc>
                <a:spcPts val="9899"/>
              </a:lnSpc>
            </a:pPr>
            <a:r>
              <a:rPr lang="en-US" sz="8999">
                <a:solidFill>
                  <a:srgbClr val="121417"/>
                </a:solidFill>
                <a:latin typeface="Canva Sans"/>
                <a:ea typeface="Canva Sans"/>
                <a:cs typeface="Canva Sans"/>
                <a:sym typeface="Canva Sans"/>
              </a:rPr>
              <a:t>Transformer-Based QA </a:t>
            </a:r>
          </a:p>
        </p:txBody>
      </p:sp>
      <p:sp>
        <p:nvSpPr>
          <p:cNvPr id="5" name="TextBox 5"/>
          <p:cNvSpPr txBox="1"/>
          <p:nvPr/>
        </p:nvSpPr>
        <p:spPr>
          <a:xfrm>
            <a:off x="2113866" y="8170038"/>
            <a:ext cx="14060268" cy="464820"/>
          </a:xfrm>
          <a:prstGeom prst="rect">
            <a:avLst/>
          </a:prstGeom>
        </p:spPr>
        <p:txBody>
          <a:bodyPr lIns="0" tIns="0" rIns="0" bIns="0" rtlCol="0" anchor="t">
            <a:spAutoFit/>
          </a:bodyPr>
          <a:lstStyle/>
          <a:p>
            <a:pPr algn="l">
              <a:lnSpc>
                <a:spcPts val="3779"/>
              </a:lnSpc>
            </a:pPr>
            <a:r>
              <a:rPr lang="en-US" sz="2699" b="1">
                <a:solidFill>
                  <a:srgbClr val="121417"/>
                </a:solidFill>
                <a:latin typeface="Canva Sans Bold"/>
                <a:ea typeface="Canva Sans Bold"/>
                <a:cs typeface="Canva Sans Bold"/>
                <a:sym typeface="Canva Sans Bold"/>
              </a:rPr>
              <a:t>The results reveal an interesting trade-off between loss values and answer quality!!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a:off x="1664478" y="7190031"/>
            <a:ext cx="305513" cy="144424"/>
          </a:xfrm>
          <a:custGeom>
            <a:avLst/>
            <a:gdLst/>
            <a:ahLst/>
            <a:cxnLst/>
            <a:rect l="l" t="t" r="r" b="b"/>
            <a:pathLst>
              <a:path w="305513" h="144424">
                <a:moveTo>
                  <a:pt x="0" y="0"/>
                </a:moveTo>
                <a:lnTo>
                  <a:pt x="305512" y="0"/>
                </a:lnTo>
                <a:lnTo>
                  <a:pt x="305512" y="144424"/>
                </a:lnTo>
                <a:lnTo>
                  <a:pt x="0" y="1444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1885676" y="1027682"/>
            <a:ext cx="14516648" cy="1266824"/>
          </a:xfrm>
          <a:prstGeom prst="rect">
            <a:avLst/>
          </a:prstGeom>
        </p:spPr>
        <p:txBody>
          <a:bodyPr lIns="0" tIns="0" rIns="0" bIns="0" rtlCol="0" anchor="t">
            <a:spAutoFit/>
          </a:bodyPr>
          <a:lstStyle/>
          <a:p>
            <a:pPr algn="l">
              <a:lnSpc>
                <a:spcPts val="9899"/>
              </a:lnSpc>
            </a:pPr>
            <a:r>
              <a:rPr lang="en-US" sz="8999">
                <a:solidFill>
                  <a:srgbClr val="121417"/>
                </a:solidFill>
                <a:latin typeface="Canva Sans"/>
                <a:ea typeface="Canva Sans"/>
                <a:cs typeface="Canva Sans"/>
                <a:sym typeface="Canva Sans"/>
              </a:rPr>
              <a:t>Transformer-Based QA </a:t>
            </a:r>
          </a:p>
        </p:txBody>
      </p:sp>
      <p:sp>
        <p:nvSpPr>
          <p:cNvPr id="4" name="TextBox 4"/>
          <p:cNvSpPr txBox="1"/>
          <p:nvPr/>
        </p:nvSpPr>
        <p:spPr>
          <a:xfrm>
            <a:off x="1288908" y="2701658"/>
            <a:ext cx="15710183" cy="6263640"/>
          </a:xfrm>
          <a:prstGeom prst="rect">
            <a:avLst/>
          </a:prstGeom>
        </p:spPr>
        <p:txBody>
          <a:bodyPr lIns="0" tIns="0" rIns="0" bIns="0" rtlCol="0" anchor="t">
            <a:spAutoFit/>
          </a:bodyPr>
          <a:lstStyle/>
          <a:p>
            <a:pPr algn="l">
              <a:lnSpc>
                <a:spcPts val="3359"/>
              </a:lnSpc>
            </a:pPr>
            <a:endParaRPr/>
          </a:p>
          <a:p>
            <a:pPr marL="518158" lvl="1" indent="-259079" algn="l">
              <a:lnSpc>
                <a:spcPts val="3359"/>
              </a:lnSpc>
              <a:buFont typeface="Arial"/>
              <a:buChar char="•"/>
            </a:pPr>
            <a:r>
              <a:rPr lang="en-US" sz="2399">
                <a:solidFill>
                  <a:srgbClr val="121417"/>
                </a:solidFill>
                <a:latin typeface="Canva Sans"/>
                <a:ea typeface="Canva Sans"/>
                <a:cs typeface="Canva Sans"/>
                <a:sym typeface="Canva Sans"/>
              </a:rPr>
              <a:t>Although Qwen achieved the lowest validation loss (1.21), it obtained the lowest BLEU score (2.73)</a:t>
            </a:r>
          </a:p>
          <a:p>
            <a:pPr marL="518158" lvl="1" indent="-259079" algn="l">
              <a:lnSpc>
                <a:spcPts val="3359"/>
              </a:lnSpc>
              <a:buFont typeface="Arial"/>
              <a:buChar char="•"/>
            </a:pPr>
            <a:r>
              <a:rPr lang="en-US" sz="2399">
                <a:solidFill>
                  <a:srgbClr val="121417"/>
                </a:solidFill>
                <a:latin typeface="Canva Sans"/>
                <a:ea typeface="Canva Sans"/>
                <a:cs typeface="Canva Sans"/>
                <a:sym typeface="Canva Sans"/>
              </a:rPr>
              <a:t>In contrast, mT5 achieved the highest BLEU score (13.54) despite having the highest validation loss</a:t>
            </a:r>
          </a:p>
          <a:p>
            <a:pPr algn="l">
              <a:lnSpc>
                <a:spcPts val="3359"/>
              </a:lnSpc>
            </a:pPr>
            <a:endParaRPr lang="en-US" sz="2399">
              <a:solidFill>
                <a:srgbClr val="121417"/>
              </a:solidFill>
              <a:latin typeface="Canva Sans"/>
              <a:ea typeface="Canva Sans"/>
              <a:cs typeface="Canva Sans"/>
              <a:sym typeface="Canva Sans"/>
            </a:endParaRPr>
          </a:p>
          <a:p>
            <a:pPr algn="l">
              <a:lnSpc>
                <a:spcPts val="3359"/>
              </a:lnSpc>
            </a:pPr>
            <a:r>
              <a:rPr lang="en-US" sz="2399">
                <a:solidFill>
                  <a:srgbClr val="121417"/>
                </a:solidFill>
                <a:latin typeface="Canva Sans"/>
                <a:ea typeface="Canva Sans"/>
                <a:cs typeface="Canva Sans"/>
                <a:sym typeface="Canva Sans"/>
              </a:rPr>
              <a:t>This suggests that lower loss value does not necessarily mean better answer generation quality. While Qwen learned the training distribution effectively, the generated answers were less similar to the reference answers used for BLEU evaluation.</a:t>
            </a:r>
          </a:p>
          <a:p>
            <a:pPr algn="l">
              <a:lnSpc>
                <a:spcPts val="3359"/>
              </a:lnSpc>
            </a:pPr>
            <a:endParaRPr lang="en-US" sz="2399">
              <a:solidFill>
                <a:srgbClr val="121417"/>
              </a:solidFill>
              <a:latin typeface="Canva Sans"/>
              <a:ea typeface="Canva Sans"/>
              <a:cs typeface="Canva Sans"/>
              <a:sym typeface="Canva Sans"/>
            </a:endParaRPr>
          </a:p>
          <a:p>
            <a:pPr algn="l">
              <a:lnSpc>
                <a:spcPts val="3359"/>
              </a:lnSpc>
            </a:pPr>
            <a:r>
              <a:rPr lang="en-US" sz="2399">
                <a:solidFill>
                  <a:srgbClr val="121417"/>
                </a:solidFill>
                <a:latin typeface="Canva Sans"/>
                <a:ea typeface="Canva Sans"/>
                <a:cs typeface="Canva Sans"/>
                <a:sym typeface="Canva Sans"/>
              </a:rPr>
              <a:t>On the other hand, mT5 is specifically designed for text to text tasks including question answering, translation and summarization as its architecture is optimized to generate target sequences that closely match reference outputs which explains its highest BLEU performance.</a:t>
            </a:r>
          </a:p>
          <a:p>
            <a:pPr algn="l">
              <a:lnSpc>
                <a:spcPts val="3359"/>
              </a:lnSpc>
            </a:pPr>
            <a:endParaRPr lang="en-US" sz="2399">
              <a:solidFill>
                <a:srgbClr val="121417"/>
              </a:solidFill>
              <a:latin typeface="Canva Sans"/>
              <a:ea typeface="Canva Sans"/>
              <a:cs typeface="Canva Sans"/>
              <a:sym typeface="Canva Sans"/>
            </a:endParaRPr>
          </a:p>
          <a:p>
            <a:pPr algn="l">
              <a:lnSpc>
                <a:spcPts val="3359"/>
              </a:lnSpc>
            </a:pPr>
            <a:r>
              <a:rPr lang="en-US" sz="2399">
                <a:solidFill>
                  <a:srgbClr val="121417"/>
                </a:solidFill>
                <a:latin typeface="Canva Sans"/>
                <a:ea typeface="Canva Sans"/>
                <a:cs typeface="Canva Sans"/>
                <a:sym typeface="Canva Sans"/>
              </a:rPr>
              <a:t>AraGPT2 achieved intermediate results which indicate better answer generation quality than Qwen but lower performance than mT5.</a:t>
            </a:r>
          </a:p>
          <a:p>
            <a:pPr algn="l">
              <a:lnSpc>
                <a:spcPts val="3359"/>
              </a:lnSpc>
            </a:pPr>
            <a:endParaRPr lang="en-US" sz="2399">
              <a:solidFill>
                <a:srgbClr val="121417"/>
              </a:solidFill>
              <a:latin typeface="Canva Sans"/>
              <a:ea typeface="Canva Sans"/>
              <a:cs typeface="Canva Sans"/>
              <a:sym typeface="Canva Sans"/>
            </a:endParaRPr>
          </a:p>
        </p:txBody>
      </p:sp>
      <p:sp>
        <p:nvSpPr>
          <p:cNvPr id="5" name="TextBox 5"/>
          <p:cNvSpPr txBox="1"/>
          <p:nvPr/>
        </p:nvSpPr>
        <p:spPr>
          <a:xfrm>
            <a:off x="16999092" y="9593731"/>
            <a:ext cx="633174" cy="335280"/>
          </a:xfrm>
          <a:prstGeom prst="rect">
            <a:avLst/>
          </a:prstGeom>
        </p:spPr>
        <p:txBody>
          <a:bodyPr lIns="0" tIns="0" rIns="0" bIns="0" rtlCol="0" anchor="t">
            <a:spAutoFit/>
          </a:bodyPr>
          <a:lstStyle/>
          <a:p>
            <a:pPr algn="ctr">
              <a:lnSpc>
                <a:spcPts val="2639"/>
              </a:lnSpc>
              <a:spcBef>
                <a:spcPct val="0"/>
              </a:spcBef>
            </a:pPr>
            <a:r>
              <a:rPr lang="en-US" sz="2399">
                <a:solidFill>
                  <a:srgbClr val="121417"/>
                </a:solidFill>
                <a:latin typeface="Canva Sans"/>
                <a:ea typeface="Canva Sans"/>
                <a:cs typeface="Canva Sans"/>
                <a:sym typeface="Canva Sans"/>
                <a:hlinkClick r:id="rId3" tooltip="https://research.google/pubs/mt5-a-massively-multilingual-pre-trained-text-to-text-transformer/"/>
              </a:rPr>
              <a:t>MT5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a:off x="1664478" y="7190031"/>
            <a:ext cx="305513" cy="144424"/>
          </a:xfrm>
          <a:custGeom>
            <a:avLst/>
            <a:gdLst/>
            <a:ahLst/>
            <a:cxnLst/>
            <a:rect l="l" t="t" r="r" b="b"/>
            <a:pathLst>
              <a:path w="305513" h="144424">
                <a:moveTo>
                  <a:pt x="0" y="0"/>
                </a:moveTo>
                <a:lnTo>
                  <a:pt x="305512" y="0"/>
                </a:lnTo>
                <a:lnTo>
                  <a:pt x="305512" y="144424"/>
                </a:lnTo>
                <a:lnTo>
                  <a:pt x="0" y="1444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1885676" y="1027682"/>
            <a:ext cx="14516648" cy="1266824"/>
          </a:xfrm>
          <a:prstGeom prst="rect">
            <a:avLst/>
          </a:prstGeom>
        </p:spPr>
        <p:txBody>
          <a:bodyPr lIns="0" tIns="0" rIns="0" bIns="0" rtlCol="0" anchor="t">
            <a:spAutoFit/>
          </a:bodyPr>
          <a:lstStyle/>
          <a:p>
            <a:pPr algn="l">
              <a:lnSpc>
                <a:spcPts val="9899"/>
              </a:lnSpc>
            </a:pPr>
            <a:r>
              <a:rPr lang="en-US" sz="8999">
                <a:solidFill>
                  <a:srgbClr val="121417"/>
                </a:solidFill>
                <a:latin typeface="Canva Sans"/>
                <a:ea typeface="Canva Sans"/>
                <a:cs typeface="Canva Sans"/>
                <a:sym typeface="Canva Sans"/>
              </a:rPr>
              <a:t>Transformer-Based QA </a:t>
            </a:r>
          </a:p>
        </p:txBody>
      </p:sp>
      <p:sp>
        <p:nvSpPr>
          <p:cNvPr id="4" name="TextBox 4"/>
          <p:cNvSpPr txBox="1"/>
          <p:nvPr/>
        </p:nvSpPr>
        <p:spPr>
          <a:xfrm>
            <a:off x="1288908" y="2701658"/>
            <a:ext cx="15710183" cy="2491740"/>
          </a:xfrm>
          <a:prstGeom prst="rect">
            <a:avLst/>
          </a:prstGeom>
        </p:spPr>
        <p:txBody>
          <a:bodyPr lIns="0" tIns="0" rIns="0" bIns="0" rtlCol="0" anchor="t">
            <a:spAutoFit/>
          </a:bodyPr>
          <a:lstStyle/>
          <a:p>
            <a:pPr algn="ctr">
              <a:lnSpc>
                <a:spcPts val="3359"/>
              </a:lnSpc>
            </a:pPr>
            <a:endParaRPr/>
          </a:p>
          <a:p>
            <a:pPr algn="ctr">
              <a:lnSpc>
                <a:spcPts val="3359"/>
              </a:lnSpc>
            </a:pPr>
            <a:r>
              <a:rPr lang="en-US" sz="2399">
                <a:solidFill>
                  <a:srgbClr val="121417"/>
                </a:solidFill>
                <a:latin typeface="Canva Sans"/>
                <a:ea typeface="Canva Sans"/>
                <a:cs typeface="Canva Sans"/>
                <a:sym typeface="Canva Sans"/>
              </a:rPr>
              <a:t>mT5 achieved the highest BLEU score because it follows the text-to-text learning paradigm where tasks such as question answering, translation and summarization are formulated as sequence generation problems. This training objective enables the model to generate answers that more closely match reference responses </a:t>
            </a:r>
          </a:p>
          <a:p>
            <a:pPr algn="ctr">
              <a:lnSpc>
                <a:spcPts val="3359"/>
              </a:lnSpc>
            </a:pPr>
            <a:endParaRPr lang="en-US" sz="2399">
              <a:solidFill>
                <a:srgbClr val="121417"/>
              </a:solidFill>
              <a:latin typeface="Canva Sans"/>
              <a:ea typeface="Canva Sans"/>
              <a:cs typeface="Canva Sans"/>
              <a:sym typeface="Canva Sans"/>
            </a:endParaRPr>
          </a:p>
        </p:txBody>
      </p:sp>
      <p:sp>
        <p:nvSpPr>
          <p:cNvPr id="5" name="TextBox 5"/>
          <p:cNvSpPr txBox="1"/>
          <p:nvPr/>
        </p:nvSpPr>
        <p:spPr>
          <a:xfrm>
            <a:off x="16999092" y="9593731"/>
            <a:ext cx="633174" cy="335280"/>
          </a:xfrm>
          <a:prstGeom prst="rect">
            <a:avLst/>
          </a:prstGeom>
        </p:spPr>
        <p:txBody>
          <a:bodyPr lIns="0" tIns="0" rIns="0" bIns="0" rtlCol="0" anchor="t">
            <a:spAutoFit/>
          </a:bodyPr>
          <a:lstStyle/>
          <a:p>
            <a:pPr algn="ctr">
              <a:lnSpc>
                <a:spcPts val="2639"/>
              </a:lnSpc>
              <a:spcBef>
                <a:spcPct val="0"/>
              </a:spcBef>
            </a:pPr>
            <a:r>
              <a:rPr lang="en-US" sz="2399">
                <a:solidFill>
                  <a:srgbClr val="121417"/>
                </a:solidFill>
                <a:latin typeface="Canva Sans"/>
                <a:ea typeface="Canva Sans"/>
                <a:cs typeface="Canva Sans"/>
                <a:sym typeface="Canva Sans"/>
                <a:hlinkClick r:id="rId3" tooltip="https://research.google/pubs/mt5-a-massively-multilingual-pre-trained-text-to-text-transformer/"/>
              </a:rPr>
              <a:t>MT5</a:t>
            </a:r>
          </a:p>
        </p:txBody>
      </p:sp>
      <p:sp>
        <p:nvSpPr>
          <p:cNvPr id="6" name="TextBox 6"/>
          <p:cNvSpPr txBox="1"/>
          <p:nvPr/>
        </p:nvSpPr>
        <p:spPr>
          <a:xfrm>
            <a:off x="1288908" y="5427693"/>
            <a:ext cx="15710183" cy="2491740"/>
          </a:xfrm>
          <a:prstGeom prst="rect">
            <a:avLst/>
          </a:prstGeom>
        </p:spPr>
        <p:txBody>
          <a:bodyPr lIns="0" tIns="0" rIns="0" bIns="0" rtlCol="0" anchor="t">
            <a:spAutoFit/>
          </a:bodyPr>
          <a:lstStyle/>
          <a:p>
            <a:pPr algn="ctr">
              <a:lnSpc>
                <a:spcPts val="3359"/>
              </a:lnSpc>
            </a:pPr>
            <a:r>
              <a:rPr lang="en-US" sz="2399">
                <a:solidFill>
                  <a:srgbClr val="121417"/>
                </a:solidFill>
                <a:latin typeface="Canva Sans"/>
                <a:ea typeface="Canva Sans"/>
                <a:cs typeface="Canva Sans"/>
                <a:sym typeface="Canva Sans"/>
              </a:rPr>
              <a:t>Although mT5 achieved the best BLEU score among the transformer models, the BLEU value is relatively low. One possible reason is the limited size of the fine tuning dataset which contained approximately 5,000 question answer pairs. In addition, the model was fine-tuned for only three epochs due to available computational resources. Consequently, the model has not fully adapted to the domain specific patterns of the dataset leaving room for further performance improvement with larger datasets and longer training schedules.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a:off x="1664478" y="7190031"/>
            <a:ext cx="305513" cy="144424"/>
          </a:xfrm>
          <a:custGeom>
            <a:avLst/>
            <a:gdLst/>
            <a:ahLst/>
            <a:cxnLst/>
            <a:rect l="l" t="t" r="r" b="b"/>
            <a:pathLst>
              <a:path w="305513" h="144424">
                <a:moveTo>
                  <a:pt x="0" y="0"/>
                </a:moveTo>
                <a:lnTo>
                  <a:pt x="305512" y="0"/>
                </a:lnTo>
                <a:lnTo>
                  <a:pt x="305512" y="144424"/>
                </a:lnTo>
                <a:lnTo>
                  <a:pt x="0" y="1444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3776869" y="2111071"/>
            <a:ext cx="10734262" cy="3032429"/>
          </a:xfrm>
          <a:custGeom>
            <a:avLst/>
            <a:gdLst/>
            <a:ahLst/>
            <a:cxnLst/>
            <a:rect l="l" t="t" r="r" b="b"/>
            <a:pathLst>
              <a:path w="10734262" h="3032429">
                <a:moveTo>
                  <a:pt x="0" y="0"/>
                </a:moveTo>
                <a:lnTo>
                  <a:pt x="10734262" y="0"/>
                </a:lnTo>
                <a:lnTo>
                  <a:pt x="10734262" y="3032429"/>
                </a:lnTo>
                <a:lnTo>
                  <a:pt x="0" y="3032429"/>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2469763" y="459740"/>
            <a:ext cx="13348475" cy="1223645"/>
          </a:xfrm>
          <a:prstGeom prst="rect">
            <a:avLst/>
          </a:prstGeom>
        </p:spPr>
        <p:txBody>
          <a:bodyPr lIns="0" tIns="0" rIns="0" bIns="0" rtlCol="0" anchor="t">
            <a:spAutoFit/>
          </a:bodyPr>
          <a:lstStyle/>
          <a:p>
            <a:pPr algn="l">
              <a:lnSpc>
                <a:spcPts val="9460"/>
              </a:lnSpc>
            </a:pPr>
            <a:r>
              <a:rPr lang="en-US" sz="8600">
                <a:solidFill>
                  <a:srgbClr val="121417"/>
                </a:solidFill>
                <a:latin typeface="Canva Sans"/>
                <a:ea typeface="Canva Sans"/>
                <a:cs typeface="Canva Sans"/>
                <a:sym typeface="Canva Sans"/>
              </a:rPr>
              <a:t>RNN vs LSTM vs GRU</a:t>
            </a:r>
          </a:p>
        </p:txBody>
      </p:sp>
      <p:sp>
        <p:nvSpPr>
          <p:cNvPr id="5" name="TextBox 5"/>
          <p:cNvSpPr txBox="1"/>
          <p:nvPr/>
        </p:nvSpPr>
        <p:spPr>
          <a:xfrm>
            <a:off x="1288908" y="5043553"/>
            <a:ext cx="15710183" cy="4389755"/>
          </a:xfrm>
          <a:prstGeom prst="rect">
            <a:avLst/>
          </a:prstGeom>
        </p:spPr>
        <p:txBody>
          <a:bodyPr lIns="0" tIns="0" rIns="0" bIns="0" rtlCol="0" anchor="t">
            <a:spAutoFit/>
          </a:bodyPr>
          <a:lstStyle/>
          <a:p>
            <a:pPr algn="ctr">
              <a:lnSpc>
                <a:spcPts val="3219"/>
              </a:lnSpc>
            </a:pPr>
            <a:endParaRPr/>
          </a:p>
          <a:p>
            <a:pPr marL="496569" lvl="1" indent="-248284" algn="l">
              <a:lnSpc>
                <a:spcPts val="3219"/>
              </a:lnSpc>
              <a:buFont typeface="Arial"/>
              <a:buChar char="•"/>
            </a:pPr>
            <a:r>
              <a:rPr lang="en-US" sz="2299">
                <a:solidFill>
                  <a:srgbClr val="121417"/>
                </a:solidFill>
                <a:latin typeface="Canva Sans"/>
                <a:ea typeface="Canva Sans"/>
                <a:cs typeface="Canva Sans"/>
                <a:sym typeface="Canva Sans"/>
              </a:rPr>
              <a:t>Across all embedding representations, GRU achieved the highest validation accuracy and lowest validation loss which indicate that GRU provided the best balance between sequence learning capability and model complexity</a:t>
            </a:r>
          </a:p>
          <a:p>
            <a:pPr algn="l">
              <a:lnSpc>
                <a:spcPts val="3219"/>
              </a:lnSpc>
            </a:pPr>
            <a:endParaRPr lang="en-US" sz="2299">
              <a:solidFill>
                <a:srgbClr val="121417"/>
              </a:solidFill>
              <a:latin typeface="Canva Sans"/>
              <a:ea typeface="Canva Sans"/>
              <a:cs typeface="Canva Sans"/>
              <a:sym typeface="Canva Sans"/>
            </a:endParaRPr>
          </a:p>
          <a:p>
            <a:pPr marL="496569" lvl="1" indent="-248284" algn="l">
              <a:lnSpc>
                <a:spcPts val="3219"/>
              </a:lnSpc>
              <a:buFont typeface="Arial"/>
              <a:buChar char="•"/>
            </a:pPr>
            <a:r>
              <a:rPr lang="en-US" sz="2299">
                <a:solidFill>
                  <a:srgbClr val="121417"/>
                </a:solidFill>
                <a:latin typeface="Canva Sans"/>
                <a:ea typeface="Canva Sans"/>
                <a:cs typeface="Canva Sans"/>
                <a:sym typeface="Canva Sans"/>
              </a:rPr>
              <a:t>Unlike SimpleRNN, GRU employs gating mechanisms that help preserve information over longer sequences and mitigate the vanishing gradient problem. </a:t>
            </a:r>
          </a:p>
          <a:p>
            <a:pPr algn="l">
              <a:lnSpc>
                <a:spcPts val="3219"/>
              </a:lnSpc>
            </a:pPr>
            <a:endParaRPr lang="en-US" sz="2299">
              <a:solidFill>
                <a:srgbClr val="121417"/>
              </a:solidFill>
              <a:latin typeface="Canva Sans"/>
              <a:ea typeface="Canva Sans"/>
              <a:cs typeface="Canva Sans"/>
              <a:sym typeface="Canva Sans"/>
            </a:endParaRPr>
          </a:p>
          <a:p>
            <a:pPr marL="496569" lvl="1" indent="-248284" algn="l">
              <a:lnSpc>
                <a:spcPts val="3219"/>
              </a:lnSpc>
              <a:buFont typeface="Arial"/>
              <a:buChar char="•"/>
            </a:pPr>
            <a:r>
              <a:rPr lang="en-US" sz="2299">
                <a:solidFill>
                  <a:srgbClr val="121417"/>
                </a:solidFill>
                <a:latin typeface="Canva Sans"/>
                <a:ea typeface="Canva Sans"/>
                <a:cs typeface="Canva Sans"/>
                <a:sym typeface="Canva Sans"/>
              </a:rPr>
              <a:t>Compared to LSTM, GRU uses fewer parameters and simpler architecture which make optimization easier and reduce the risk of overfitting on our small dataset</a:t>
            </a:r>
          </a:p>
          <a:p>
            <a:pPr algn="ctr">
              <a:lnSpc>
                <a:spcPts val="3219"/>
              </a:lnSpc>
            </a:pPr>
            <a:endParaRPr lang="en-US" sz="2299">
              <a:solidFill>
                <a:srgbClr val="121417"/>
              </a:solidFill>
              <a:latin typeface="Canva Sans"/>
              <a:ea typeface="Canva Sans"/>
              <a:cs typeface="Canva Sans"/>
              <a:sym typeface="Canva Sans"/>
            </a:endParaRPr>
          </a:p>
        </p:txBody>
      </p:sp>
      <p:sp>
        <p:nvSpPr>
          <p:cNvPr id="6" name="TextBox 6"/>
          <p:cNvSpPr txBox="1"/>
          <p:nvPr/>
        </p:nvSpPr>
        <p:spPr>
          <a:xfrm>
            <a:off x="16999092" y="9696748"/>
            <a:ext cx="652105" cy="335285"/>
          </a:xfrm>
          <a:prstGeom prst="rect">
            <a:avLst/>
          </a:prstGeom>
        </p:spPr>
        <p:txBody>
          <a:bodyPr lIns="0" tIns="0" rIns="0" bIns="0" rtlCol="0" anchor="t">
            <a:spAutoFit/>
          </a:bodyPr>
          <a:lstStyle/>
          <a:p>
            <a:pPr algn="ctr">
              <a:lnSpc>
                <a:spcPts val="2640"/>
              </a:lnSpc>
              <a:spcBef>
                <a:spcPct val="0"/>
              </a:spcBef>
            </a:pPr>
            <a:r>
              <a:rPr lang="en-US" sz="2400">
                <a:solidFill>
                  <a:srgbClr val="121417"/>
                </a:solidFill>
                <a:latin typeface="Canva Sans"/>
                <a:ea typeface="Canva Sans"/>
                <a:cs typeface="Canva Sans"/>
                <a:sym typeface="Canva Sans"/>
              </a:rPr>
              <a:t>GRU</a:t>
            </a:r>
          </a:p>
        </p:txBody>
      </p:sp>
      <p:sp>
        <p:nvSpPr>
          <p:cNvPr id="7" name="TextBox 7"/>
          <p:cNvSpPr txBox="1"/>
          <p:nvPr/>
        </p:nvSpPr>
        <p:spPr>
          <a:xfrm>
            <a:off x="16013487" y="9696748"/>
            <a:ext cx="652105" cy="335285"/>
          </a:xfrm>
          <a:prstGeom prst="rect">
            <a:avLst/>
          </a:prstGeom>
        </p:spPr>
        <p:txBody>
          <a:bodyPr lIns="0" tIns="0" rIns="0" bIns="0" rtlCol="0" anchor="t">
            <a:spAutoFit/>
          </a:bodyPr>
          <a:lstStyle/>
          <a:p>
            <a:pPr algn="ctr">
              <a:lnSpc>
                <a:spcPts val="2640"/>
              </a:lnSpc>
              <a:spcBef>
                <a:spcPct val="0"/>
              </a:spcBef>
            </a:pPr>
            <a:r>
              <a:rPr lang="en-US" sz="2400">
                <a:solidFill>
                  <a:srgbClr val="121417"/>
                </a:solidFill>
                <a:latin typeface="Canva Sans"/>
                <a:ea typeface="Canva Sans"/>
                <a:cs typeface="Canva Sans"/>
                <a:sym typeface="Canva Sans"/>
                <a:hlinkClick r:id="rId4" tooltip="https://arxiv.org/abs/1412.3555"/>
              </a:rPr>
              <a:t>GRU</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a:off x="1664478" y="7190031"/>
            <a:ext cx="305513" cy="144424"/>
          </a:xfrm>
          <a:custGeom>
            <a:avLst/>
            <a:gdLst/>
            <a:ahLst/>
            <a:cxnLst/>
            <a:rect l="l" t="t" r="r" b="b"/>
            <a:pathLst>
              <a:path w="305513" h="144424">
                <a:moveTo>
                  <a:pt x="0" y="0"/>
                </a:moveTo>
                <a:lnTo>
                  <a:pt x="305512" y="0"/>
                </a:lnTo>
                <a:lnTo>
                  <a:pt x="305512" y="144424"/>
                </a:lnTo>
                <a:lnTo>
                  <a:pt x="0" y="1444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p:nvSpPr>
        <p:spPr>
          <a:xfrm>
            <a:off x="2469763" y="1114425"/>
            <a:ext cx="13348475" cy="1223645"/>
          </a:xfrm>
          <a:prstGeom prst="rect">
            <a:avLst/>
          </a:prstGeom>
        </p:spPr>
        <p:txBody>
          <a:bodyPr lIns="0" tIns="0" rIns="0" bIns="0" rtlCol="0" anchor="t">
            <a:spAutoFit/>
          </a:bodyPr>
          <a:lstStyle/>
          <a:p>
            <a:pPr algn="l">
              <a:lnSpc>
                <a:spcPts val="9460"/>
              </a:lnSpc>
            </a:pPr>
            <a:r>
              <a:rPr lang="en-US" sz="8600">
                <a:solidFill>
                  <a:srgbClr val="121417"/>
                </a:solidFill>
                <a:latin typeface="Canva Sans"/>
                <a:ea typeface="Canva Sans"/>
                <a:cs typeface="Canva Sans"/>
                <a:sym typeface="Canva Sans"/>
              </a:rPr>
              <a:t>Embedding Comparison </a:t>
            </a:r>
          </a:p>
        </p:txBody>
      </p:sp>
      <p:sp>
        <p:nvSpPr>
          <p:cNvPr id="5" name="TextBox 5"/>
          <p:cNvSpPr txBox="1"/>
          <p:nvPr/>
        </p:nvSpPr>
        <p:spPr>
          <a:xfrm>
            <a:off x="859950" y="3156422"/>
            <a:ext cx="9198563" cy="5592445"/>
          </a:xfrm>
          <a:prstGeom prst="rect">
            <a:avLst/>
          </a:prstGeom>
        </p:spPr>
        <p:txBody>
          <a:bodyPr lIns="0" tIns="0" rIns="0" bIns="0" rtlCol="0" anchor="t">
            <a:spAutoFit/>
          </a:bodyPr>
          <a:lstStyle/>
          <a:p>
            <a:pPr algn="ctr">
              <a:lnSpc>
                <a:spcPts val="3219"/>
              </a:lnSpc>
            </a:pPr>
            <a:endParaRPr/>
          </a:p>
          <a:p>
            <a:pPr marL="453390" lvl="1" indent="-226695" algn="l">
              <a:lnSpc>
                <a:spcPts val="2940"/>
              </a:lnSpc>
              <a:buFont typeface="Arial"/>
              <a:buChar char="•"/>
            </a:pPr>
            <a:r>
              <a:rPr lang="en-US" sz="2100">
                <a:solidFill>
                  <a:srgbClr val="121417"/>
                </a:solidFill>
                <a:latin typeface="Canva Sans"/>
                <a:ea typeface="Canva Sans"/>
                <a:cs typeface="Canva Sans"/>
                <a:sym typeface="Canva Sans"/>
              </a:rPr>
              <a:t>FastText achieved higher performance than contextual transformer embeddings within the Seq2Seq architecture.</a:t>
            </a:r>
          </a:p>
          <a:p>
            <a:pPr algn="l">
              <a:lnSpc>
                <a:spcPts val="2940"/>
              </a:lnSpc>
            </a:pPr>
            <a:endParaRPr lang="en-US" sz="2100">
              <a:solidFill>
                <a:srgbClr val="121417"/>
              </a:solidFill>
              <a:latin typeface="Canva Sans"/>
              <a:ea typeface="Canva Sans"/>
              <a:cs typeface="Canva Sans"/>
              <a:sym typeface="Canva Sans"/>
            </a:endParaRPr>
          </a:p>
          <a:p>
            <a:pPr marL="453390" lvl="1" indent="-226695" algn="l">
              <a:lnSpc>
                <a:spcPts val="2940"/>
              </a:lnSpc>
              <a:buFont typeface="Arial"/>
              <a:buChar char="•"/>
            </a:pPr>
            <a:r>
              <a:rPr lang="en-US" sz="2100">
                <a:solidFill>
                  <a:srgbClr val="121417"/>
                </a:solidFill>
                <a:latin typeface="Canva Sans"/>
                <a:ea typeface="Canva Sans"/>
                <a:cs typeface="Canva Sans"/>
                <a:sym typeface="Canva Sans"/>
              </a:rPr>
              <a:t> This is because FastText provides relatively simple token level representations while preserving subword information through character n-grams which is particularly beneficial for morphologically rich languages such as Arabic. </a:t>
            </a:r>
          </a:p>
          <a:p>
            <a:pPr algn="l">
              <a:lnSpc>
                <a:spcPts val="2940"/>
              </a:lnSpc>
            </a:pPr>
            <a:endParaRPr lang="en-US" sz="2100">
              <a:solidFill>
                <a:srgbClr val="121417"/>
              </a:solidFill>
              <a:latin typeface="Canva Sans"/>
              <a:ea typeface="Canva Sans"/>
              <a:cs typeface="Canva Sans"/>
              <a:sym typeface="Canva Sans"/>
            </a:endParaRPr>
          </a:p>
          <a:p>
            <a:pPr marL="453390" lvl="1" indent="-226695" algn="l">
              <a:lnSpc>
                <a:spcPts val="2940"/>
              </a:lnSpc>
              <a:buFont typeface="Arial"/>
              <a:buChar char="•"/>
            </a:pPr>
            <a:r>
              <a:rPr lang="en-US" sz="2100">
                <a:solidFill>
                  <a:srgbClr val="121417"/>
                </a:solidFill>
                <a:latin typeface="Canva Sans"/>
                <a:ea typeface="Canva Sans"/>
                <a:cs typeface="Canva Sans"/>
                <a:sym typeface="Canva Sans"/>
              </a:rPr>
              <a:t>Furthermore, the limited training dataset (~5,000 samples) may not have been sufficient to fully exploit the rich contextual information contained in transformer based embeddings. As a result, the GRU encoder-decoder architecture was able to learn task-specific sequential patterns more effectively from FastText representations which lead to better overall performance.</a:t>
            </a:r>
          </a:p>
        </p:txBody>
      </p:sp>
      <p:graphicFrame>
        <p:nvGraphicFramePr>
          <p:cNvPr id="6" name="Table 5">
            <a:extLst>
              <a:ext uri="{FF2B5EF4-FFF2-40B4-BE49-F238E27FC236}">
                <a16:creationId xmlns:a16="http://schemas.microsoft.com/office/drawing/2014/main" id="{90D15877-2651-5DF8-A131-D7DE32B3EC38}"/>
              </a:ext>
            </a:extLst>
          </p:cNvPr>
          <p:cNvGraphicFramePr>
            <a:graphicFrameLocks noGrp="1"/>
          </p:cNvGraphicFramePr>
          <p:nvPr>
            <p:extLst>
              <p:ext uri="{D42A27DB-BD31-4B8C-83A1-F6EECF244321}">
                <p14:modId xmlns:p14="http://schemas.microsoft.com/office/powerpoint/2010/main" val="2581843114"/>
              </p:ext>
            </p:extLst>
          </p:nvPr>
        </p:nvGraphicFramePr>
        <p:xfrm>
          <a:off x="10439400" y="3924300"/>
          <a:ext cx="7369536" cy="4374606"/>
        </p:xfrm>
        <a:graphic>
          <a:graphicData uri="http://schemas.openxmlformats.org/drawingml/2006/table">
            <a:tbl>
              <a:tblPr/>
              <a:tblGrid>
                <a:gridCol w="2456512">
                  <a:extLst>
                    <a:ext uri="{9D8B030D-6E8A-4147-A177-3AD203B41FA5}">
                      <a16:colId xmlns:a16="http://schemas.microsoft.com/office/drawing/2014/main" val="1534071359"/>
                    </a:ext>
                  </a:extLst>
                </a:gridCol>
                <a:gridCol w="2456512">
                  <a:extLst>
                    <a:ext uri="{9D8B030D-6E8A-4147-A177-3AD203B41FA5}">
                      <a16:colId xmlns:a16="http://schemas.microsoft.com/office/drawing/2014/main" val="2231832428"/>
                    </a:ext>
                  </a:extLst>
                </a:gridCol>
                <a:gridCol w="2456512">
                  <a:extLst>
                    <a:ext uri="{9D8B030D-6E8A-4147-A177-3AD203B41FA5}">
                      <a16:colId xmlns:a16="http://schemas.microsoft.com/office/drawing/2014/main" val="3845018053"/>
                    </a:ext>
                  </a:extLst>
                </a:gridCol>
              </a:tblGrid>
              <a:tr h="729101">
                <a:tc>
                  <a:txBody>
                    <a:bodyPr/>
                    <a:lstStyle/>
                    <a:p>
                      <a:pPr>
                        <a:buNone/>
                      </a:pPr>
                      <a:r>
                        <a:rPr lang="en-US">
                          <a:effectLst/>
                        </a:rPr>
                        <a:t>Embedding</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Best Model</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Accuracy</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1786666559"/>
                  </a:ext>
                </a:extLst>
              </a:tr>
              <a:tr h="729101">
                <a:tc>
                  <a:txBody>
                    <a:bodyPr/>
                    <a:lstStyle/>
                    <a:p>
                      <a:pPr>
                        <a:buNone/>
                      </a:pPr>
                      <a:r>
                        <a:rPr lang="en-US">
                          <a:effectLst/>
                        </a:rPr>
                        <a:t>FastText</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GRU</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b="1">
                          <a:effectLst/>
                        </a:rPr>
                        <a:t>80.80%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939838522"/>
                  </a:ext>
                </a:extLst>
              </a:tr>
              <a:tr h="729101">
                <a:tc>
                  <a:txBody>
                    <a:bodyPr/>
                    <a:lstStyle/>
                    <a:p>
                      <a:pPr>
                        <a:buNone/>
                      </a:pPr>
                      <a:r>
                        <a:rPr lang="en-US">
                          <a:effectLst/>
                        </a:rPr>
                        <a:t>BERT</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GRU</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75.00%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4162538829"/>
                  </a:ext>
                </a:extLst>
              </a:tr>
              <a:tr h="729101">
                <a:tc>
                  <a:txBody>
                    <a:bodyPr/>
                    <a:lstStyle/>
                    <a:p>
                      <a:pPr>
                        <a:buNone/>
                      </a:pPr>
                      <a:r>
                        <a:rPr lang="en-US">
                          <a:effectLst/>
                        </a:rPr>
                        <a:t>BGE</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GRU</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73.70%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1869477234"/>
                  </a:ext>
                </a:extLst>
              </a:tr>
              <a:tr h="729101">
                <a:tc>
                  <a:txBody>
                    <a:bodyPr/>
                    <a:lstStyle/>
                    <a:p>
                      <a:pPr>
                        <a:buNone/>
                      </a:pPr>
                      <a:r>
                        <a:rPr lang="en-US">
                          <a:effectLst/>
                        </a:rPr>
                        <a:t>Qwen</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GRU</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72.70%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2897352618"/>
                  </a:ext>
                </a:extLst>
              </a:tr>
              <a:tr h="729101">
                <a:tc>
                  <a:txBody>
                    <a:bodyPr/>
                    <a:lstStyle/>
                    <a:p>
                      <a:pPr>
                        <a:buNone/>
                      </a:pPr>
                      <a:r>
                        <a:rPr lang="en-US">
                          <a:effectLst/>
                        </a:rPr>
                        <a:t>E5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a:effectLst/>
                        </a:rPr>
                        <a:t>GRU</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tc>
                  <a:txBody>
                    <a:bodyPr/>
                    <a:lstStyle/>
                    <a:p>
                      <a:pPr>
                        <a:buNone/>
                      </a:pPr>
                      <a:r>
                        <a:rPr lang="en-US" dirty="0">
                          <a:effectLst/>
                        </a:rPr>
                        <a:t>72.50%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CDB9EE"/>
                    </a:solidFill>
                  </a:tcPr>
                </a:tc>
                <a:extLst>
                  <a:ext uri="{0D108BD9-81ED-4DB2-BD59-A6C34878D82A}">
                    <a16:rowId xmlns:a16="http://schemas.microsoft.com/office/drawing/2014/main" val="2107332204"/>
                  </a:ext>
                </a:extLst>
              </a:tr>
            </a:tbl>
          </a:graphicData>
        </a:graphic>
      </p:graphicFrame>
      <p:sp>
        <p:nvSpPr>
          <p:cNvPr id="7" name="Rectangle 1">
            <a:extLst>
              <a:ext uri="{FF2B5EF4-FFF2-40B4-BE49-F238E27FC236}">
                <a16:creationId xmlns:a16="http://schemas.microsoft.com/office/drawing/2014/main" id="{4F0F9ED2-D637-C45D-C1D5-DF24D67572E2}"/>
              </a:ext>
            </a:extLst>
          </p:cNvPr>
          <p:cNvSpPr>
            <a:spLocks noChangeArrowheads="1"/>
          </p:cNvSpPr>
          <p:nvPr/>
        </p:nvSpPr>
        <p:spPr bwMode="auto">
          <a:xfrm>
            <a:off x="9719312" y="3924925"/>
            <a:ext cx="1637674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a:off x="1664478" y="7190031"/>
            <a:ext cx="305513" cy="144424"/>
          </a:xfrm>
          <a:custGeom>
            <a:avLst/>
            <a:gdLst/>
            <a:ahLst/>
            <a:cxnLst/>
            <a:rect l="l" t="t" r="r" b="b"/>
            <a:pathLst>
              <a:path w="305513" h="144424">
                <a:moveTo>
                  <a:pt x="0" y="0"/>
                </a:moveTo>
                <a:lnTo>
                  <a:pt x="305512" y="0"/>
                </a:lnTo>
                <a:lnTo>
                  <a:pt x="305512" y="144424"/>
                </a:lnTo>
                <a:lnTo>
                  <a:pt x="0" y="1444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1205082" y="2922677"/>
            <a:ext cx="6054218" cy="6335623"/>
          </a:xfrm>
          <a:custGeom>
            <a:avLst/>
            <a:gdLst/>
            <a:ahLst/>
            <a:cxnLst/>
            <a:rect l="l" t="t" r="r" b="b"/>
            <a:pathLst>
              <a:path w="6054218" h="6335623">
                <a:moveTo>
                  <a:pt x="0" y="0"/>
                </a:moveTo>
                <a:lnTo>
                  <a:pt x="6054218" y="0"/>
                </a:lnTo>
                <a:lnTo>
                  <a:pt x="6054218" y="6335623"/>
                </a:lnTo>
                <a:lnTo>
                  <a:pt x="0" y="6335623"/>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2469763" y="434909"/>
            <a:ext cx="13348475" cy="2254252"/>
          </a:xfrm>
          <a:prstGeom prst="rect">
            <a:avLst/>
          </a:prstGeom>
        </p:spPr>
        <p:txBody>
          <a:bodyPr lIns="0" tIns="0" rIns="0" bIns="0" rtlCol="0" anchor="t">
            <a:spAutoFit/>
          </a:bodyPr>
          <a:lstStyle/>
          <a:p>
            <a:pPr algn="ctr">
              <a:lnSpc>
                <a:spcPts val="8800"/>
              </a:lnSpc>
            </a:pPr>
            <a:r>
              <a:rPr lang="en-US" sz="8000">
                <a:solidFill>
                  <a:srgbClr val="121417"/>
                </a:solidFill>
                <a:latin typeface="Canva Sans"/>
                <a:ea typeface="Canva Sans"/>
                <a:cs typeface="Canva Sans"/>
                <a:sym typeface="Canva Sans"/>
              </a:rPr>
              <a:t>Why Did SimpleRNN Perform Worse</a:t>
            </a:r>
          </a:p>
        </p:txBody>
      </p:sp>
      <p:sp>
        <p:nvSpPr>
          <p:cNvPr id="5" name="TextBox 5"/>
          <p:cNvSpPr txBox="1"/>
          <p:nvPr/>
        </p:nvSpPr>
        <p:spPr>
          <a:xfrm>
            <a:off x="1189189" y="3987369"/>
            <a:ext cx="9534259" cy="4168140"/>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121417"/>
                </a:solidFill>
                <a:latin typeface="Canva Sans"/>
                <a:ea typeface="Canva Sans"/>
                <a:cs typeface="Canva Sans"/>
                <a:sym typeface="Canva Sans"/>
              </a:rPr>
              <a:t>SimpleRNN consistently achieved lower performance across most experiments because  Simple Rnn lacks gating mechanisms unlike GRU and LSTM that regulate information flow through time.</a:t>
            </a:r>
          </a:p>
          <a:p>
            <a:pPr algn="l">
              <a:lnSpc>
                <a:spcPts val="3359"/>
              </a:lnSpc>
            </a:pPr>
            <a:endParaRPr lang="en-US" sz="2400">
              <a:solidFill>
                <a:srgbClr val="121417"/>
              </a:solidFill>
              <a:latin typeface="Canva Sans"/>
              <a:ea typeface="Canva Sans"/>
              <a:cs typeface="Canva Sans"/>
              <a:sym typeface="Canva Sans"/>
            </a:endParaRPr>
          </a:p>
          <a:p>
            <a:pPr marL="518160" lvl="1" indent="-259080" algn="l">
              <a:lnSpc>
                <a:spcPts val="3359"/>
              </a:lnSpc>
              <a:buFont typeface="Arial"/>
              <a:buChar char="•"/>
            </a:pPr>
            <a:r>
              <a:rPr lang="en-US" sz="2400">
                <a:solidFill>
                  <a:srgbClr val="121417"/>
                </a:solidFill>
                <a:latin typeface="Canva Sans"/>
                <a:ea typeface="Canva Sans"/>
                <a:cs typeface="Canva Sans"/>
                <a:sym typeface="Canva Sans"/>
              </a:rPr>
              <a:t>As sequence length increases, important contextual information may gradually disappear due to the vanishing gradient problem making  the model less capable of capturing long range dependencies required for the task.</a:t>
            </a:r>
          </a:p>
          <a:p>
            <a:pPr algn="l">
              <a:lnSpc>
                <a:spcPts val="3359"/>
              </a:lnSpc>
            </a:pPr>
            <a:endParaRPr lang="en-US" sz="2400">
              <a:solidFill>
                <a:srgbClr val="121417"/>
              </a:solidFill>
              <a:latin typeface="Canva Sans"/>
              <a:ea typeface="Canva Sans"/>
              <a:cs typeface="Canva Sans"/>
              <a:sym typeface="Canva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a:off x="1664478" y="7190031"/>
            <a:ext cx="305513" cy="144424"/>
          </a:xfrm>
          <a:custGeom>
            <a:avLst/>
            <a:gdLst/>
            <a:ahLst/>
            <a:cxnLst/>
            <a:rect l="l" t="t" r="r" b="b"/>
            <a:pathLst>
              <a:path w="305513" h="144424">
                <a:moveTo>
                  <a:pt x="0" y="0"/>
                </a:moveTo>
                <a:lnTo>
                  <a:pt x="305512" y="0"/>
                </a:lnTo>
                <a:lnTo>
                  <a:pt x="305512" y="144424"/>
                </a:lnTo>
                <a:lnTo>
                  <a:pt x="0" y="1444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2469763" y="802165"/>
            <a:ext cx="13348475" cy="1139827"/>
          </a:xfrm>
          <a:prstGeom prst="rect">
            <a:avLst/>
          </a:prstGeom>
        </p:spPr>
        <p:txBody>
          <a:bodyPr lIns="0" tIns="0" rIns="0" bIns="0" rtlCol="0" anchor="t">
            <a:spAutoFit/>
          </a:bodyPr>
          <a:lstStyle/>
          <a:p>
            <a:pPr algn="ctr">
              <a:lnSpc>
                <a:spcPts val="8800"/>
              </a:lnSpc>
            </a:pPr>
            <a:r>
              <a:rPr lang="en-US" sz="8000">
                <a:solidFill>
                  <a:srgbClr val="121417"/>
                </a:solidFill>
                <a:latin typeface="Canva Sans"/>
                <a:ea typeface="Canva Sans"/>
                <a:cs typeface="Canva Sans"/>
                <a:sym typeface="Canva Sans"/>
              </a:rPr>
              <a:t>Accuracy vs BLEU Score</a:t>
            </a:r>
          </a:p>
        </p:txBody>
      </p:sp>
      <p:sp>
        <p:nvSpPr>
          <p:cNvPr id="4" name="TextBox 4"/>
          <p:cNvSpPr txBox="1"/>
          <p:nvPr/>
        </p:nvSpPr>
        <p:spPr>
          <a:xfrm>
            <a:off x="2104539" y="2713436"/>
            <a:ext cx="13575615" cy="396240"/>
          </a:xfrm>
          <a:prstGeom prst="rect">
            <a:avLst/>
          </a:prstGeom>
        </p:spPr>
        <p:txBody>
          <a:bodyPr lIns="0" tIns="0" rIns="0" bIns="0" rtlCol="0" anchor="t">
            <a:spAutoFit/>
          </a:bodyPr>
          <a:lstStyle/>
          <a:p>
            <a:pPr algn="ctr">
              <a:lnSpc>
                <a:spcPts val="3359"/>
              </a:lnSpc>
            </a:pPr>
            <a:r>
              <a:rPr lang="en-US" sz="2400" b="1">
                <a:solidFill>
                  <a:srgbClr val="121417"/>
                </a:solidFill>
                <a:latin typeface="Canva Sans Bold"/>
                <a:ea typeface="Canva Sans Bold"/>
                <a:cs typeface="Canva Sans Bold"/>
                <a:sym typeface="Canva Sans Bold"/>
              </a:rPr>
              <a:t>Results --&gt; FastText + GRU, Validation Accuracy = 80.8%, BLEU Score = 0.044</a:t>
            </a:r>
          </a:p>
        </p:txBody>
      </p:sp>
      <p:sp>
        <p:nvSpPr>
          <p:cNvPr id="5" name="TextBox 5"/>
          <p:cNvSpPr txBox="1"/>
          <p:nvPr/>
        </p:nvSpPr>
        <p:spPr>
          <a:xfrm>
            <a:off x="2256181" y="3554730"/>
            <a:ext cx="14293793" cy="5703570"/>
          </a:xfrm>
          <a:prstGeom prst="rect">
            <a:avLst/>
          </a:prstGeom>
        </p:spPr>
        <p:txBody>
          <a:bodyPr lIns="0" tIns="0" rIns="0" bIns="0" rtlCol="0" anchor="t">
            <a:spAutoFit/>
          </a:bodyPr>
          <a:lstStyle/>
          <a:p>
            <a:pPr marL="582928" lvl="1" indent="-291464" algn="l">
              <a:lnSpc>
                <a:spcPts val="3779"/>
              </a:lnSpc>
              <a:buFont typeface="Arial"/>
              <a:buChar char="•"/>
            </a:pPr>
            <a:r>
              <a:rPr lang="en-US" sz="2699">
                <a:solidFill>
                  <a:srgbClr val="121417"/>
                </a:solidFill>
                <a:latin typeface="Canva Sans"/>
                <a:ea typeface="Canva Sans"/>
                <a:cs typeface="Canva Sans"/>
                <a:sym typeface="Canva Sans"/>
              </a:rPr>
              <a:t>Despite achieving high validation accuracy, the BLEU score remained extremely low which demonstrate that token level prediction accuracy does not necessarily correspond to high quality answer generation</a:t>
            </a:r>
          </a:p>
          <a:p>
            <a:pPr algn="l">
              <a:lnSpc>
                <a:spcPts val="3779"/>
              </a:lnSpc>
            </a:pPr>
            <a:endParaRPr lang="en-US" sz="2699">
              <a:solidFill>
                <a:srgbClr val="121417"/>
              </a:solidFill>
              <a:latin typeface="Canva Sans"/>
              <a:ea typeface="Canva Sans"/>
              <a:cs typeface="Canva Sans"/>
              <a:sym typeface="Canva Sans"/>
            </a:endParaRPr>
          </a:p>
          <a:p>
            <a:pPr marL="582928" lvl="1" indent="-291464" algn="l">
              <a:lnSpc>
                <a:spcPts val="3779"/>
              </a:lnSpc>
              <a:buFont typeface="Arial"/>
              <a:buChar char="•"/>
            </a:pPr>
            <a:r>
              <a:rPr lang="en-US" sz="2699">
                <a:solidFill>
                  <a:srgbClr val="121417"/>
                </a:solidFill>
                <a:latin typeface="Canva Sans"/>
                <a:ea typeface="Canva Sans"/>
                <a:cs typeface="Canva Sans"/>
                <a:sym typeface="Canva Sans"/>
              </a:rPr>
              <a:t>During training, the model may correctly predict many individual tokens which result in high accuracy while the generated answer may still differ significantly from the reference answer in terms of wording, sentence structure or sequence composition</a:t>
            </a:r>
          </a:p>
          <a:p>
            <a:pPr algn="l">
              <a:lnSpc>
                <a:spcPts val="3779"/>
              </a:lnSpc>
            </a:pPr>
            <a:endParaRPr lang="en-US" sz="2699">
              <a:solidFill>
                <a:srgbClr val="121417"/>
              </a:solidFill>
              <a:latin typeface="Canva Sans"/>
              <a:ea typeface="Canva Sans"/>
              <a:cs typeface="Canva Sans"/>
              <a:sym typeface="Canva Sans"/>
            </a:endParaRPr>
          </a:p>
          <a:p>
            <a:pPr marL="582928" lvl="1" indent="-291464" algn="l">
              <a:lnSpc>
                <a:spcPts val="3779"/>
              </a:lnSpc>
              <a:buFont typeface="Arial"/>
              <a:buChar char="•"/>
            </a:pPr>
            <a:r>
              <a:rPr lang="en-US" sz="2699">
                <a:solidFill>
                  <a:srgbClr val="121417"/>
                </a:solidFill>
                <a:latin typeface="Canva Sans"/>
                <a:ea typeface="Canva Sans"/>
                <a:cs typeface="Canva Sans"/>
                <a:sym typeface="Canva Sans"/>
              </a:rPr>
              <a:t>Therefore, BLEU provides realistic evaluation of generated answer quality because it directly measures similarity between generated and reference responses</a:t>
            </a:r>
          </a:p>
          <a:p>
            <a:pPr algn="l">
              <a:lnSpc>
                <a:spcPts val="3779"/>
              </a:lnSpc>
            </a:pPr>
            <a:endParaRPr lang="en-US" sz="2699">
              <a:solidFill>
                <a:srgbClr val="121417"/>
              </a:solidFill>
              <a:latin typeface="Canva Sans"/>
              <a:ea typeface="Canva Sans"/>
              <a:cs typeface="Canva Sans"/>
              <a:sym typeface="Canva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a:off x="1664478" y="7190031"/>
            <a:ext cx="305513" cy="144424"/>
          </a:xfrm>
          <a:custGeom>
            <a:avLst/>
            <a:gdLst/>
            <a:ahLst/>
            <a:cxnLst/>
            <a:rect l="l" t="t" r="r" b="b"/>
            <a:pathLst>
              <a:path w="305513" h="144424">
                <a:moveTo>
                  <a:pt x="0" y="0"/>
                </a:moveTo>
                <a:lnTo>
                  <a:pt x="305512" y="0"/>
                </a:lnTo>
                <a:lnTo>
                  <a:pt x="305512" y="144424"/>
                </a:lnTo>
                <a:lnTo>
                  <a:pt x="0" y="1444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2166479" y="1081656"/>
            <a:ext cx="13348475" cy="1139827"/>
          </a:xfrm>
          <a:prstGeom prst="rect">
            <a:avLst/>
          </a:prstGeom>
        </p:spPr>
        <p:txBody>
          <a:bodyPr lIns="0" tIns="0" rIns="0" bIns="0" rtlCol="0" anchor="t">
            <a:spAutoFit/>
          </a:bodyPr>
          <a:lstStyle/>
          <a:p>
            <a:pPr algn="ctr">
              <a:lnSpc>
                <a:spcPts val="8800"/>
              </a:lnSpc>
            </a:pPr>
            <a:r>
              <a:rPr lang="en-US" sz="8000">
                <a:solidFill>
                  <a:srgbClr val="121417"/>
                </a:solidFill>
                <a:latin typeface="Canva Sans"/>
                <a:ea typeface="Canva Sans"/>
                <a:cs typeface="Canva Sans"/>
                <a:sym typeface="Canva Sans"/>
              </a:rPr>
              <a:t>Best Seq2Seq Model</a:t>
            </a:r>
          </a:p>
        </p:txBody>
      </p:sp>
      <p:sp>
        <p:nvSpPr>
          <p:cNvPr id="4" name="TextBox 4"/>
          <p:cNvSpPr txBox="1"/>
          <p:nvPr/>
        </p:nvSpPr>
        <p:spPr>
          <a:xfrm>
            <a:off x="7238787" y="2705454"/>
            <a:ext cx="3203858" cy="580391"/>
          </a:xfrm>
          <a:prstGeom prst="rect">
            <a:avLst/>
          </a:prstGeom>
        </p:spPr>
        <p:txBody>
          <a:bodyPr lIns="0" tIns="0" rIns="0" bIns="0" rtlCol="0" anchor="t">
            <a:spAutoFit/>
          </a:bodyPr>
          <a:lstStyle/>
          <a:p>
            <a:pPr algn="ctr">
              <a:lnSpc>
                <a:spcPts val="4759"/>
              </a:lnSpc>
            </a:pPr>
            <a:r>
              <a:rPr lang="en-US" sz="3399" b="1">
                <a:solidFill>
                  <a:srgbClr val="121417"/>
                </a:solidFill>
                <a:latin typeface="Canva Sans Bold"/>
                <a:ea typeface="Canva Sans Bold"/>
                <a:cs typeface="Canva Sans Bold"/>
                <a:sym typeface="Canva Sans Bold"/>
              </a:rPr>
              <a:t>FastText + GRU</a:t>
            </a:r>
          </a:p>
        </p:txBody>
      </p:sp>
      <p:sp>
        <p:nvSpPr>
          <p:cNvPr id="5" name="TextBox 5"/>
          <p:cNvSpPr txBox="1"/>
          <p:nvPr/>
        </p:nvSpPr>
        <p:spPr>
          <a:xfrm>
            <a:off x="1969990" y="3781144"/>
            <a:ext cx="15050547" cy="4939030"/>
          </a:xfrm>
          <a:prstGeom prst="rect">
            <a:avLst/>
          </a:prstGeom>
        </p:spPr>
        <p:txBody>
          <a:bodyPr lIns="0" tIns="0" rIns="0" bIns="0" rtlCol="0" anchor="t">
            <a:spAutoFit/>
          </a:bodyPr>
          <a:lstStyle/>
          <a:p>
            <a:pPr marL="604518" lvl="1" indent="-302259" algn="l">
              <a:lnSpc>
                <a:spcPts val="3919"/>
              </a:lnSpc>
              <a:buFont typeface="Arial"/>
              <a:buChar char="•"/>
            </a:pPr>
            <a:r>
              <a:rPr lang="en-US" sz="2799">
                <a:solidFill>
                  <a:srgbClr val="121417"/>
                </a:solidFill>
                <a:latin typeface="Canva Sans"/>
                <a:ea typeface="Canva Sans"/>
                <a:cs typeface="Canva Sans"/>
                <a:sym typeface="Canva Sans"/>
              </a:rPr>
              <a:t>FastText provides rich subword level representations that are particularly beneficial for morphologically rich languages such as Arabic, these representations help capture word variations and reduce OOV (out-of-vocabulary) issues.</a:t>
            </a:r>
          </a:p>
          <a:p>
            <a:pPr algn="l">
              <a:lnSpc>
                <a:spcPts val="3919"/>
              </a:lnSpc>
            </a:pPr>
            <a:endParaRPr lang="en-US" sz="2799">
              <a:solidFill>
                <a:srgbClr val="121417"/>
              </a:solidFill>
              <a:latin typeface="Canva Sans"/>
              <a:ea typeface="Canva Sans"/>
              <a:cs typeface="Canva Sans"/>
              <a:sym typeface="Canva Sans"/>
            </a:endParaRPr>
          </a:p>
          <a:p>
            <a:pPr marL="604518" lvl="1" indent="-302259" algn="l">
              <a:lnSpc>
                <a:spcPts val="3919"/>
              </a:lnSpc>
              <a:buFont typeface="Arial"/>
              <a:buChar char="•"/>
            </a:pPr>
            <a:r>
              <a:rPr lang="en-US" sz="2799">
                <a:solidFill>
                  <a:srgbClr val="121417"/>
                </a:solidFill>
                <a:latin typeface="Canva Sans"/>
                <a:ea typeface="Canva Sans"/>
                <a:cs typeface="Canva Sans"/>
                <a:sym typeface="Canva Sans"/>
              </a:rPr>
              <a:t>GRU efficiently models sequential dependencies while maintaining relatively small number of trainable parameters. The combination of FastText's lexical representation and GRU's sequence modeling resulted in the highest validation accuracy among all Seq2Seq experiments</a:t>
            </a:r>
          </a:p>
          <a:p>
            <a:pPr algn="l">
              <a:lnSpc>
                <a:spcPts val="3919"/>
              </a:lnSpc>
            </a:pPr>
            <a:endParaRPr lang="en-US" sz="2799">
              <a:solidFill>
                <a:srgbClr val="121417"/>
              </a:solidFill>
              <a:latin typeface="Canva Sans"/>
              <a:ea typeface="Canva Sans"/>
              <a:cs typeface="Canva Sans"/>
              <a:sym typeface="Canva Sans"/>
            </a:endParaRPr>
          </a:p>
          <a:p>
            <a:pPr algn="l">
              <a:lnSpc>
                <a:spcPts val="3919"/>
              </a:lnSpc>
            </a:pPr>
            <a:endParaRPr lang="en-US" sz="2799">
              <a:solidFill>
                <a:srgbClr val="121417"/>
              </a:solidFill>
              <a:latin typeface="Canva Sans"/>
              <a:ea typeface="Canva Sans"/>
              <a:cs typeface="Canva Sans"/>
              <a:sym typeface="Canv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a:off x="1664478" y="7190031"/>
            <a:ext cx="305513" cy="144424"/>
          </a:xfrm>
          <a:custGeom>
            <a:avLst/>
            <a:gdLst/>
            <a:ahLst/>
            <a:cxnLst/>
            <a:rect l="l" t="t" r="r" b="b"/>
            <a:pathLst>
              <a:path w="305513" h="144424">
                <a:moveTo>
                  <a:pt x="0" y="0"/>
                </a:moveTo>
                <a:lnTo>
                  <a:pt x="305512" y="0"/>
                </a:lnTo>
                <a:lnTo>
                  <a:pt x="305512" y="144424"/>
                </a:lnTo>
                <a:lnTo>
                  <a:pt x="0" y="1444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2643556" y="734625"/>
            <a:ext cx="13000888" cy="878844"/>
          </a:xfrm>
          <a:prstGeom prst="rect">
            <a:avLst/>
          </a:prstGeom>
        </p:spPr>
        <p:txBody>
          <a:bodyPr lIns="0" tIns="0" rIns="0" bIns="0" rtlCol="0" anchor="t">
            <a:spAutoFit/>
          </a:bodyPr>
          <a:lstStyle/>
          <a:p>
            <a:pPr algn="ctr">
              <a:lnSpc>
                <a:spcPts val="6820"/>
              </a:lnSpc>
            </a:pPr>
            <a:r>
              <a:rPr lang="en-US" sz="6200">
                <a:solidFill>
                  <a:srgbClr val="121417"/>
                </a:solidFill>
                <a:latin typeface="Canva Sans"/>
                <a:ea typeface="Canva Sans"/>
                <a:cs typeface="Canva Sans"/>
                <a:sym typeface="Canva Sans"/>
              </a:rPr>
              <a:t> Why Not Traditional Embeddings </a:t>
            </a:r>
          </a:p>
        </p:txBody>
      </p:sp>
      <p:sp>
        <p:nvSpPr>
          <p:cNvPr id="4" name="TextBox 4"/>
          <p:cNvSpPr txBox="1"/>
          <p:nvPr/>
        </p:nvSpPr>
        <p:spPr>
          <a:xfrm>
            <a:off x="603575" y="2339900"/>
            <a:ext cx="8819830" cy="5185410"/>
          </a:xfrm>
          <a:prstGeom prst="rect">
            <a:avLst/>
          </a:prstGeom>
        </p:spPr>
        <p:txBody>
          <a:bodyPr lIns="0" tIns="0" rIns="0" bIns="0" rtlCol="0" anchor="t">
            <a:spAutoFit/>
          </a:bodyPr>
          <a:lstStyle/>
          <a:p>
            <a:pPr marL="453392" lvl="1" indent="-226696" algn="l">
              <a:lnSpc>
                <a:spcPts val="2940"/>
              </a:lnSpc>
              <a:buFont typeface="Arial"/>
              <a:buChar char="•"/>
            </a:pPr>
            <a:r>
              <a:rPr lang="en-US" sz="2100">
                <a:solidFill>
                  <a:srgbClr val="121417"/>
                </a:solidFill>
                <a:latin typeface="Canva Sans"/>
                <a:ea typeface="Canva Sans"/>
                <a:cs typeface="Canva Sans"/>
                <a:sym typeface="Canva Sans"/>
              </a:rPr>
              <a:t>Traditional representations do not model semantic meaning or contextual relationships between words.</a:t>
            </a:r>
          </a:p>
          <a:p>
            <a:pPr algn="l">
              <a:lnSpc>
                <a:spcPts val="2940"/>
              </a:lnSpc>
            </a:pPr>
            <a:endParaRPr lang="en-US" sz="2100">
              <a:solidFill>
                <a:srgbClr val="121417"/>
              </a:solidFill>
              <a:latin typeface="Canva Sans"/>
              <a:ea typeface="Canva Sans"/>
              <a:cs typeface="Canva Sans"/>
              <a:sym typeface="Canva Sans"/>
            </a:endParaRPr>
          </a:p>
          <a:p>
            <a:pPr marL="453392" lvl="1" indent="-226696" algn="l">
              <a:lnSpc>
                <a:spcPts val="2940"/>
              </a:lnSpc>
              <a:buFont typeface="Arial"/>
              <a:buChar char="•"/>
            </a:pPr>
            <a:r>
              <a:rPr lang="en-US" sz="2100">
                <a:solidFill>
                  <a:srgbClr val="121417"/>
                </a:solidFill>
                <a:latin typeface="Canva Sans"/>
                <a:ea typeface="Canva Sans"/>
                <a:cs typeface="Canva Sans"/>
                <a:sym typeface="Canva Sans"/>
              </a:rPr>
              <a:t>Question Answering requires understanding the relationship between the question and the answer including context, intent and semantic similarity. </a:t>
            </a:r>
          </a:p>
          <a:p>
            <a:pPr algn="l">
              <a:lnSpc>
                <a:spcPts val="2940"/>
              </a:lnSpc>
            </a:pPr>
            <a:endParaRPr lang="en-US" sz="2100">
              <a:solidFill>
                <a:srgbClr val="121417"/>
              </a:solidFill>
              <a:latin typeface="Canva Sans"/>
              <a:ea typeface="Canva Sans"/>
              <a:cs typeface="Canva Sans"/>
              <a:sym typeface="Canva Sans"/>
            </a:endParaRPr>
          </a:p>
          <a:p>
            <a:pPr marL="453392" lvl="1" indent="-226696" algn="l">
              <a:lnSpc>
                <a:spcPts val="2940"/>
              </a:lnSpc>
              <a:buFont typeface="Arial"/>
              <a:buChar char="•"/>
            </a:pPr>
            <a:r>
              <a:rPr lang="en-US" sz="2100">
                <a:solidFill>
                  <a:srgbClr val="121417"/>
                </a:solidFill>
                <a:latin typeface="Canva Sans"/>
                <a:ea typeface="Canva Sans"/>
                <a:cs typeface="Canva Sans"/>
                <a:sym typeface="Canva Sans"/>
              </a:rPr>
              <a:t>Previous research in modern Question Answering systems has shown that dense contextual representations significantly outperform traditional sparse representations because they better capture semantic relationships between textual inputs and outputs.</a:t>
            </a:r>
          </a:p>
          <a:p>
            <a:pPr algn="l">
              <a:lnSpc>
                <a:spcPts val="2940"/>
              </a:lnSpc>
            </a:pPr>
            <a:endParaRPr lang="en-US" sz="2100">
              <a:solidFill>
                <a:srgbClr val="121417"/>
              </a:solidFill>
              <a:latin typeface="Canva Sans"/>
              <a:ea typeface="Canva Sans"/>
              <a:cs typeface="Canva Sans"/>
              <a:sym typeface="Canva Sans"/>
            </a:endParaRPr>
          </a:p>
          <a:p>
            <a:pPr algn="l">
              <a:lnSpc>
                <a:spcPts val="2940"/>
              </a:lnSpc>
            </a:pPr>
            <a:endParaRPr lang="en-US" sz="2100">
              <a:solidFill>
                <a:srgbClr val="121417"/>
              </a:solidFill>
              <a:latin typeface="Canva Sans"/>
              <a:ea typeface="Canva Sans"/>
              <a:cs typeface="Canva Sans"/>
              <a:sym typeface="Canva Sans"/>
            </a:endParaRPr>
          </a:p>
        </p:txBody>
      </p:sp>
      <p:sp>
        <p:nvSpPr>
          <p:cNvPr id="5" name="TextBox 5"/>
          <p:cNvSpPr txBox="1"/>
          <p:nvPr/>
        </p:nvSpPr>
        <p:spPr>
          <a:xfrm>
            <a:off x="2956667" y="6569515"/>
            <a:ext cx="1437389" cy="125278"/>
          </a:xfrm>
          <a:prstGeom prst="rect">
            <a:avLst/>
          </a:prstGeom>
        </p:spPr>
        <p:txBody>
          <a:bodyPr lIns="0" tIns="0" rIns="0" bIns="0" rtlCol="0" anchor="t">
            <a:spAutoFit/>
          </a:bodyPr>
          <a:lstStyle/>
          <a:p>
            <a:pPr algn="ctr">
              <a:lnSpc>
                <a:spcPts val="986"/>
              </a:lnSpc>
              <a:spcBef>
                <a:spcPct val="0"/>
              </a:spcBef>
            </a:pPr>
            <a:r>
              <a:rPr lang="en-US" sz="896" u="sng">
                <a:solidFill>
                  <a:srgbClr val="121417"/>
                </a:solidFill>
                <a:latin typeface="Canva Sans"/>
                <a:ea typeface="Canva Sans"/>
                <a:cs typeface="Canva Sans"/>
                <a:sym typeface="Canva Sans"/>
                <a:hlinkClick r:id="rId3" tooltip="https://arxiv.org/abs/2002.06612"/>
              </a:rPr>
              <a:t>Traditional and contextual</a:t>
            </a:r>
          </a:p>
        </p:txBody>
      </p:sp>
      <p:sp>
        <p:nvSpPr>
          <p:cNvPr id="6" name="TextBox 6"/>
          <p:cNvSpPr txBox="1"/>
          <p:nvPr/>
        </p:nvSpPr>
        <p:spPr>
          <a:xfrm>
            <a:off x="9710968" y="2339900"/>
            <a:ext cx="7386141" cy="3699510"/>
          </a:xfrm>
          <a:prstGeom prst="rect">
            <a:avLst/>
          </a:prstGeom>
        </p:spPr>
        <p:txBody>
          <a:bodyPr lIns="0" tIns="0" rIns="0" bIns="0" rtlCol="0" anchor="t">
            <a:spAutoFit/>
          </a:bodyPr>
          <a:lstStyle/>
          <a:p>
            <a:pPr marL="453390" lvl="1" indent="-226695" algn="l">
              <a:lnSpc>
                <a:spcPts val="2940"/>
              </a:lnSpc>
              <a:buFont typeface="Arial"/>
              <a:buChar char="•"/>
            </a:pPr>
            <a:r>
              <a:rPr lang="en-US" sz="2100">
                <a:solidFill>
                  <a:srgbClr val="121417"/>
                </a:solidFill>
                <a:latin typeface="Canva Sans"/>
                <a:ea typeface="Canva Sans"/>
                <a:cs typeface="Canva Sans"/>
                <a:sym typeface="Canva Sans"/>
              </a:rPr>
              <a:t>Traditional representations such as BoW and TF-IDF were not used for the QA task because they ignore word order and sequential structure. These representations treat text as collection of independent words and therefore cannot capture how words interact within a sentence.</a:t>
            </a:r>
          </a:p>
          <a:p>
            <a:pPr algn="l">
              <a:lnSpc>
                <a:spcPts val="2940"/>
              </a:lnSpc>
            </a:pPr>
            <a:endParaRPr lang="en-US" sz="2100">
              <a:solidFill>
                <a:srgbClr val="121417"/>
              </a:solidFill>
              <a:latin typeface="Canva Sans"/>
              <a:ea typeface="Canva Sans"/>
              <a:cs typeface="Canva Sans"/>
              <a:sym typeface="Canva Sans"/>
            </a:endParaRPr>
          </a:p>
          <a:p>
            <a:pPr marL="453390" lvl="1" indent="-226695" algn="l">
              <a:lnSpc>
                <a:spcPts val="2940"/>
              </a:lnSpc>
              <a:buFont typeface="Arial"/>
              <a:buChar char="•"/>
            </a:pPr>
            <a:r>
              <a:rPr lang="en-US" sz="2100">
                <a:solidFill>
                  <a:srgbClr val="121417"/>
                </a:solidFill>
                <a:latin typeface="Canva Sans"/>
                <a:ea typeface="Canva Sans"/>
                <a:cs typeface="Canva Sans"/>
                <a:sym typeface="Canva Sans"/>
              </a:rPr>
              <a:t>In contrast, QA is sequence generation task where the order of words plays critical role in understanding the question and generating meaningful answer. </a:t>
            </a:r>
          </a:p>
        </p:txBody>
      </p:sp>
      <p:sp>
        <p:nvSpPr>
          <p:cNvPr id="7" name="TextBox 7"/>
          <p:cNvSpPr txBox="1"/>
          <p:nvPr/>
        </p:nvSpPr>
        <p:spPr>
          <a:xfrm>
            <a:off x="1766858" y="7851775"/>
            <a:ext cx="14754284" cy="1406525"/>
          </a:xfrm>
          <a:prstGeom prst="rect">
            <a:avLst/>
          </a:prstGeom>
        </p:spPr>
        <p:txBody>
          <a:bodyPr lIns="0" tIns="0" rIns="0" bIns="0" rtlCol="0" anchor="t">
            <a:spAutoFit/>
          </a:bodyPr>
          <a:lstStyle/>
          <a:p>
            <a:pPr algn="ctr">
              <a:lnSpc>
                <a:spcPts val="2800"/>
              </a:lnSpc>
            </a:pPr>
            <a:r>
              <a:rPr lang="en-US" sz="2000">
                <a:solidFill>
                  <a:srgbClr val="121417"/>
                </a:solidFill>
                <a:latin typeface="Canva Sans"/>
                <a:ea typeface="Canva Sans"/>
                <a:cs typeface="Canva Sans"/>
                <a:sym typeface="Canva Sans"/>
              </a:rPr>
              <a:t>While TF-IDF and BoW performed competitively in the classification task, the objective of Question Answering is fundamentally different where instead of assigning category label, the model must generate meaningful answers Therefore, semantic understanding becomes more important than term frequency which make contextual embeddings and transformer based representations more appropriate choice.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a:off x="1664478" y="7190031"/>
            <a:ext cx="305513" cy="144424"/>
          </a:xfrm>
          <a:custGeom>
            <a:avLst/>
            <a:gdLst/>
            <a:ahLst/>
            <a:cxnLst/>
            <a:rect l="l" t="t" r="r" b="b"/>
            <a:pathLst>
              <a:path w="305513" h="144424">
                <a:moveTo>
                  <a:pt x="0" y="0"/>
                </a:moveTo>
                <a:lnTo>
                  <a:pt x="305512" y="0"/>
                </a:lnTo>
                <a:lnTo>
                  <a:pt x="305512" y="144424"/>
                </a:lnTo>
                <a:lnTo>
                  <a:pt x="0" y="1444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1480039" y="833536"/>
            <a:ext cx="15327923" cy="2533654"/>
          </a:xfrm>
          <a:prstGeom prst="rect">
            <a:avLst/>
          </a:prstGeom>
        </p:spPr>
        <p:txBody>
          <a:bodyPr lIns="0" tIns="0" rIns="0" bIns="0" rtlCol="0" anchor="t">
            <a:spAutoFit/>
          </a:bodyPr>
          <a:lstStyle/>
          <a:p>
            <a:pPr algn="ctr">
              <a:lnSpc>
                <a:spcPts val="6600"/>
              </a:lnSpc>
            </a:pPr>
            <a:r>
              <a:rPr lang="en-US" sz="6000">
                <a:solidFill>
                  <a:srgbClr val="121417"/>
                </a:solidFill>
                <a:latin typeface="Canva Sans"/>
                <a:ea typeface="Canva Sans"/>
                <a:cs typeface="Canva Sans"/>
                <a:sym typeface="Canva Sans"/>
              </a:rPr>
              <a:t>Not Appling Additional Preprocessing to QA and MT?</a:t>
            </a:r>
          </a:p>
          <a:p>
            <a:pPr algn="ctr">
              <a:lnSpc>
                <a:spcPts val="6600"/>
              </a:lnSpc>
            </a:pPr>
            <a:endParaRPr lang="en-US" sz="6000">
              <a:solidFill>
                <a:srgbClr val="121417"/>
              </a:solidFill>
              <a:latin typeface="Canva Sans"/>
              <a:ea typeface="Canva Sans"/>
              <a:cs typeface="Canva Sans"/>
              <a:sym typeface="Canva Sans"/>
            </a:endParaRPr>
          </a:p>
        </p:txBody>
      </p:sp>
      <p:sp>
        <p:nvSpPr>
          <p:cNvPr id="4" name="TextBox 4"/>
          <p:cNvSpPr txBox="1"/>
          <p:nvPr/>
        </p:nvSpPr>
        <p:spPr>
          <a:xfrm>
            <a:off x="1422967" y="3310041"/>
            <a:ext cx="15442066" cy="5703570"/>
          </a:xfrm>
          <a:prstGeom prst="rect">
            <a:avLst/>
          </a:prstGeom>
        </p:spPr>
        <p:txBody>
          <a:bodyPr lIns="0" tIns="0" rIns="0" bIns="0" rtlCol="0" anchor="t">
            <a:spAutoFit/>
          </a:bodyPr>
          <a:lstStyle/>
          <a:p>
            <a:pPr marL="582930" lvl="1" indent="-291465" algn="l">
              <a:lnSpc>
                <a:spcPts val="3779"/>
              </a:lnSpc>
              <a:buFont typeface="Arial"/>
              <a:buChar char="•"/>
            </a:pPr>
            <a:r>
              <a:rPr lang="en-US" sz="2700">
                <a:solidFill>
                  <a:srgbClr val="121417"/>
                </a:solidFill>
                <a:latin typeface="Canva Sans"/>
                <a:ea typeface="Canva Sans"/>
                <a:cs typeface="Canva Sans"/>
                <a:sym typeface="Canva Sans"/>
              </a:rPr>
              <a:t>Unlike the classification task, additional preprocessing techniques such as stopword removal and stemming were not applied to the Question Answering and Machine Translation tasks</a:t>
            </a:r>
          </a:p>
          <a:p>
            <a:pPr algn="l">
              <a:lnSpc>
                <a:spcPts val="3779"/>
              </a:lnSpc>
            </a:pPr>
            <a:endParaRPr lang="en-US" sz="2700">
              <a:solidFill>
                <a:srgbClr val="121417"/>
              </a:solidFill>
              <a:latin typeface="Canva Sans"/>
              <a:ea typeface="Canva Sans"/>
              <a:cs typeface="Canva Sans"/>
              <a:sym typeface="Canva Sans"/>
            </a:endParaRPr>
          </a:p>
          <a:p>
            <a:pPr marL="582930" lvl="1" indent="-291465" algn="l">
              <a:lnSpc>
                <a:spcPts val="3779"/>
              </a:lnSpc>
              <a:buFont typeface="Arial"/>
              <a:buChar char="•"/>
            </a:pPr>
            <a:r>
              <a:rPr lang="en-US" sz="2700">
                <a:solidFill>
                  <a:srgbClr val="121417"/>
                </a:solidFill>
                <a:latin typeface="Canva Sans"/>
                <a:ea typeface="Canva Sans"/>
                <a:cs typeface="Canva Sans"/>
                <a:sym typeface="Canva Sans"/>
              </a:rPr>
              <a:t>In generative NLP tasks, every word contributes to the meaning and structure of the output sequence. Removing stopwords may discard important contextual information while stemming can alter grammatical forms and reduce linguistic richness</a:t>
            </a:r>
          </a:p>
          <a:p>
            <a:pPr algn="l">
              <a:lnSpc>
                <a:spcPts val="3779"/>
              </a:lnSpc>
            </a:pPr>
            <a:endParaRPr lang="en-US" sz="2700">
              <a:solidFill>
                <a:srgbClr val="121417"/>
              </a:solidFill>
              <a:latin typeface="Canva Sans"/>
              <a:ea typeface="Canva Sans"/>
              <a:cs typeface="Canva Sans"/>
              <a:sym typeface="Canva Sans"/>
            </a:endParaRPr>
          </a:p>
          <a:p>
            <a:pPr marL="582930" lvl="1" indent="-291465" algn="l">
              <a:lnSpc>
                <a:spcPts val="3779"/>
              </a:lnSpc>
              <a:buFont typeface="Arial"/>
              <a:buChar char="•"/>
            </a:pPr>
            <a:r>
              <a:rPr lang="en-US" sz="2700">
                <a:solidFill>
                  <a:srgbClr val="121417"/>
                </a:solidFill>
                <a:latin typeface="Canva Sans"/>
                <a:ea typeface="Canva Sans"/>
                <a:cs typeface="Canva Sans"/>
                <a:sym typeface="Canva Sans"/>
              </a:rPr>
              <a:t>Furthermore, transformer based models such as mT5 and GPT rely on contextual understanding rather than simple word frequency statistics. Therefore, preserving the original sentence structure is more beneficial than aggressive text normalization</a:t>
            </a:r>
          </a:p>
          <a:p>
            <a:pPr algn="l">
              <a:lnSpc>
                <a:spcPts val="3779"/>
              </a:lnSpc>
            </a:pPr>
            <a:endParaRPr lang="en-US" sz="2700">
              <a:solidFill>
                <a:srgbClr val="121417"/>
              </a:solidFill>
              <a:latin typeface="Canva Sans"/>
              <a:ea typeface="Canva Sans"/>
              <a:cs typeface="Canva Sans"/>
              <a:sym typeface="Canva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a:off x="1664478" y="7190031"/>
            <a:ext cx="305513" cy="144424"/>
          </a:xfrm>
          <a:custGeom>
            <a:avLst/>
            <a:gdLst/>
            <a:ahLst/>
            <a:cxnLst/>
            <a:rect l="l" t="t" r="r" b="b"/>
            <a:pathLst>
              <a:path w="305513" h="144424">
                <a:moveTo>
                  <a:pt x="0" y="0"/>
                </a:moveTo>
                <a:lnTo>
                  <a:pt x="305512" y="0"/>
                </a:lnTo>
                <a:lnTo>
                  <a:pt x="305512" y="144424"/>
                </a:lnTo>
                <a:lnTo>
                  <a:pt x="0" y="1444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1480039" y="926272"/>
            <a:ext cx="15327923" cy="931549"/>
          </a:xfrm>
          <a:prstGeom prst="rect">
            <a:avLst/>
          </a:prstGeom>
        </p:spPr>
        <p:txBody>
          <a:bodyPr lIns="0" tIns="0" rIns="0" bIns="0" rtlCol="0" anchor="t">
            <a:spAutoFit/>
          </a:bodyPr>
          <a:lstStyle/>
          <a:p>
            <a:pPr algn="ctr">
              <a:lnSpc>
                <a:spcPts val="7260"/>
              </a:lnSpc>
            </a:pPr>
            <a:r>
              <a:rPr lang="en-US" sz="6600">
                <a:solidFill>
                  <a:srgbClr val="121417"/>
                </a:solidFill>
                <a:latin typeface="Canva Sans"/>
                <a:ea typeface="Canva Sans"/>
                <a:cs typeface="Canva Sans"/>
                <a:sym typeface="Canva Sans"/>
              </a:rPr>
              <a:t>Limitations and Future Improvements</a:t>
            </a:r>
          </a:p>
        </p:txBody>
      </p:sp>
      <p:sp>
        <p:nvSpPr>
          <p:cNvPr id="4" name="TextBox 4"/>
          <p:cNvSpPr txBox="1"/>
          <p:nvPr/>
        </p:nvSpPr>
        <p:spPr>
          <a:xfrm>
            <a:off x="1254369" y="2495579"/>
            <a:ext cx="15779261" cy="7184390"/>
          </a:xfrm>
          <a:prstGeom prst="rect">
            <a:avLst/>
          </a:prstGeom>
        </p:spPr>
        <p:txBody>
          <a:bodyPr lIns="0" tIns="0" rIns="0" bIns="0" rtlCol="0" anchor="t">
            <a:spAutoFit/>
          </a:bodyPr>
          <a:lstStyle/>
          <a:p>
            <a:pPr marL="626109" lvl="1" indent="-313054" algn="l">
              <a:lnSpc>
                <a:spcPts val="4059"/>
              </a:lnSpc>
              <a:buFont typeface="Arial"/>
              <a:buChar char="•"/>
            </a:pPr>
            <a:r>
              <a:rPr lang="en-US" sz="2899">
                <a:solidFill>
                  <a:srgbClr val="121417"/>
                </a:solidFill>
                <a:latin typeface="Canva Sans"/>
                <a:ea typeface="Canva Sans"/>
                <a:cs typeface="Canva Sans"/>
                <a:sym typeface="Canva Sans"/>
              </a:rPr>
              <a:t>During interface testing, it was observed that using the original text without preprocessing sometimes produced more natural answers with less word repetition which  suggest that some preprocessing operations may have removed linguistic information that was useful for sequence generation.</a:t>
            </a:r>
          </a:p>
          <a:p>
            <a:pPr algn="l">
              <a:lnSpc>
                <a:spcPts val="4059"/>
              </a:lnSpc>
            </a:pPr>
            <a:endParaRPr lang="en-US" sz="2899">
              <a:solidFill>
                <a:srgbClr val="121417"/>
              </a:solidFill>
              <a:latin typeface="Canva Sans"/>
              <a:ea typeface="Canva Sans"/>
              <a:cs typeface="Canva Sans"/>
              <a:sym typeface="Canva Sans"/>
            </a:endParaRPr>
          </a:p>
          <a:p>
            <a:pPr marL="626109" lvl="1" indent="-313054" algn="l">
              <a:lnSpc>
                <a:spcPts val="4059"/>
              </a:lnSpc>
              <a:buFont typeface="Arial"/>
              <a:buChar char="•"/>
            </a:pPr>
            <a:r>
              <a:rPr lang="en-US" sz="2899">
                <a:solidFill>
                  <a:srgbClr val="121417"/>
                </a:solidFill>
                <a:latin typeface="Canva Sans"/>
                <a:ea typeface="Canva Sans"/>
                <a:cs typeface="Canva Sans"/>
                <a:sym typeface="Canva Sans"/>
              </a:rPr>
              <a:t>Unlike classification tasks, Question Answering and Machine Translation rely heavily on contextual understanding and sentence structure. Therefore, preserving the original text may be more beneficial than applying preprocessing techniques such as stemming or stopword removal or normlization.</a:t>
            </a:r>
          </a:p>
          <a:p>
            <a:pPr algn="l">
              <a:lnSpc>
                <a:spcPts val="4059"/>
              </a:lnSpc>
            </a:pPr>
            <a:endParaRPr lang="en-US" sz="2899">
              <a:solidFill>
                <a:srgbClr val="121417"/>
              </a:solidFill>
              <a:latin typeface="Canva Sans"/>
              <a:ea typeface="Canva Sans"/>
              <a:cs typeface="Canva Sans"/>
              <a:sym typeface="Canva Sans"/>
            </a:endParaRPr>
          </a:p>
          <a:p>
            <a:pPr marL="626109" lvl="1" indent="-313054" algn="l">
              <a:lnSpc>
                <a:spcPts val="4059"/>
              </a:lnSpc>
              <a:buFont typeface="Arial"/>
              <a:buChar char="•"/>
            </a:pPr>
            <a:r>
              <a:rPr lang="en-US" sz="2899">
                <a:solidFill>
                  <a:srgbClr val="121417"/>
                </a:solidFill>
                <a:latin typeface="Canva Sans"/>
                <a:ea typeface="Canva Sans"/>
                <a:cs typeface="Canva Sans"/>
                <a:sym typeface="Canva Sans"/>
              </a:rPr>
              <a:t>Future work could investigate training the QA and MT models using minimally the original text to evaluate whether preserving more linguistic information improves answer quality </a:t>
            </a:r>
          </a:p>
          <a:p>
            <a:pPr algn="l">
              <a:lnSpc>
                <a:spcPts val="4059"/>
              </a:lnSpc>
            </a:pPr>
            <a:endParaRPr lang="en-US" sz="2899">
              <a:solidFill>
                <a:srgbClr val="121417"/>
              </a:solidFill>
              <a:latin typeface="Canva Sans"/>
              <a:ea typeface="Canva Sans"/>
              <a:cs typeface="Canva Sans"/>
              <a:sym typeface="Canva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4616645" y="4457700"/>
            <a:ext cx="9054709" cy="1600200"/>
          </a:xfrm>
          <a:prstGeom prst="rect">
            <a:avLst/>
          </a:prstGeom>
        </p:spPr>
        <p:txBody>
          <a:bodyPr lIns="0" tIns="0" rIns="0" bIns="0" rtlCol="0" anchor="t">
            <a:spAutoFit/>
          </a:bodyPr>
          <a:lstStyle/>
          <a:p>
            <a:pPr algn="l">
              <a:lnSpc>
                <a:spcPts val="12000"/>
              </a:lnSpc>
            </a:pPr>
            <a:r>
              <a:rPr lang="en-US" sz="12000">
                <a:solidFill>
                  <a:srgbClr val="121417"/>
                </a:solidFill>
                <a:latin typeface="Canva Sans"/>
                <a:ea typeface="Canva Sans"/>
                <a:cs typeface="Canva Sans"/>
                <a:sym typeface="Canva Sans"/>
              </a:rPr>
              <a:t>Thank You!</a:t>
            </a:r>
          </a:p>
        </p:txBody>
      </p:sp>
      <p:sp>
        <p:nvSpPr>
          <p:cNvPr id="3" name="Freeform 3"/>
          <p:cNvSpPr/>
          <p:nvPr/>
        </p:nvSpPr>
        <p:spPr>
          <a:xfrm rot="-10800000" flipV="1">
            <a:off x="12518446" y="4221899"/>
            <a:ext cx="5036401" cy="5036401"/>
          </a:xfrm>
          <a:custGeom>
            <a:avLst/>
            <a:gdLst/>
            <a:ahLst/>
            <a:cxnLst/>
            <a:rect l="l" t="t" r="r" b="b"/>
            <a:pathLst>
              <a:path w="5036401" h="5036401">
                <a:moveTo>
                  <a:pt x="0" y="5036401"/>
                </a:moveTo>
                <a:lnTo>
                  <a:pt x="5036400" y="5036401"/>
                </a:lnTo>
                <a:lnTo>
                  <a:pt x="5036400" y="0"/>
                </a:lnTo>
                <a:lnTo>
                  <a:pt x="0" y="0"/>
                </a:lnTo>
                <a:lnTo>
                  <a:pt x="0" y="5036401"/>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V="1">
            <a:off x="865206" y="874536"/>
            <a:ext cx="5036401" cy="5036401"/>
          </a:xfrm>
          <a:custGeom>
            <a:avLst/>
            <a:gdLst/>
            <a:ahLst/>
            <a:cxnLst/>
            <a:rect l="l" t="t" r="r" b="b"/>
            <a:pathLst>
              <a:path w="5036401" h="5036401">
                <a:moveTo>
                  <a:pt x="0" y="5036401"/>
                </a:moveTo>
                <a:lnTo>
                  <a:pt x="5036401" y="5036401"/>
                </a:lnTo>
                <a:lnTo>
                  <a:pt x="5036401" y="0"/>
                </a:lnTo>
                <a:lnTo>
                  <a:pt x="0" y="0"/>
                </a:lnTo>
                <a:lnTo>
                  <a:pt x="0" y="5036401"/>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3368</Words>
  <Application>Microsoft Office PowerPoint</Application>
  <PresentationFormat>Custom</PresentationFormat>
  <Paragraphs>300</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Canva Sans</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Gradient Technology Company Profile Presentation</dc:title>
  <cp:lastModifiedBy>Rahaf AlShami</cp:lastModifiedBy>
  <cp:revision>1</cp:revision>
  <dcterms:created xsi:type="dcterms:W3CDTF">2006-08-16T00:00:00Z</dcterms:created>
  <dcterms:modified xsi:type="dcterms:W3CDTF">2026-06-13T09:57:26Z</dcterms:modified>
  <dc:identifier>DAHME9CZzFA</dc:identifier>
</cp:coreProperties>
</file>